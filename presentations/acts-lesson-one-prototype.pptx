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2"/>
    <p:sldId id="257"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Acts is the only New Testament book devoted to the early years of the church, but Luke is not attempting to record everything that happened or to trace every apostle. Acts is the second part of the work he began in his Gospel, and both volumes are addressed to Theophilus.</a:t>
            </a:r>
          </a:p>
          <a:p>
            <a:endParaRPr/>
          </a:p>
          <a:p>
            <a:r>
              <a:t>Luke selects people and events that help us see the gospel moving outward. The story begins in Jerusalem, spreads into Judea and Samaria, reaches the wider Gentile world, and finally arrives in Rome. Peter is prominent in the earlier chapters, while Paul becomes the central human figure later in the book.</a:t>
            </a:r>
          </a:p>
          <a:p>
            <a:endParaRPr/>
          </a:p>
          <a:p>
            <a:r>
              <a:t>The main idea to carry into this study is continuity: Jesus’ earthly ministry did not simply stop at the ascension. Acts presents the risen Jesus continuing His work through the Holy Spirit and through His followers. The study dates the book’s completion at approximately AD 70.</a:t>
            </a:r>
          </a:p>
          <a:p>
            <a:endParaRPr/>
          </a:p>
          <a:p>
            <a:r>
              <a:t>[Sources]</a:t>
            </a:r>
          </a:p>
          <a:p>
            <a:r>
              <a:t>- User-provided Bible-study screenshots and supplied chapter outline.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Begin by reading the question and giving the group time to look closely at Luke 1:1–4. Ask them to notice not only what Luke wrote, but how he describes his method and purpose.</a:t>
            </a:r>
          </a:p>
          <a:p>
            <a:endParaRPr/>
          </a:p>
          <a:p>
            <a:r>
              <a:t>Luke says that he is preparing an orderly account. He is not presenting rumors or disconnected stories. The material has come down through eyewitnesses and those who served the message, and Luke says he has followed the events carefully from the beginning.</a:t>
            </a:r>
          </a:p>
          <a:p>
            <a:endParaRPr/>
          </a:p>
          <a:p>
            <a:r>
              <a:t>His purpose is pastoral as well as historical. He wants Theophilus to know the certainty of what he has been taught—to have grounded confidence that the Christian message rests on a carefully investigated account.</a:t>
            </a:r>
          </a:p>
          <a:p>
            <a:endParaRPr/>
          </a:p>
          <a:p>
            <a:r>
              <a:t>Reveal the four responses after the group has offered its observations, then use them to summarize Luke’s method: reliable testimony, careful investigation, orderly presentation, and confidence for the reader.</a:t>
            </a:r>
          </a:p>
          <a:p>
            <a:endParaRPr/>
          </a:p>
          <a:p>
            <a:r>
              <a:t>[Sources]</a:t>
            </a:r>
          </a:p>
          <a:p>
            <a:r>
              <a:t>- User-provided Bible-study screenshots and supplied Question 1 outline.</a:t>
            </a:r>
          </a:p>
          <a:p>
            <a:r>
              <a:t>- Luke 1:1–4.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6F1E7"/>
        </a:solidFill>
        <a:effectLst/>
      </p:bgPr>
    </p:bg>
    <p:spTree>
      <p:nvGrpSpPr>
        <p:cNvPr id="1" name=""/>
        <p:cNvGrpSpPr/>
        <p:nvPr/>
      </p:nvGrpSpPr>
      <p:grpSpPr>
        <a:xfrm>
          <a:off x="0" y="0"/>
          <a:ext cx="0" cy="0"/>
          <a:chOff x="0" y="0"/>
          <a:chExt cx="0" cy="0"/>
        </a:xfrm>
      </p:grpSpPr>
      <p:sp>
        <p:nvSpPr>
          <p:cNvPr id="29" name="section-1">
            <a:extLst>
              <a:ext uri="{FF2B5EF4-FFF2-40B4-BE49-F238E27FC236}">
                <a16:creationId xmlns:a16="http://schemas.microsoft.com/office/drawing/2014/main" id="{0CC5291F-B5FD-42F8-A88A-6D742B516F39}"/>
              </a:ext>
            </a:extLst>
          </p:cNvPr>
          <p:cNvSpPr>
            <a:spLocks noGrp="1"/>
          </p:cNvSpPr>
          <p:nvPr/>
        </p:nvSpPr>
        <p:spPr>
          <a:xfrm>
            <a:off x="685800" y="419100"/>
            <a:ext cx="4953000" cy="266700"/>
          </a:xfrm>
          <a:prstGeom prst="rect">
            <a:avLst/>
          </a:prstGeom>
          <a:noFill/>
          <a:ln w="0">
            <a:noFill/>
            <a:prstDash val="solid"/>
          </a:ln>
        </p:spPr>
        <p:txBody>
          <a:bodyPr anchor="ctr"/>
          <a:lstStyle/>
          <a:p>
            <a:pPr algn="l">
              <a:defRPr sz="1050" b="1" i="0">
                <a:solidFill>
                  <a:srgbClr val="9B5D43"/>
                </a:solidFill>
              </a:defRPr>
            </a:pPr>
            <a:r>
              <a:rPr sz="1050" b="1" i="0">
                <a:solidFill>
                  <a:srgbClr val="9B5D43"/>
                </a:solidFill>
              </a:rPr>
              <a:t>LESSON ONE · OVERVIEW</a:t>
            </a:r>
          </a:p>
        </p:txBody>
      </p:sp>
      <p:sp>
        <p:nvSpPr>
          <p:cNvPr id="2" name="slide-number-1">
            <a:extLst>
              <a:ext uri="{FF2B5EF4-FFF2-40B4-BE49-F238E27FC236}">
                <a16:creationId xmlns:a16="http://schemas.microsoft.com/office/drawing/2014/main" id="{4ABE8F19-E74F-4CA3-963E-2C1E8CAC3595}"/>
              </a:ext>
            </a:extLst>
          </p:cNvPr>
          <p:cNvSpPr>
            <a:spLocks noGrp="1"/>
          </p:cNvSpPr>
          <p:nvPr/>
        </p:nvSpPr>
        <p:spPr>
          <a:xfrm>
            <a:off x="10991850" y="419100"/>
            <a:ext cx="514350" cy="266700"/>
          </a:xfrm>
          <a:prstGeom prst="rect">
            <a:avLst/>
          </a:prstGeom>
          <a:noFill/>
          <a:ln w="0">
            <a:noFill/>
            <a:prstDash val="solid"/>
          </a:ln>
        </p:spPr>
        <p:txBody>
          <a:bodyPr anchor="ctr"/>
          <a:lstStyle/>
          <a:p>
            <a:pPr algn="r">
              <a:defRPr sz="1050" b="1" i="0">
                <a:solidFill>
                  <a:srgbClr val="315F58"/>
                </a:solidFill>
              </a:defRPr>
            </a:pPr>
            <a:r>
              <a:rPr sz="1050" b="1" i="0">
                <a:solidFill>
                  <a:srgbClr val="315F58"/>
                </a:solidFill>
              </a:rPr>
              <a:t>01</a:t>
            </a:r>
          </a:p>
        </p:txBody>
      </p:sp>
      <p:sp>
        <p:nvSpPr>
          <p:cNvPr id="3" name="header-rule-1">
            <a:extLst>
              <a:ext uri="{FF2B5EF4-FFF2-40B4-BE49-F238E27FC236}">
                <a16:creationId xmlns:a16="http://schemas.microsoft.com/office/drawing/2014/main" id="{4D1D933D-F67A-43AC-B903-A28A860A8FBD}"/>
              </a:ext>
            </a:extLst>
          </p:cNvPr>
          <p:cNvSpPr>
            <a:spLocks noGrp="1"/>
          </p:cNvSpPr>
          <p:nvPr/>
        </p:nvSpPr>
        <p:spPr>
          <a:xfrm>
            <a:off x="685800" y="762000"/>
            <a:ext cx="10820400" cy="19050"/>
          </a:xfrm>
          <a:prstGeom prst="rect">
            <a:avLst/>
          </a:prstGeom>
          <a:solidFill>
            <a:srgbClr val="B78A45"/>
          </a:solidFill>
          <a:ln w="0">
            <a:noFill/>
            <a:prstDash val="solid"/>
          </a:ln>
        </p:spPr>
        <p:txBody>
          <a:bodyPr/>
          <a:lstStyle/>
          <a:p>
            <a:endParaRPr lang="en-US"/>
          </a:p>
        </p:txBody>
      </p:sp>
      <p:sp>
        <p:nvSpPr>
          <p:cNvPr id="4" name="title-1">
            <a:extLst>
              <a:ext uri="{FF2B5EF4-FFF2-40B4-BE49-F238E27FC236}">
                <a16:creationId xmlns:a16="http://schemas.microsoft.com/office/drawing/2014/main" id="{2E553500-D4C7-4AD2-B099-557C8253BCD8}"/>
              </a:ext>
            </a:extLst>
          </p:cNvPr>
          <p:cNvSpPr>
            <a:spLocks noGrp="1"/>
          </p:cNvSpPr>
          <p:nvPr/>
        </p:nvSpPr>
        <p:spPr>
          <a:xfrm>
            <a:off x="685800" y="971550"/>
            <a:ext cx="7239000" cy="685800"/>
          </a:xfrm>
          <a:prstGeom prst="rect">
            <a:avLst/>
          </a:prstGeom>
          <a:noFill/>
          <a:ln w="0">
            <a:noFill/>
            <a:prstDash val="solid"/>
          </a:ln>
        </p:spPr>
        <p:txBody>
          <a:bodyPr anchor="ctr"/>
          <a:lstStyle/>
          <a:p>
            <a:pPr algn="l">
              <a:defRPr sz="3300" b="1" i="0">
                <a:solidFill>
                  <a:srgbClr val="172C2B"/>
                </a:solidFill>
              </a:defRPr>
            </a:pPr>
            <a:r>
              <a:rPr sz="3300" b="1" i="0">
                <a:solidFill>
                  <a:srgbClr val="172C2B"/>
                </a:solidFill>
              </a:rPr>
              <a:t>What Is Acts?</a:t>
            </a:r>
          </a:p>
        </p:txBody>
      </p:sp>
      <p:sp>
        <p:nvSpPr>
          <p:cNvPr id="5" name="subtitle-1">
            <a:extLst>
              <a:ext uri="{FF2B5EF4-FFF2-40B4-BE49-F238E27FC236}">
                <a16:creationId xmlns:a16="http://schemas.microsoft.com/office/drawing/2014/main" id="{BCEE91D2-B459-4FBB-B912-DD8DFB8A6E10}"/>
              </a:ext>
            </a:extLst>
          </p:cNvPr>
          <p:cNvSpPr>
            <a:spLocks noGrp="1"/>
          </p:cNvSpPr>
          <p:nvPr/>
        </p:nvSpPr>
        <p:spPr>
          <a:xfrm>
            <a:off x="685800" y="1619250"/>
            <a:ext cx="8572500" cy="476250"/>
          </a:xfrm>
          <a:prstGeom prst="rect">
            <a:avLst/>
          </a:prstGeom>
          <a:noFill/>
          <a:ln w="0">
            <a:noFill/>
            <a:prstDash val="solid"/>
          </a:ln>
        </p:spPr>
        <p:txBody>
          <a:bodyPr anchor="ctr"/>
          <a:lstStyle/>
          <a:p>
            <a:pPr algn="l">
              <a:defRPr sz="1575" b="0" i="0">
                <a:solidFill>
                  <a:srgbClr val="315F58"/>
                </a:solidFill>
              </a:defRPr>
            </a:pPr>
            <a:r>
              <a:rPr sz="1575" b="0" i="0">
                <a:solidFill>
                  <a:srgbClr val="315F58"/>
                </a:solidFill>
              </a:rPr>
              <a:t>The continuing work of Jesus—moving outward through the Spirit and His people.</a:t>
            </a:r>
          </a:p>
        </p:txBody>
      </p:sp>
      <p:sp>
        <p:nvSpPr>
          <p:cNvPr id="6" name="core-field">
            <a:extLst>
              <a:ext uri="{FF2B5EF4-FFF2-40B4-BE49-F238E27FC236}">
                <a16:creationId xmlns:a16="http://schemas.microsoft.com/office/drawing/2014/main" id="{7953C5DC-92BB-4B65-84D3-562CE9CBA2E1}"/>
              </a:ext>
            </a:extLst>
          </p:cNvPr>
          <p:cNvSpPr>
            <a:spLocks noGrp="1"/>
          </p:cNvSpPr>
          <p:nvPr/>
        </p:nvSpPr>
        <p:spPr>
          <a:xfrm>
            <a:off x="685800" y="2324100"/>
            <a:ext cx="4095750" cy="2628900"/>
          </a:xfrm>
          <a:prstGeom prst="roundRect">
            <a:avLst>
              <a:gd name="adj" fmla="val 2899"/>
            </a:avLst>
          </a:prstGeom>
          <a:solidFill>
            <a:srgbClr val="315F58"/>
          </a:solidFill>
          <a:ln w="9525">
            <a:solidFill>
              <a:srgbClr val="315F58"/>
            </a:solidFill>
            <a:prstDash val="solid"/>
          </a:ln>
        </p:spPr>
        <p:txBody>
          <a:bodyPr/>
          <a:lstStyle/>
          <a:p>
            <a:endParaRPr lang="en-US"/>
          </a:p>
        </p:txBody>
      </p:sp>
      <p:sp>
        <p:nvSpPr>
          <p:cNvPr id="7" name="core-kicker">
            <a:extLst>
              <a:ext uri="{FF2B5EF4-FFF2-40B4-BE49-F238E27FC236}">
                <a16:creationId xmlns:a16="http://schemas.microsoft.com/office/drawing/2014/main" id="{742E3C8E-C43E-49AE-8F7C-D812CDCF1060}"/>
              </a:ext>
            </a:extLst>
          </p:cNvPr>
          <p:cNvSpPr>
            <a:spLocks noGrp="1"/>
          </p:cNvSpPr>
          <p:nvPr/>
        </p:nvSpPr>
        <p:spPr>
          <a:xfrm>
            <a:off x="990600" y="2571750"/>
            <a:ext cx="3143250" cy="266700"/>
          </a:xfrm>
          <a:prstGeom prst="rect">
            <a:avLst/>
          </a:prstGeom>
          <a:noFill/>
          <a:ln w="0">
            <a:noFill/>
            <a:prstDash val="solid"/>
          </a:ln>
        </p:spPr>
        <p:txBody>
          <a:bodyPr anchor="ctr"/>
          <a:lstStyle/>
          <a:p>
            <a:pPr algn="l">
              <a:defRPr sz="1050" b="1" i="0">
                <a:solidFill>
                  <a:srgbClr val="F6F1E7"/>
                </a:solidFill>
              </a:defRPr>
            </a:pPr>
            <a:r>
              <a:rPr sz="1050" b="1" i="0">
                <a:solidFill>
                  <a:srgbClr val="F6F1E7"/>
                </a:solidFill>
              </a:rPr>
              <a:t>THE STORY CONTINUES</a:t>
            </a:r>
          </a:p>
        </p:txBody>
      </p:sp>
      <p:sp>
        <p:nvSpPr>
          <p:cNvPr id="8" name="core-claim">
            <a:extLst>
              <a:ext uri="{FF2B5EF4-FFF2-40B4-BE49-F238E27FC236}">
                <a16:creationId xmlns:a16="http://schemas.microsoft.com/office/drawing/2014/main" id="{5C273435-9873-4159-AA3F-67AF9FD2D5FA}"/>
              </a:ext>
            </a:extLst>
          </p:cNvPr>
          <p:cNvSpPr>
            <a:spLocks noGrp="1"/>
          </p:cNvSpPr>
          <p:nvPr/>
        </p:nvSpPr>
        <p:spPr>
          <a:xfrm>
            <a:off x="990600" y="2971800"/>
            <a:ext cx="3333750" cy="1428750"/>
          </a:xfrm>
          <a:prstGeom prst="rect">
            <a:avLst/>
          </a:prstGeom>
          <a:noFill/>
          <a:ln w="0">
            <a:noFill/>
            <a:prstDash val="solid"/>
          </a:ln>
        </p:spPr>
        <p:txBody>
          <a:bodyPr anchor="ctr"/>
          <a:lstStyle/>
          <a:p>
            <a:pPr algn="l">
              <a:defRPr sz="2100" b="1" i="0">
                <a:solidFill>
                  <a:srgbClr val="FFFCF7"/>
                </a:solidFill>
              </a:defRPr>
            </a:pPr>
            <a:r>
              <a:rPr sz="2100" b="1" i="0">
                <a:solidFill>
                  <a:srgbClr val="FFFCF7"/>
                </a:solidFill>
              </a:rPr>
              <a:t>Luke’s second volume follows his Gospel and shows what Jesus continued to do through the Holy Spirit.</a:t>
            </a:r>
          </a:p>
        </p:txBody>
      </p:sp>
      <p:sp>
        <p:nvSpPr>
          <p:cNvPr id="9" name="core-credit">
            <a:extLst>
              <a:ext uri="{FF2B5EF4-FFF2-40B4-BE49-F238E27FC236}">
                <a16:creationId xmlns:a16="http://schemas.microsoft.com/office/drawing/2014/main" id="{EFD6E9D4-71C7-448B-86C2-511E97898D38}"/>
              </a:ext>
            </a:extLst>
          </p:cNvPr>
          <p:cNvSpPr>
            <a:spLocks noGrp="1"/>
          </p:cNvSpPr>
          <p:nvPr/>
        </p:nvSpPr>
        <p:spPr>
          <a:xfrm>
            <a:off x="990600" y="4476750"/>
            <a:ext cx="3333750" cy="266700"/>
          </a:xfrm>
          <a:prstGeom prst="rect">
            <a:avLst/>
          </a:prstGeom>
          <a:noFill/>
          <a:ln w="0">
            <a:noFill/>
            <a:prstDash val="solid"/>
          </a:ln>
        </p:spPr>
        <p:txBody>
          <a:bodyPr anchor="ctr"/>
          <a:lstStyle/>
          <a:p>
            <a:pPr algn="l">
              <a:defRPr sz="1200" b="0" i="0">
                <a:solidFill>
                  <a:srgbClr val="DDE8E2"/>
                </a:solidFill>
              </a:defRPr>
            </a:pPr>
            <a:r>
              <a:rPr sz="1200" b="0" i="0">
                <a:solidFill>
                  <a:srgbClr val="DDE8E2"/>
                </a:solidFill>
              </a:rPr>
              <a:t>Written by Luke for Theophilus</a:t>
            </a:r>
          </a:p>
        </p:txBody>
      </p:sp>
      <p:sp>
        <p:nvSpPr>
          <p:cNvPr id="10" name="facts-label">
            <a:extLst>
              <a:ext uri="{FF2B5EF4-FFF2-40B4-BE49-F238E27FC236}">
                <a16:creationId xmlns:a16="http://schemas.microsoft.com/office/drawing/2014/main" id="{25A7D3CE-CBD7-404D-A504-6A000F3EF67E}"/>
              </a:ext>
            </a:extLst>
          </p:cNvPr>
          <p:cNvSpPr>
            <a:spLocks noGrp="1"/>
          </p:cNvSpPr>
          <p:nvPr/>
        </p:nvSpPr>
        <p:spPr>
          <a:xfrm>
            <a:off x="5238750" y="2362200"/>
            <a:ext cx="5429250" cy="266700"/>
          </a:xfrm>
          <a:prstGeom prst="rect">
            <a:avLst/>
          </a:prstGeom>
          <a:noFill/>
          <a:ln w="0">
            <a:noFill/>
            <a:prstDash val="solid"/>
          </a:ln>
        </p:spPr>
        <p:txBody>
          <a:bodyPr anchor="ctr"/>
          <a:lstStyle/>
          <a:p>
            <a:pPr algn="l">
              <a:defRPr sz="1050" b="1" i="0">
                <a:solidFill>
                  <a:srgbClr val="9B5D43"/>
                </a:solidFill>
              </a:defRPr>
            </a:pPr>
            <a:r>
              <a:rPr sz="1050" b="1" i="0">
                <a:solidFill>
                  <a:srgbClr val="9B5D43"/>
                </a:solidFill>
              </a:rPr>
              <a:t>A SELECTIVE ACCOUNT</a:t>
            </a:r>
          </a:p>
        </p:txBody>
      </p:sp>
      <p:sp>
        <p:nvSpPr>
          <p:cNvPr id="11" name="fact-1-marker">
            <a:extLst>
              <a:ext uri="{FF2B5EF4-FFF2-40B4-BE49-F238E27FC236}">
                <a16:creationId xmlns:a16="http://schemas.microsoft.com/office/drawing/2014/main" id="{CADB2E03-FB74-4232-B3A4-42B8E9D1C839}"/>
              </a:ext>
            </a:extLst>
          </p:cNvPr>
          <p:cNvSpPr>
            <a:spLocks noGrp="1"/>
          </p:cNvSpPr>
          <p:nvPr/>
        </p:nvSpPr>
        <p:spPr>
          <a:xfrm>
            <a:off x="5238750" y="2838450"/>
            <a:ext cx="76200" cy="76200"/>
          </a:xfrm>
          <a:prstGeom prst="roundRect">
            <a:avLst>
              <a:gd name="adj" fmla="val 50000"/>
            </a:avLst>
          </a:prstGeom>
          <a:solidFill>
            <a:srgbClr val="B78A45"/>
          </a:solidFill>
          <a:ln w="9525">
            <a:solidFill>
              <a:srgbClr val="B78A45"/>
            </a:solidFill>
            <a:prstDash val="solid"/>
          </a:ln>
        </p:spPr>
        <p:txBody>
          <a:bodyPr/>
          <a:lstStyle/>
          <a:p>
            <a:endParaRPr lang="en-US"/>
          </a:p>
        </p:txBody>
      </p:sp>
      <p:sp>
        <p:nvSpPr>
          <p:cNvPr id="12" name="fact-1">
            <a:extLst>
              <a:ext uri="{FF2B5EF4-FFF2-40B4-BE49-F238E27FC236}">
                <a16:creationId xmlns:a16="http://schemas.microsoft.com/office/drawing/2014/main" id="{AC269058-EB57-4C7B-88DB-95FE9E55E9C9}"/>
              </a:ext>
            </a:extLst>
          </p:cNvPr>
          <p:cNvSpPr>
            <a:spLocks noGrp="1"/>
          </p:cNvSpPr>
          <p:nvPr/>
        </p:nvSpPr>
        <p:spPr>
          <a:xfrm>
            <a:off x="5448300" y="2724150"/>
            <a:ext cx="5600700" cy="381000"/>
          </a:xfrm>
          <a:prstGeom prst="rect">
            <a:avLst/>
          </a:prstGeom>
          <a:noFill/>
          <a:ln w="0">
            <a:noFill/>
            <a:prstDash val="solid"/>
          </a:ln>
        </p:spPr>
        <p:txBody>
          <a:bodyPr anchor="ctr"/>
          <a:lstStyle/>
          <a:p>
            <a:pPr algn="l">
              <a:defRPr sz="1350" b="0" i="0">
                <a:solidFill>
                  <a:srgbClr val="172C2B"/>
                </a:solidFill>
              </a:defRPr>
            </a:pPr>
            <a:r>
              <a:rPr sz="1350" b="0" i="0">
                <a:solidFill>
                  <a:srgbClr val="172C2B"/>
                </a:solidFill>
              </a:rPr>
              <a:t>Not a complete history of the early church or every apostle</a:t>
            </a:r>
          </a:p>
        </p:txBody>
      </p:sp>
      <p:sp>
        <p:nvSpPr>
          <p:cNvPr id="13" name="fact-2-marker">
            <a:extLst>
              <a:ext uri="{FF2B5EF4-FFF2-40B4-BE49-F238E27FC236}">
                <a16:creationId xmlns:a16="http://schemas.microsoft.com/office/drawing/2014/main" id="{4B767388-81AC-40E4-BF20-7D45BEAB742A}"/>
              </a:ext>
            </a:extLst>
          </p:cNvPr>
          <p:cNvSpPr>
            <a:spLocks noGrp="1"/>
          </p:cNvSpPr>
          <p:nvPr/>
        </p:nvSpPr>
        <p:spPr>
          <a:xfrm>
            <a:off x="5238750" y="3371850"/>
            <a:ext cx="76200" cy="76200"/>
          </a:xfrm>
          <a:prstGeom prst="roundRect">
            <a:avLst>
              <a:gd name="adj" fmla="val 50000"/>
            </a:avLst>
          </a:prstGeom>
          <a:solidFill>
            <a:srgbClr val="B78A45"/>
          </a:solidFill>
          <a:ln w="9525">
            <a:solidFill>
              <a:srgbClr val="B78A45"/>
            </a:solidFill>
            <a:prstDash val="solid"/>
          </a:ln>
        </p:spPr>
        <p:txBody>
          <a:bodyPr/>
          <a:lstStyle/>
          <a:p>
            <a:endParaRPr lang="en-US"/>
          </a:p>
        </p:txBody>
      </p:sp>
      <p:sp>
        <p:nvSpPr>
          <p:cNvPr id="14" name="fact-2">
            <a:extLst>
              <a:ext uri="{FF2B5EF4-FFF2-40B4-BE49-F238E27FC236}">
                <a16:creationId xmlns:a16="http://schemas.microsoft.com/office/drawing/2014/main" id="{2A10BA59-71FE-471D-9EE1-EA4C38556C9F}"/>
              </a:ext>
            </a:extLst>
          </p:cNvPr>
          <p:cNvSpPr>
            <a:spLocks noGrp="1"/>
          </p:cNvSpPr>
          <p:nvPr/>
        </p:nvSpPr>
        <p:spPr>
          <a:xfrm>
            <a:off x="5448300" y="3257550"/>
            <a:ext cx="5600700" cy="381000"/>
          </a:xfrm>
          <a:prstGeom prst="rect">
            <a:avLst/>
          </a:prstGeom>
          <a:noFill/>
          <a:ln w="0">
            <a:noFill/>
            <a:prstDash val="solid"/>
          </a:ln>
        </p:spPr>
        <p:txBody>
          <a:bodyPr anchor="ctr"/>
          <a:lstStyle/>
          <a:p>
            <a:pPr algn="l">
              <a:defRPr sz="1350" b="0" i="0">
                <a:solidFill>
                  <a:srgbClr val="172C2B"/>
                </a:solidFill>
              </a:defRPr>
            </a:pPr>
            <a:r>
              <a:rPr sz="1350" b="0" i="0">
                <a:solidFill>
                  <a:srgbClr val="172C2B"/>
                </a:solidFill>
              </a:rPr>
              <a:t>The gospel’s expansion is traced primarily through Peter and Paul</a:t>
            </a:r>
          </a:p>
        </p:txBody>
      </p:sp>
      <p:sp>
        <p:nvSpPr>
          <p:cNvPr id="15" name="fact-3-marker">
            <a:extLst>
              <a:ext uri="{FF2B5EF4-FFF2-40B4-BE49-F238E27FC236}">
                <a16:creationId xmlns:a16="http://schemas.microsoft.com/office/drawing/2014/main" id="{2CE9E3F9-A452-4A4C-950E-249CF7A71A30}"/>
              </a:ext>
            </a:extLst>
          </p:cNvPr>
          <p:cNvSpPr>
            <a:spLocks noGrp="1"/>
          </p:cNvSpPr>
          <p:nvPr/>
        </p:nvSpPr>
        <p:spPr>
          <a:xfrm>
            <a:off x="5238750" y="3905250"/>
            <a:ext cx="76200" cy="76200"/>
          </a:xfrm>
          <a:prstGeom prst="roundRect">
            <a:avLst>
              <a:gd name="adj" fmla="val 50000"/>
            </a:avLst>
          </a:prstGeom>
          <a:solidFill>
            <a:srgbClr val="B78A45"/>
          </a:solidFill>
          <a:ln w="9525">
            <a:solidFill>
              <a:srgbClr val="B78A45"/>
            </a:solidFill>
            <a:prstDash val="solid"/>
          </a:ln>
        </p:spPr>
        <p:txBody>
          <a:bodyPr/>
          <a:lstStyle/>
          <a:p>
            <a:endParaRPr lang="en-US"/>
          </a:p>
        </p:txBody>
      </p:sp>
      <p:sp>
        <p:nvSpPr>
          <p:cNvPr id="16" name="fact-3">
            <a:extLst>
              <a:ext uri="{FF2B5EF4-FFF2-40B4-BE49-F238E27FC236}">
                <a16:creationId xmlns:a16="http://schemas.microsoft.com/office/drawing/2014/main" id="{0FEF9D2F-489D-4ECF-AEAB-6BA79D9704E0}"/>
              </a:ext>
            </a:extLst>
          </p:cNvPr>
          <p:cNvSpPr>
            <a:spLocks noGrp="1"/>
          </p:cNvSpPr>
          <p:nvPr/>
        </p:nvSpPr>
        <p:spPr>
          <a:xfrm>
            <a:off x="5448300" y="3790950"/>
            <a:ext cx="5600700" cy="381000"/>
          </a:xfrm>
          <a:prstGeom prst="rect">
            <a:avLst/>
          </a:prstGeom>
          <a:noFill/>
          <a:ln w="0">
            <a:noFill/>
            <a:prstDash val="solid"/>
          </a:ln>
        </p:spPr>
        <p:txBody>
          <a:bodyPr anchor="ctr"/>
          <a:lstStyle/>
          <a:p>
            <a:pPr algn="l">
              <a:defRPr sz="1350" b="0" i="0">
                <a:solidFill>
                  <a:srgbClr val="172C2B"/>
                </a:solidFill>
              </a:defRPr>
            </a:pPr>
            <a:r>
              <a:rPr sz="1350" b="0" i="0">
                <a:solidFill>
                  <a:srgbClr val="172C2B"/>
                </a:solidFill>
              </a:rPr>
              <a:t>Likely completed around AD 70</a:t>
            </a:r>
          </a:p>
        </p:txBody>
      </p:sp>
      <p:sp>
        <p:nvSpPr>
          <p:cNvPr id="17" name="movement-label">
            <a:extLst>
              <a:ext uri="{FF2B5EF4-FFF2-40B4-BE49-F238E27FC236}">
                <a16:creationId xmlns:a16="http://schemas.microsoft.com/office/drawing/2014/main" id="{0EA28DAE-6711-410E-A807-E4AE5632F4AC}"/>
              </a:ext>
            </a:extLst>
          </p:cNvPr>
          <p:cNvSpPr>
            <a:spLocks noGrp="1"/>
          </p:cNvSpPr>
          <p:nvPr/>
        </p:nvSpPr>
        <p:spPr>
          <a:xfrm>
            <a:off x="685800" y="5295900"/>
            <a:ext cx="4000500" cy="266700"/>
          </a:xfrm>
          <a:prstGeom prst="rect">
            <a:avLst/>
          </a:prstGeom>
          <a:noFill/>
          <a:ln w="0">
            <a:noFill/>
            <a:prstDash val="solid"/>
          </a:ln>
        </p:spPr>
        <p:txBody>
          <a:bodyPr anchor="ctr"/>
          <a:lstStyle/>
          <a:p>
            <a:pPr algn="l">
              <a:defRPr sz="1050" b="1" i="0">
                <a:solidFill>
                  <a:srgbClr val="9B5D43"/>
                </a:solidFill>
              </a:defRPr>
            </a:pPr>
            <a:r>
              <a:rPr sz="1050" b="1" i="0">
                <a:solidFill>
                  <a:srgbClr val="9B5D43"/>
                </a:solidFill>
              </a:rPr>
              <a:t>THE GOSPEL MOVES OUTWARD</a:t>
            </a:r>
          </a:p>
        </p:txBody>
      </p:sp>
      <p:sp>
        <p:nvSpPr>
          <p:cNvPr id="18" name="route-arrow-1">
            <a:extLst>
              <a:ext uri="{FF2B5EF4-FFF2-40B4-BE49-F238E27FC236}">
                <a16:creationId xmlns:a16="http://schemas.microsoft.com/office/drawing/2014/main" id="{1921A46B-1CC7-4167-AE32-64331EFA3EC3}"/>
              </a:ext>
            </a:extLst>
          </p:cNvPr>
          <p:cNvSpPr>
            <a:spLocks noGrp="1"/>
          </p:cNvSpPr>
          <p:nvPr/>
        </p:nvSpPr>
        <p:spPr>
          <a:xfrm>
            <a:off x="2781300" y="5819775"/>
            <a:ext cx="133350" cy="133350"/>
          </a:xfrm>
          <a:prstGeom prst="rightArrow">
            <a:avLst/>
          </a:prstGeom>
          <a:solidFill>
            <a:srgbClr val="A7B7A5"/>
          </a:solidFill>
          <a:ln w="0">
            <a:solidFill>
              <a:srgbClr val="A7B7A5"/>
            </a:solidFill>
            <a:prstDash val="solid"/>
          </a:ln>
        </p:spPr>
        <p:txBody>
          <a:bodyPr/>
          <a:lstStyle/>
          <a:p>
            <a:endParaRPr lang="en-US"/>
          </a:p>
        </p:txBody>
      </p:sp>
      <p:sp>
        <p:nvSpPr>
          <p:cNvPr id="19" name="route-arrow-2">
            <a:extLst>
              <a:ext uri="{FF2B5EF4-FFF2-40B4-BE49-F238E27FC236}">
                <a16:creationId xmlns:a16="http://schemas.microsoft.com/office/drawing/2014/main" id="{AA6C63FC-BE64-4C54-9B5E-D5994585E431}"/>
              </a:ext>
            </a:extLst>
          </p:cNvPr>
          <p:cNvSpPr>
            <a:spLocks noGrp="1"/>
          </p:cNvSpPr>
          <p:nvPr/>
        </p:nvSpPr>
        <p:spPr>
          <a:xfrm>
            <a:off x="5448300" y="5819775"/>
            <a:ext cx="133350" cy="133350"/>
          </a:xfrm>
          <a:prstGeom prst="rightArrow">
            <a:avLst/>
          </a:prstGeom>
          <a:solidFill>
            <a:srgbClr val="A7B7A5"/>
          </a:solidFill>
          <a:ln w="0">
            <a:solidFill>
              <a:srgbClr val="A7B7A5"/>
            </a:solidFill>
            <a:prstDash val="solid"/>
          </a:ln>
        </p:spPr>
        <p:txBody>
          <a:bodyPr/>
          <a:lstStyle/>
          <a:p>
            <a:endParaRPr lang="en-US"/>
          </a:p>
        </p:txBody>
      </p:sp>
      <p:sp>
        <p:nvSpPr>
          <p:cNvPr id="20" name="route-arrow-3">
            <a:extLst>
              <a:ext uri="{FF2B5EF4-FFF2-40B4-BE49-F238E27FC236}">
                <a16:creationId xmlns:a16="http://schemas.microsoft.com/office/drawing/2014/main" id="{CFAF9D26-CD87-4FAC-BEC8-19EDC6DEBDEF}"/>
              </a:ext>
            </a:extLst>
          </p:cNvPr>
          <p:cNvSpPr>
            <a:spLocks noGrp="1"/>
          </p:cNvSpPr>
          <p:nvPr/>
        </p:nvSpPr>
        <p:spPr>
          <a:xfrm>
            <a:off x="8515350" y="5819775"/>
            <a:ext cx="133350" cy="133350"/>
          </a:xfrm>
          <a:prstGeom prst="rightArrow">
            <a:avLst/>
          </a:prstGeom>
          <a:solidFill>
            <a:srgbClr val="A7B7A5"/>
          </a:solidFill>
          <a:ln w="0">
            <a:solidFill>
              <a:srgbClr val="A7B7A5"/>
            </a:solidFill>
            <a:prstDash val="solid"/>
          </a:ln>
        </p:spPr>
        <p:txBody>
          <a:bodyPr/>
          <a:lstStyle/>
          <a:p>
            <a:endParaRPr lang="en-US"/>
          </a:p>
        </p:txBody>
      </p:sp>
      <p:sp>
        <p:nvSpPr>
          <p:cNvPr id="21" name="route-node-1">
            <a:extLst>
              <a:ext uri="{FF2B5EF4-FFF2-40B4-BE49-F238E27FC236}">
                <a16:creationId xmlns:a16="http://schemas.microsoft.com/office/drawing/2014/main" id="{CFD0A8D3-62BA-4BAE-814C-B1D2EA700A12}"/>
              </a:ext>
            </a:extLst>
          </p:cNvPr>
          <p:cNvSpPr>
            <a:spLocks noGrp="1"/>
          </p:cNvSpPr>
          <p:nvPr/>
        </p:nvSpPr>
        <p:spPr>
          <a:xfrm>
            <a:off x="685800" y="5619750"/>
            <a:ext cx="2019300" cy="533400"/>
          </a:xfrm>
          <a:prstGeom prst="roundRect">
            <a:avLst>
              <a:gd name="adj" fmla="val 14286"/>
            </a:avLst>
          </a:prstGeom>
          <a:solidFill>
            <a:srgbClr val="FFFCF7"/>
          </a:solidFill>
          <a:ln w="9525">
            <a:solidFill>
              <a:srgbClr val="D8CEBD"/>
            </a:solidFill>
            <a:prstDash val="solid"/>
          </a:ln>
        </p:spPr>
        <p:txBody>
          <a:bodyPr/>
          <a:lstStyle/>
          <a:p>
            <a:endParaRPr lang="en-US"/>
          </a:p>
        </p:txBody>
      </p:sp>
      <p:sp>
        <p:nvSpPr>
          <p:cNvPr id="22" name="route-label-1">
            <a:extLst>
              <a:ext uri="{FF2B5EF4-FFF2-40B4-BE49-F238E27FC236}">
                <a16:creationId xmlns:a16="http://schemas.microsoft.com/office/drawing/2014/main" id="{D94B5570-A168-4D17-A4AE-8BD617A6A709}"/>
              </a:ext>
            </a:extLst>
          </p:cNvPr>
          <p:cNvSpPr>
            <a:spLocks noGrp="1"/>
          </p:cNvSpPr>
          <p:nvPr/>
        </p:nvSpPr>
        <p:spPr>
          <a:xfrm>
            <a:off x="762000" y="5686425"/>
            <a:ext cx="1866900" cy="381000"/>
          </a:xfrm>
          <a:prstGeom prst="rect">
            <a:avLst/>
          </a:prstGeom>
          <a:noFill/>
          <a:ln w="0">
            <a:noFill/>
            <a:prstDash val="solid"/>
          </a:ln>
        </p:spPr>
        <p:txBody>
          <a:bodyPr anchor="ctr"/>
          <a:lstStyle/>
          <a:p>
            <a:pPr algn="ctr">
              <a:defRPr sz="1275" b="1" i="0">
                <a:solidFill>
                  <a:srgbClr val="172C2B"/>
                </a:solidFill>
              </a:defRPr>
            </a:pPr>
            <a:r>
              <a:rPr sz="1275" b="1" i="0">
                <a:solidFill>
                  <a:srgbClr val="172C2B"/>
                </a:solidFill>
              </a:rPr>
              <a:t>Jerusalem</a:t>
            </a:r>
          </a:p>
        </p:txBody>
      </p:sp>
      <p:sp>
        <p:nvSpPr>
          <p:cNvPr id="23" name="route-node-2">
            <a:extLst>
              <a:ext uri="{FF2B5EF4-FFF2-40B4-BE49-F238E27FC236}">
                <a16:creationId xmlns:a16="http://schemas.microsoft.com/office/drawing/2014/main" id="{235D2BDF-7869-4459-A209-D6212FFB770D}"/>
              </a:ext>
            </a:extLst>
          </p:cNvPr>
          <p:cNvSpPr>
            <a:spLocks noGrp="1"/>
          </p:cNvSpPr>
          <p:nvPr/>
        </p:nvSpPr>
        <p:spPr>
          <a:xfrm>
            <a:off x="2990850" y="5619750"/>
            <a:ext cx="2381250" cy="533400"/>
          </a:xfrm>
          <a:prstGeom prst="roundRect">
            <a:avLst>
              <a:gd name="adj" fmla="val 14286"/>
            </a:avLst>
          </a:prstGeom>
          <a:solidFill>
            <a:srgbClr val="FFFCF7"/>
          </a:solidFill>
          <a:ln w="9525">
            <a:solidFill>
              <a:srgbClr val="D8CEBD"/>
            </a:solidFill>
            <a:prstDash val="solid"/>
          </a:ln>
        </p:spPr>
        <p:txBody>
          <a:bodyPr/>
          <a:lstStyle/>
          <a:p>
            <a:endParaRPr lang="en-US"/>
          </a:p>
        </p:txBody>
      </p:sp>
      <p:sp>
        <p:nvSpPr>
          <p:cNvPr id="24" name="route-label-2">
            <a:extLst>
              <a:ext uri="{FF2B5EF4-FFF2-40B4-BE49-F238E27FC236}">
                <a16:creationId xmlns:a16="http://schemas.microsoft.com/office/drawing/2014/main" id="{CA16A6AD-A11A-4ABC-B39F-B4ED2B9F5515}"/>
              </a:ext>
            </a:extLst>
          </p:cNvPr>
          <p:cNvSpPr>
            <a:spLocks noGrp="1"/>
          </p:cNvSpPr>
          <p:nvPr/>
        </p:nvSpPr>
        <p:spPr>
          <a:xfrm>
            <a:off x="3067050" y="5686425"/>
            <a:ext cx="2228850" cy="381000"/>
          </a:xfrm>
          <a:prstGeom prst="rect">
            <a:avLst/>
          </a:prstGeom>
          <a:noFill/>
          <a:ln w="0">
            <a:noFill/>
            <a:prstDash val="solid"/>
          </a:ln>
        </p:spPr>
        <p:txBody>
          <a:bodyPr anchor="ctr"/>
          <a:lstStyle/>
          <a:p>
            <a:pPr algn="ctr">
              <a:defRPr sz="1275" b="1" i="0">
                <a:solidFill>
                  <a:srgbClr val="172C2B"/>
                </a:solidFill>
              </a:defRPr>
            </a:pPr>
            <a:r>
              <a:rPr sz="1275" b="1" i="0">
                <a:solidFill>
                  <a:srgbClr val="172C2B"/>
                </a:solidFill>
              </a:rPr>
              <a:t>Judea &amp; Samaria</a:t>
            </a:r>
          </a:p>
        </p:txBody>
      </p:sp>
      <p:sp>
        <p:nvSpPr>
          <p:cNvPr id="25" name="route-node-3">
            <a:extLst>
              <a:ext uri="{FF2B5EF4-FFF2-40B4-BE49-F238E27FC236}">
                <a16:creationId xmlns:a16="http://schemas.microsoft.com/office/drawing/2014/main" id="{686D5211-97F2-4AF8-948F-7B7B2C67E20B}"/>
              </a:ext>
            </a:extLst>
          </p:cNvPr>
          <p:cNvSpPr>
            <a:spLocks noGrp="1"/>
          </p:cNvSpPr>
          <p:nvPr/>
        </p:nvSpPr>
        <p:spPr>
          <a:xfrm>
            <a:off x="5657850" y="5619750"/>
            <a:ext cx="2781300" cy="533400"/>
          </a:xfrm>
          <a:prstGeom prst="roundRect">
            <a:avLst>
              <a:gd name="adj" fmla="val 14286"/>
            </a:avLst>
          </a:prstGeom>
          <a:solidFill>
            <a:srgbClr val="FFFCF7"/>
          </a:solidFill>
          <a:ln w="9525">
            <a:solidFill>
              <a:srgbClr val="D8CEBD"/>
            </a:solidFill>
            <a:prstDash val="solid"/>
          </a:ln>
        </p:spPr>
        <p:txBody>
          <a:bodyPr/>
          <a:lstStyle/>
          <a:p>
            <a:endParaRPr lang="en-US"/>
          </a:p>
        </p:txBody>
      </p:sp>
      <p:sp>
        <p:nvSpPr>
          <p:cNvPr id="26" name="route-label-3">
            <a:extLst>
              <a:ext uri="{FF2B5EF4-FFF2-40B4-BE49-F238E27FC236}">
                <a16:creationId xmlns:a16="http://schemas.microsoft.com/office/drawing/2014/main" id="{BCD5214A-1F73-4CE6-BB5E-7B7EE7EB0E02}"/>
              </a:ext>
            </a:extLst>
          </p:cNvPr>
          <p:cNvSpPr>
            <a:spLocks noGrp="1"/>
          </p:cNvSpPr>
          <p:nvPr/>
        </p:nvSpPr>
        <p:spPr>
          <a:xfrm>
            <a:off x="5734050" y="5686425"/>
            <a:ext cx="2628900" cy="381000"/>
          </a:xfrm>
          <a:prstGeom prst="rect">
            <a:avLst/>
          </a:prstGeom>
          <a:noFill/>
          <a:ln w="0">
            <a:noFill/>
            <a:prstDash val="solid"/>
          </a:ln>
        </p:spPr>
        <p:txBody>
          <a:bodyPr anchor="ctr"/>
          <a:lstStyle/>
          <a:p>
            <a:pPr algn="ctr">
              <a:defRPr sz="1275" b="1" i="0">
                <a:solidFill>
                  <a:srgbClr val="172C2B"/>
                </a:solidFill>
              </a:defRPr>
            </a:pPr>
            <a:r>
              <a:rPr sz="1275" b="1" i="0">
                <a:solidFill>
                  <a:srgbClr val="172C2B"/>
                </a:solidFill>
              </a:rPr>
              <a:t>Wider Gentile world</a:t>
            </a:r>
          </a:p>
        </p:txBody>
      </p:sp>
      <p:sp>
        <p:nvSpPr>
          <p:cNvPr id="27" name="route-node-4">
            <a:extLst>
              <a:ext uri="{FF2B5EF4-FFF2-40B4-BE49-F238E27FC236}">
                <a16:creationId xmlns:a16="http://schemas.microsoft.com/office/drawing/2014/main" id="{49C8ACF0-24D1-407A-81B6-0A9ABEAE8FC8}"/>
              </a:ext>
            </a:extLst>
          </p:cNvPr>
          <p:cNvSpPr>
            <a:spLocks noGrp="1"/>
          </p:cNvSpPr>
          <p:nvPr/>
        </p:nvSpPr>
        <p:spPr>
          <a:xfrm>
            <a:off x="8724900" y="5619750"/>
            <a:ext cx="2781300" cy="533400"/>
          </a:xfrm>
          <a:prstGeom prst="roundRect">
            <a:avLst>
              <a:gd name="adj" fmla="val 14286"/>
            </a:avLst>
          </a:prstGeom>
          <a:solidFill>
            <a:srgbClr val="B78A45"/>
          </a:solidFill>
          <a:ln w="9525">
            <a:solidFill>
              <a:srgbClr val="B78A45"/>
            </a:solidFill>
            <a:prstDash val="solid"/>
          </a:ln>
        </p:spPr>
        <p:txBody>
          <a:bodyPr/>
          <a:lstStyle/>
          <a:p>
            <a:endParaRPr lang="en-US"/>
          </a:p>
        </p:txBody>
      </p:sp>
      <p:sp>
        <p:nvSpPr>
          <p:cNvPr id="28" name="route-label-4">
            <a:extLst>
              <a:ext uri="{FF2B5EF4-FFF2-40B4-BE49-F238E27FC236}">
                <a16:creationId xmlns:a16="http://schemas.microsoft.com/office/drawing/2014/main" id="{697E4D93-0D93-4650-99B1-C4B66640EB88}"/>
              </a:ext>
            </a:extLst>
          </p:cNvPr>
          <p:cNvSpPr>
            <a:spLocks noGrp="1"/>
          </p:cNvSpPr>
          <p:nvPr/>
        </p:nvSpPr>
        <p:spPr>
          <a:xfrm>
            <a:off x="8801100" y="5686425"/>
            <a:ext cx="2628900" cy="381000"/>
          </a:xfrm>
          <a:prstGeom prst="rect">
            <a:avLst/>
          </a:prstGeom>
          <a:noFill/>
          <a:ln w="0">
            <a:noFill/>
            <a:prstDash val="solid"/>
          </a:ln>
        </p:spPr>
        <p:txBody>
          <a:bodyPr anchor="ctr"/>
          <a:lstStyle/>
          <a:p>
            <a:pPr algn="ctr">
              <a:defRPr sz="1275" b="1" i="0">
                <a:solidFill>
                  <a:srgbClr val="FFFCF7"/>
                </a:solidFill>
              </a:defRPr>
            </a:pPr>
            <a:r>
              <a:rPr sz="1275" b="1" i="0">
                <a:solidFill>
                  <a:srgbClr val="FFFCF7"/>
                </a:solidFill>
              </a:rPr>
              <a:t>Rome</a:t>
            </a:r>
          </a:p>
        </p:txBody>
      </p:sp>
    </p:spTree>
    <p:extLst>
      <p:ext uri="{BB962C8B-B14F-4D97-AF65-F5344CB8AC3E}">
        <p14:creationId xmlns:p14="http://schemas.microsoft.com/office/powerpoint/2010/main" val="16798878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1E7"/>
        </a:solidFill>
        <a:effectLst/>
      </p:bgPr>
    </p:bg>
    <p:spTree>
      <p:nvGrpSpPr>
        <p:cNvPr id="1" name=""/>
        <p:cNvGrpSpPr/>
        <p:nvPr/>
      </p:nvGrpSpPr>
      <p:grpSpPr>
        <a:xfrm>
          <a:off x="0" y="0"/>
          <a:ext cx="0" cy="0"/>
          <a:chOff x="0" y="0"/>
          <a:chExt cx="0" cy="0"/>
        </a:xfrm>
      </p:grpSpPr>
      <p:sp>
        <p:nvSpPr>
          <p:cNvPr id="24" name="section-2">
            <a:extLst>
              <a:ext uri="{FF2B5EF4-FFF2-40B4-BE49-F238E27FC236}">
                <a16:creationId xmlns:a16="http://schemas.microsoft.com/office/drawing/2014/main" id="{55831947-FB20-473D-9E71-B05BCB324E97}"/>
              </a:ext>
            </a:extLst>
          </p:cNvPr>
          <p:cNvSpPr>
            <a:spLocks noGrp="1"/>
          </p:cNvSpPr>
          <p:nvPr/>
        </p:nvSpPr>
        <p:spPr>
          <a:xfrm>
            <a:off x="685800" y="419100"/>
            <a:ext cx="4953000" cy="266700"/>
          </a:xfrm>
          <a:prstGeom prst="rect">
            <a:avLst/>
          </a:prstGeom>
          <a:noFill/>
          <a:ln w="0">
            <a:noFill/>
            <a:prstDash val="solid"/>
          </a:ln>
        </p:spPr>
        <p:txBody>
          <a:bodyPr anchor="ctr"/>
          <a:lstStyle/>
          <a:p>
            <a:pPr algn="l">
              <a:defRPr sz="1050" b="1" i="0">
                <a:solidFill>
                  <a:srgbClr val="9B5D43"/>
                </a:solidFill>
              </a:defRPr>
            </a:pPr>
            <a:r>
              <a:rPr sz="1050" b="1" i="0">
                <a:solidFill>
                  <a:srgbClr val="9B5D43"/>
                </a:solidFill>
              </a:rPr>
              <a:t>LESSON ONE · QUESTION 1</a:t>
            </a:r>
          </a:p>
        </p:txBody>
      </p:sp>
      <p:sp>
        <p:nvSpPr>
          <p:cNvPr id="2" name="slide-number-2">
            <a:extLst>
              <a:ext uri="{FF2B5EF4-FFF2-40B4-BE49-F238E27FC236}">
                <a16:creationId xmlns:a16="http://schemas.microsoft.com/office/drawing/2014/main" id="{3FCDF8B1-C45C-4383-A1C0-F70215CC774A}"/>
              </a:ext>
            </a:extLst>
          </p:cNvPr>
          <p:cNvSpPr>
            <a:spLocks noGrp="1"/>
          </p:cNvSpPr>
          <p:nvPr/>
        </p:nvSpPr>
        <p:spPr>
          <a:xfrm>
            <a:off x="10991850" y="419100"/>
            <a:ext cx="514350" cy="266700"/>
          </a:xfrm>
          <a:prstGeom prst="rect">
            <a:avLst/>
          </a:prstGeom>
          <a:noFill/>
          <a:ln w="0">
            <a:noFill/>
            <a:prstDash val="solid"/>
          </a:ln>
        </p:spPr>
        <p:txBody>
          <a:bodyPr anchor="ctr"/>
          <a:lstStyle/>
          <a:p>
            <a:pPr algn="r">
              <a:defRPr sz="1050" b="1" i="0">
                <a:solidFill>
                  <a:srgbClr val="315F58"/>
                </a:solidFill>
              </a:defRPr>
            </a:pPr>
            <a:r>
              <a:rPr sz="1050" b="1" i="0">
                <a:solidFill>
                  <a:srgbClr val="315F58"/>
                </a:solidFill>
              </a:rPr>
              <a:t>02</a:t>
            </a:r>
          </a:p>
        </p:txBody>
      </p:sp>
      <p:sp>
        <p:nvSpPr>
          <p:cNvPr id="3" name="header-rule-2">
            <a:extLst>
              <a:ext uri="{FF2B5EF4-FFF2-40B4-BE49-F238E27FC236}">
                <a16:creationId xmlns:a16="http://schemas.microsoft.com/office/drawing/2014/main" id="{21C2CAC3-13C7-4C6F-9FF6-E4D616D87FF7}"/>
              </a:ext>
            </a:extLst>
          </p:cNvPr>
          <p:cNvSpPr>
            <a:spLocks noGrp="1"/>
          </p:cNvSpPr>
          <p:nvPr/>
        </p:nvSpPr>
        <p:spPr>
          <a:xfrm>
            <a:off x="685800" y="762000"/>
            <a:ext cx="10820400" cy="19050"/>
          </a:xfrm>
          <a:prstGeom prst="rect">
            <a:avLst/>
          </a:prstGeom>
          <a:solidFill>
            <a:srgbClr val="B78A45"/>
          </a:solidFill>
          <a:ln w="0">
            <a:noFill/>
            <a:prstDash val="solid"/>
          </a:ln>
        </p:spPr>
        <p:txBody>
          <a:bodyPr/>
          <a:lstStyle/>
          <a:p>
            <a:endParaRPr lang="en-US"/>
          </a:p>
        </p:txBody>
      </p:sp>
      <p:sp>
        <p:nvSpPr>
          <p:cNvPr id="4" name="title-2">
            <a:extLst>
              <a:ext uri="{FF2B5EF4-FFF2-40B4-BE49-F238E27FC236}">
                <a16:creationId xmlns:a16="http://schemas.microsoft.com/office/drawing/2014/main" id="{25F5A7DF-46E0-4B17-9441-185755B8ABE0}"/>
              </a:ext>
            </a:extLst>
          </p:cNvPr>
          <p:cNvSpPr>
            <a:spLocks noGrp="1"/>
          </p:cNvSpPr>
          <p:nvPr/>
        </p:nvSpPr>
        <p:spPr>
          <a:xfrm>
            <a:off x="685800" y="971550"/>
            <a:ext cx="8953500" cy="571500"/>
          </a:xfrm>
          <a:prstGeom prst="rect">
            <a:avLst/>
          </a:prstGeom>
          <a:noFill/>
          <a:ln w="0">
            <a:noFill/>
            <a:prstDash val="solid"/>
          </a:ln>
        </p:spPr>
        <p:txBody>
          <a:bodyPr anchor="ctr"/>
          <a:lstStyle/>
          <a:p>
            <a:pPr algn="l">
              <a:defRPr sz="3000" b="1" i="0">
                <a:solidFill>
                  <a:srgbClr val="172C2B"/>
                </a:solidFill>
              </a:defRPr>
            </a:pPr>
            <a:r>
              <a:rPr sz="3000" b="1" i="0">
                <a:solidFill>
                  <a:srgbClr val="172C2B"/>
                </a:solidFill>
              </a:rPr>
              <a:t>What was Luke trying to provide?</a:t>
            </a:r>
          </a:p>
        </p:txBody>
      </p:sp>
      <p:sp>
        <p:nvSpPr>
          <p:cNvPr id="5" name="scripture-tag">
            <a:extLst>
              <a:ext uri="{FF2B5EF4-FFF2-40B4-BE49-F238E27FC236}">
                <a16:creationId xmlns:a16="http://schemas.microsoft.com/office/drawing/2014/main" id="{789428C3-2939-4939-AB89-BC044E99A79F}"/>
              </a:ext>
            </a:extLst>
          </p:cNvPr>
          <p:cNvSpPr>
            <a:spLocks noGrp="1"/>
          </p:cNvSpPr>
          <p:nvPr/>
        </p:nvSpPr>
        <p:spPr>
          <a:xfrm>
            <a:off x="9810750" y="1047750"/>
            <a:ext cx="1695450" cy="400050"/>
          </a:xfrm>
          <a:prstGeom prst="roundRect">
            <a:avLst>
              <a:gd name="adj" fmla="val 19048"/>
            </a:avLst>
          </a:prstGeom>
          <a:solidFill>
            <a:srgbClr val="315F58"/>
          </a:solidFill>
          <a:ln w="9525">
            <a:solidFill>
              <a:srgbClr val="315F58"/>
            </a:solidFill>
            <a:prstDash val="solid"/>
          </a:ln>
        </p:spPr>
        <p:txBody>
          <a:bodyPr/>
          <a:lstStyle/>
          <a:p>
            <a:endParaRPr lang="en-US"/>
          </a:p>
        </p:txBody>
      </p:sp>
      <p:sp>
        <p:nvSpPr>
          <p:cNvPr id="6" name="scripture-ref">
            <a:extLst>
              <a:ext uri="{FF2B5EF4-FFF2-40B4-BE49-F238E27FC236}">
                <a16:creationId xmlns:a16="http://schemas.microsoft.com/office/drawing/2014/main" id="{0F9E0CCF-0B31-4D05-BEDA-7B6380F4D484}"/>
              </a:ext>
            </a:extLst>
          </p:cNvPr>
          <p:cNvSpPr>
            <a:spLocks noGrp="1"/>
          </p:cNvSpPr>
          <p:nvPr/>
        </p:nvSpPr>
        <p:spPr>
          <a:xfrm>
            <a:off x="9906000" y="1104900"/>
            <a:ext cx="1504950" cy="285750"/>
          </a:xfrm>
          <a:prstGeom prst="rect">
            <a:avLst/>
          </a:prstGeom>
          <a:noFill/>
          <a:ln w="0">
            <a:noFill/>
            <a:prstDash val="solid"/>
          </a:ln>
        </p:spPr>
        <p:txBody>
          <a:bodyPr anchor="ctr"/>
          <a:lstStyle/>
          <a:p>
            <a:pPr algn="ctr">
              <a:defRPr sz="1200" b="1" i="0">
                <a:solidFill>
                  <a:srgbClr val="FFFCF7"/>
                </a:solidFill>
              </a:defRPr>
            </a:pPr>
            <a:r>
              <a:rPr sz="1200" b="1" i="0">
                <a:solidFill>
                  <a:srgbClr val="FFFCF7"/>
                </a:solidFill>
              </a:rPr>
              <a:t>LUKE 1:1–4</a:t>
            </a:r>
          </a:p>
        </p:txBody>
      </p:sp>
      <p:sp>
        <p:nvSpPr>
          <p:cNvPr id="7" name="question-field">
            <a:extLst>
              <a:ext uri="{FF2B5EF4-FFF2-40B4-BE49-F238E27FC236}">
                <a16:creationId xmlns:a16="http://schemas.microsoft.com/office/drawing/2014/main" id="{D2777B29-F8EC-4A66-B8B8-9896A78582C5}"/>
              </a:ext>
            </a:extLst>
          </p:cNvPr>
          <p:cNvSpPr>
            <a:spLocks noGrp="1"/>
          </p:cNvSpPr>
          <p:nvPr/>
        </p:nvSpPr>
        <p:spPr>
          <a:xfrm>
            <a:off x="685800" y="1790700"/>
            <a:ext cx="10820400" cy="1200150"/>
          </a:xfrm>
          <a:prstGeom prst="roundRect">
            <a:avLst>
              <a:gd name="adj" fmla="val 6349"/>
            </a:avLst>
          </a:prstGeom>
          <a:solidFill>
            <a:srgbClr val="FFFCF7"/>
          </a:solidFill>
          <a:ln w="9525">
            <a:solidFill>
              <a:srgbClr val="D8CEBD"/>
            </a:solidFill>
            <a:prstDash val="solid"/>
          </a:ln>
        </p:spPr>
        <p:txBody>
          <a:bodyPr/>
          <a:lstStyle/>
          <a:p>
            <a:endParaRPr lang="en-US"/>
          </a:p>
        </p:txBody>
      </p:sp>
      <p:sp>
        <p:nvSpPr>
          <p:cNvPr id="8" name="question-number">
            <a:extLst>
              <a:ext uri="{FF2B5EF4-FFF2-40B4-BE49-F238E27FC236}">
                <a16:creationId xmlns:a16="http://schemas.microsoft.com/office/drawing/2014/main" id="{80B7DE51-DD5C-4A4B-AB63-6966CA6C0D35}"/>
              </a:ext>
            </a:extLst>
          </p:cNvPr>
          <p:cNvSpPr>
            <a:spLocks noGrp="1"/>
          </p:cNvSpPr>
          <p:nvPr/>
        </p:nvSpPr>
        <p:spPr>
          <a:xfrm>
            <a:off x="914400" y="2038350"/>
            <a:ext cx="514350" cy="666750"/>
          </a:xfrm>
          <a:prstGeom prst="rect">
            <a:avLst/>
          </a:prstGeom>
          <a:noFill/>
          <a:ln w="0">
            <a:noFill/>
            <a:prstDash val="solid"/>
          </a:ln>
        </p:spPr>
        <p:txBody>
          <a:bodyPr anchor="ctr"/>
          <a:lstStyle/>
          <a:p>
            <a:pPr algn="ctr">
              <a:defRPr sz="3300" b="1" i="0">
                <a:solidFill>
                  <a:srgbClr val="B78A45"/>
                </a:solidFill>
              </a:defRPr>
            </a:pPr>
            <a:r>
              <a:rPr sz="3300" b="1" i="0">
                <a:solidFill>
                  <a:srgbClr val="B78A45"/>
                </a:solidFill>
              </a:rPr>
              <a:t>1</a:t>
            </a:r>
          </a:p>
        </p:txBody>
      </p:sp>
      <p:sp>
        <p:nvSpPr>
          <p:cNvPr id="9" name="question-divider">
            <a:extLst>
              <a:ext uri="{FF2B5EF4-FFF2-40B4-BE49-F238E27FC236}">
                <a16:creationId xmlns:a16="http://schemas.microsoft.com/office/drawing/2014/main" id="{3A70311A-C56D-4D2B-B538-3AADEB16916A}"/>
              </a:ext>
            </a:extLst>
          </p:cNvPr>
          <p:cNvSpPr>
            <a:spLocks noGrp="1"/>
          </p:cNvSpPr>
          <p:nvPr/>
        </p:nvSpPr>
        <p:spPr>
          <a:xfrm>
            <a:off x="1619250" y="2019300"/>
            <a:ext cx="19050" cy="742950"/>
          </a:xfrm>
          <a:prstGeom prst="rect">
            <a:avLst/>
          </a:prstGeom>
          <a:solidFill>
            <a:srgbClr val="B78A45"/>
          </a:solidFill>
          <a:ln w="0">
            <a:noFill/>
            <a:prstDash val="solid"/>
          </a:ln>
        </p:spPr>
        <p:txBody>
          <a:bodyPr/>
          <a:lstStyle/>
          <a:p>
            <a:endParaRPr lang="en-US"/>
          </a:p>
        </p:txBody>
      </p:sp>
      <p:sp>
        <p:nvSpPr>
          <p:cNvPr id="10" name="question-text">
            <a:extLst>
              <a:ext uri="{FF2B5EF4-FFF2-40B4-BE49-F238E27FC236}">
                <a16:creationId xmlns:a16="http://schemas.microsoft.com/office/drawing/2014/main" id="{F4911898-A8F0-4611-9DAF-0F84116093CD}"/>
              </a:ext>
            </a:extLst>
          </p:cNvPr>
          <p:cNvSpPr>
            <a:spLocks noGrp="1"/>
          </p:cNvSpPr>
          <p:nvPr/>
        </p:nvSpPr>
        <p:spPr>
          <a:xfrm>
            <a:off x="1885950" y="1943100"/>
            <a:ext cx="9201150" cy="876300"/>
          </a:xfrm>
          <a:prstGeom prst="rect">
            <a:avLst/>
          </a:prstGeom>
          <a:noFill/>
          <a:ln w="0">
            <a:noFill/>
            <a:prstDash val="solid"/>
          </a:ln>
        </p:spPr>
        <p:txBody>
          <a:bodyPr anchor="ctr"/>
          <a:lstStyle/>
          <a:p>
            <a:pPr algn="l">
              <a:defRPr sz="1875" b="1" i="0">
                <a:solidFill>
                  <a:srgbClr val="172C2B"/>
                </a:solidFill>
              </a:defRPr>
            </a:pPr>
            <a:r>
              <a:rPr sz="1875" b="1" i="0">
                <a:solidFill>
                  <a:srgbClr val="172C2B"/>
                </a:solidFill>
              </a:rPr>
              <a:t>Look at Luke’s prologue to his whole work (Luke 1:1–4).</a:t>
            </a:r>
          </a:p>
          <a:p>
            <a:pPr algn="l">
              <a:defRPr sz="1875" b="1" i="0">
                <a:solidFill>
                  <a:srgbClr val="172C2B"/>
                </a:solidFill>
              </a:defRPr>
            </a:pPr>
            <a:r>
              <a:rPr sz="1875" b="1" i="0">
                <a:solidFill>
                  <a:srgbClr val="172C2B"/>
                </a:solidFill>
              </a:rPr>
              <a:t>What does he say Luke–Acts is meant to be?</a:t>
            </a:r>
          </a:p>
        </p:txBody>
      </p:sp>
      <p:sp>
        <p:nvSpPr>
          <p:cNvPr id="11" name="reveal-label">
            <a:extLst>
              <a:ext uri="{FF2B5EF4-FFF2-40B4-BE49-F238E27FC236}">
                <a16:creationId xmlns:a16="http://schemas.microsoft.com/office/drawing/2014/main" id="{8C450692-A3AA-4FCD-AD8B-77B2081B03E2}"/>
              </a:ext>
            </a:extLst>
          </p:cNvPr>
          <p:cNvSpPr>
            <a:spLocks noGrp="1"/>
          </p:cNvSpPr>
          <p:nvPr/>
        </p:nvSpPr>
        <p:spPr>
          <a:xfrm>
            <a:off x="685800" y="3295650"/>
            <a:ext cx="4476750" cy="266700"/>
          </a:xfrm>
          <a:prstGeom prst="rect">
            <a:avLst/>
          </a:prstGeom>
          <a:noFill/>
          <a:ln w="0">
            <a:noFill/>
            <a:prstDash val="solid"/>
          </a:ln>
        </p:spPr>
        <p:txBody>
          <a:bodyPr anchor="ctr"/>
          <a:lstStyle/>
          <a:p>
            <a:pPr algn="l">
              <a:defRPr sz="1050" b="1" i="0">
                <a:solidFill>
                  <a:srgbClr val="9B5D43"/>
                </a:solidFill>
              </a:defRPr>
            </a:pPr>
            <a:r>
              <a:rPr sz="1050" b="1" i="0">
                <a:solidFill>
                  <a:srgbClr val="9B5D43"/>
                </a:solidFill>
              </a:rPr>
              <a:t>DISCUSS, THEN REVEAL THE RESPONSE</a:t>
            </a:r>
          </a:p>
        </p:txBody>
      </p:sp>
      <p:sp>
        <p:nvSpPr>
          <p:cNvPr id="12" name="answer-rule-1">
            <a:extLst>
              <a:ext uri="{FF2B5EF4-FFF2-40B4-BE49-F238E27FC236}">
                <a16:creationId xmlns:a16="http://schemas.microsoft.com/office/drawing/2014/main" id="{967F00C8-6C22-4476-9821-A2EBD4D856C5}"/>
              </a:ext>
            </a:extLst>
          </p:cNvPr>
          <p:cNvSpPr>
            <a:spLocks noGrp="1"/>
          </p:cNvSpPr>
          <p:nvPr/>
        </p:nvSpPr>
        <p:spPr>
          <a:xfrm>
            <a:off x="685800" y="4219575"/>
            <a:ext cx="10820400" cy="9525"/>
          </a:xfrm>
          <a:prstGeom prst="rect">
            <a:avLst/>
          </a:prstGeom>
          <a:solidFill>
            <a:srgbClr val="D8CEBD"/>
          </a:solidFill>
          <a:ln w="0">
            <a:noFill/>
            <a:prstDash val="solid"/>
          </a:ln>
        </p:spPr>
        <p:txBody>
          <a:bodyPr/>
          <a:lstStyle/>
          <a:p>
            <a:endParaRPr lang="en-US"/>
          </a:p>
        </p:txBody>
      </p:sp>
      <p:sp>
        <p:nvSpPr>
          <p:cNvPr id="13" name="answer-number-1">
            <a:extLst>
              <a:ext uri="{FF2B5EF4-FFF2-40B4-BE49-F238E27FC236}">
                <a16:creationId xmlns:a16="http://schemas.microsoft.com/office/drawing/2014/main" id="{A16FBC3E-E817-4864-A51D-EFE0295BCF2A}"/>
              </a:ext>
            </a:extLst>
          </p:cNvPr>
          <p:cNvSpPr>
            <a:spLocks noGrp="1"/>
          </p:cNvSpPr>
          <p:nvPr/>
        </p:nvSpPr>
        <p:spPr>
          <a:xfrm>
            <a:off x="685800" y="3695700"/>
            <a:ext cx="514350" cy="476250"/>
          </a:xfrm>
          <a:prstGeom prst="rect">
            <a:avLst/>
          </a:prstGeom>
          <a:noFill/>
          <a:ln w="0">
            <a:noFill/>
            <a:prstDash val="solid"/>
          </a:ln>
        </p:spPr>
        <p:txBody>
          <a:bodyPr anchor="ctr"/>
          <a:lstStyle/>
          <a:p>
            <a:pPr algn="l">
              <a:defRPr sz="1125" b="1" i="0">
                <a:solidFill>
                  <a:srgbClr val="B78A45"/>
                </a:solidFill>
              </a:defRPr>
            </a:pPr>
            <a:r>
              <a:rPr sz="1125" b="1" i="0">
                <a:solidFill>
                  <a:srgbClr val="B78A45"/>
                </a:solidFill>
              </a:rPr>
              <a:t>01</a:t>
            </a:r>
          </a:p>
        </p:txBody>
      </p:sp>
      <p:sp>
        <p:nvSpPr>
          <p:cNvPr id="14" name="answer-1">
            <a:extLst>
              <a:ext uri="{FF2B5EF4-FFF2-40B4-BE49-F238E27FC236}">
                <a16:creationId xmlns:a16="http://schemas.microsoft.com/office/drawing/2014/main" id="{153B05E1-C531-4C74-AE60-0E05976B8367}"/>
              </a:ext>
            </a:extLst>
          </p:cNvPr>
          <p:cNvSpPr>
            <a:spLocks noGrp="1"/>
          </p:cNvSpPr>
          <p:nvPr/>
        </p:nvSpPr>
        <p:spPr>
          <a:xfrm>
            <a:off x="1295400" y="3695700"/>
            <a:ext cx="9715500" cy="476250"/>
          </a:xfrm>
          <a:prstGeom prst="rect">
            <a:avLst/>
          </a:prstGeom>
          <a:noFill/>
          <a:ln w="0">
            <a:noFill/>
            <a:prstDash val="solid"/>
          </a:ln>
        </p:spPr>
        <p:txBody>
          <a:bodyPr anchor="ctr"/>
          <a:lstStyle/>
          <a:p>
            <a:pPr algn="l">
              <a:defRPr sz="1575" b="1" i="0">
                <a:solidFill>
                  <a:srgbClr val="172C2B"/>
                </a:solidFill>
              </a:defRPr>
            </a:pPr>
            <a:r>
              <a:rPr sz="1575" b="1" i="0">
                <a:solidFill>
                  <a:srgbClr val="172C2B"/>
                </a:solidFill>
              </a:rPr>
              <a:t>An orderly account</a:t>
            </a:r>
          </a:p>
        </p:txBody>
      </p:sp>
      <p:sp>
        <p:nvSpPr>
          <p:cNvPr id="15" name="answer-rule-2">
            <a:extLst>
              <a:ext uri="{FF2B5EF4-FFF2-40B4-BE49-F238E27FC236}">
                <a16:creationId xmlns:a16="http://schemas.microsoft.com/office/drawing/2014/main" id="{9CB7627A-30D7-4ED9-8A5D-610FFFBB2DAA}"/>
              </a:ext>
            </a:extLst>
          </p:cNvPr>
          <p:cNvSpPr>
            <a:spLocks noGrp="1"/>
          </p:cNvSpPr>
          <p:nvPr/>
        </p:nvSpPr>
        <p:spPr>
          <a:xfrm>
            <a:off x="685800" y="4867275"/>
            <a:ext cx="10820400" cy="9525"/>
          </a:xfrm>
          <a:prstGeom prst="rect">
            <a:avLst/>
          </a:prstGeom>
          <a:solidFill>
            <a:srgbClr val="D8CEBD"/>
          </a:solidFill>
          <a:ln w="0">
            <a:noFill/>
            <a:prstDash val="solid"/>
          </a:ln>
        </p:spPr>
        <p:txBody>
          <a:bodyPr/>
          <a:lstStyle/>
          <a:p>
            <a:endParaRPr lang="en-US"/>
          </a:p>
        </p:txBody>
      </p:sp>
      <p:sp>
        <p:nvSpPr>
          <p:cNvPr id="16" name="answer-number-2">
            <a:extLst>
              <a:ext uri="{FF2B5EF4-FFF2-40B4-BE49-F238E27FC236}">
                <a16:creationId xmlns:a16="http://schemas.microsoft.com/office/drawing/2014/main" id="{166D165B-25BE-4F07-9278-2DDBFF379AA0}"/>
              </a:ext>
            </a:extLst>
          </p:cNvPr>
          <p:cNvSpPr>
            <a:spLocks noGrp="1"/>
          </p:cNvSpPr>
          <p:nvPr/>
        </p:nvSpPr>
        <p:spPr>
          <a:xfrm>
            <a:off x="685800" y="4343400"/>
            <a:ext cx="514350" cy="476250"/>
          </a:xfrm>
          <a:prstGeom prst="rect">
            <a:avLst/>
          </a:prstGeom>
          <a:noFill/>
          <a:ln w="0">
            <a:noFill/>
            <a:prstDash val="solid"/>
          </a:ln>
        </p:spPr>
        <p:txBody>
          <a:bodyPr anchor="ctr"/>
          <a:lstStyle/>
          <a:p>
            <a:pPr algn="l">
              <a:defRPr sz="1125" b="1" i="0">
                <a:solidFill>
                  <a:srgbClr val="B78A45"/>
                </a:solidFill>
              </a:defRPr>
            </a:pPr>
            <a:r>
              <a:rPr sz="1125" b="1" i="0">
                <a:solidFill>
                  <a:srgbClr val="B78A45"/>
                </a:solidFill>
              </a:rPr>
              <a:t>02</a:t>
            </a:r>
          </a:p>
        </p:txBody>
      </p:sp>
      <p:sp>
        <p:nvSpPr>
          <p:cNvPr id="17" name="answer-2">
            <a:extLst>
              <a:ext uri="{FF2B5EF4-FFF2-40B4-BE49-F238E27FC236}">
                <a16:creationId xmlns:a16="http://schemas.microsoft.com/office/drawing/2014/main" id="{D1C89450-3123-42E8-B0C3-C4CF4A5B1144}"/>
              </a:ext>
            </a:extLst>
          </p:cNvPr>
          <p:cNvSpPr>
            <a:spLocks noGrp="1"/>
          </p:cNvSpPr>
          <p:nvPr/>
        </p:nvSpPr>
        <p:spPr>
          <a:xfrm>
            <a:off x="1295400" y="4343400"/>
            <a:ext cx="9715500" cy="476250"/>
          </a:xfrm>
          <a:prstGeom prst="rect">
            <a:avLst/>
          </a:prstGeom>
          <a:noFill/>
          <a:ln w="0">
            <a:noFill/>
            <a:prstDash val="solid"/>
          </a:ln>
        </p:spPr>
        <p:txBody>
          <a:bodyPr anchor="ctr"/>
          <a:lstStyle/>
          <a:p>
            <a:pPr algn="l">
              <a:defRPr sz="1575" b="0" i="0">
                <a:solidFill>
                  <a:srgbClr val="172C2B"/>
                </a:solidFill>
              </a:defRPr>
            </a:pPr>
            <a:r>
              <a:rPr sz="1575" b="0" i="0">
                <a:solidFill>
                  <a:srgbClr val="172C2B"/>
                </a:solidFill>
              </a:rPr>
              <a:t>Grounded in eyewitnesses and servants of the word</a:t>
            </a:r>
          </a:p>
        </p:txBody>
      </p:sp>
      <p:sp>
        <p:nvSpPr>
          <p:cNvPr id="18" name="answer-rule-3">
            <a:extLst>
              <a:ext uri="{FF2B5EF4-FFF2-40B4-BE49-F238E27FC236}">
                <a16:creationId xmlns:a16="http://schemas.microsoft.com/office/drawing/2014/main" id="{C03E3146-FF6B-48D5-91B4-39F0C30119F6}"/>
              </a:ext>
            </a:extLst>
          </p:cNvPr>
          <p:cNvSpPr>
            <a:spLocks noGrp="1"/>
          </p:cNvSpPr>
          <p:nvPr/>
        </p:nvSpPr>
        <p:spPr>
          <a:xfrm>
            <a:off x="685800" y="5514975"/>
            <a:ext cx="10820400" cy="9525"/>
          </a:xfrm>
          <a:prstGeom prst="rect">
            <a:avLst/>
          </a:prstGeom>
          <a:solidFill>
            <a:srgbClr val="D8CEBD"/>
          </a:solidFill>
          <a:ln w="0">
            <a:noFill/>
            <a:prstDash val="solid"/>
          </a:ln>
        </p:spPr>
        <p:txBody>
          <a:bodyPr/>
          <a:lstStyle/>
          <a:p>
            <a:endParaRPr lang="en-US"/>
          </a:p>
        </p:txBody>
      </p:sp>
      <p:sp>
        <p:nvSpPr>
          <p:cNvPr id="19" name="answer-number-3">
            <a:extLst>
              <a:ext uri="{FF2B5EF4-FFF2-40B4-BE49-F238E27FC236}">
                <a16:creationId xmlns:a16="http://schemas.microsoft.com/office/drawing/2014/main" id="{6A9AFDE8-9773-40EB-9A37-42293A5B24CD}"/>
              </a:ext>
            </a:extLst>
          </p:cNvPr>
          <p:cNvSpPr>
            <a:spLocks noGrp="1"/>
          </p:cNvSpPr>
          <p:nvPr/>
        </p:nvSpPr>
        <p:spPr>
          <a:xfrm>
            <a:off x="685800" y="4991100"/>
            <a:ext cx="514350" cy="476250"/>
          </a:xfrm>
          <a:prstGeom prst="rect">
            <a:avLst/>
          </a:prstGeom>
          <a:noFill/>
          <a:ln w="0">
            <a:noFill/>
            <a:prstDash val="solid"/>
          </a:ln>
        </p:spPr>
        <p:txBody>
          <a:bodyPr anchor="ctr"/>
          <a:lstStyle/>
          <a:p>
            <a:pPr algn="l">
              <a:defRPr sz="1125" b="1" i="0">
                <a:solidFill>
                  <a:srgbClr val="B78A45"/>
                </a:solidFill>
              </a:defRPr>
            </a:pPr>
            <a:r>
              <a:rPr sz="1125" b="1" i="0">
                <a:solidFill>
                  <a:srgbClr val="B78A45"/>
                </a:solidFill>
              </a:rPr>
              <a:t>03</a:t>
            </a:r>
          </a:p>
        </p:txBody>
      </p:sp>
      <p:sp>
        <p:nvSpPr>
          <p:cNvPr id="20" name="answer-3">
            <a:extLst>
              <a:ext uri="{FF2B5EF4-FFF2-40B4-BE49-F238E27FC236}">
                <a16:creationId xmlns:a16="http://schemas.microsoft.com/office/drawing/2014/main" id="{0C73A8B0-283D-45DB-8266-622C5819C013}"/>
              </a:ext>
            </a:extLst>
          </p:cNvPr>
          <p:cNvSpPr>
            <a:spLocks noGrp="1"/>
          </p:cNvSpPr>
          <p:nvPr/>
        </p:nvSpPr>
        <p:spPr>
          <a:xfrm>
            <a:off x="1295400" y="4991100"/>
            <a:ext cx="9715500" cy="476250"/>
          </a:xfrm>
          <a:prstGeom prst="rect">
            <a:avLst/>
          </a:prstGeom>
          <a:noFill/>
          <a:ln w="0">
            <a:noFill/>
            <a:prstDash val="solid"/>
          </a:ln>
        </p:spPr>
        <p:txBody>
          <a:bodyPr anchor="ctr"/>
          <a:lstStyle/>
          <a:p>
            <a:pPr algn="l">
              <a:defRPr sz="1575" b="0" i="0">
                <a:solidFill>
                  <a:srgbClr val="172C2B"/>
                </a:solidFill>
              </a:defRPr>
            </a:pPr>
            <a:r>
              <a:rPr sz="1575" b="0" i="0">
                <a:solidFill>
                  <a:srgbClr val="172C2B"/>
                </a:solidFill>
              </a:rPr>
              <a:t>Carefully investigated by Luke</a:t>
            </a:r>
          </a:p>
        </p:txBody>
      </p:sp>
      <p:sp>
        <p:nvSpPr>
          <p:cNvPr id="21" name="answer-rule-4">
            <a:extLst>
              <a:ext uri="{FF2B5EF4-FFF2-40B4-BE49-F238E27FC236}">
                <a16:creationId xmlns:a16="http://schemas.microsoft.com/office/drawing/2014/main" id="{0B3DA09C-4BB6-4A9A-8D89-4FFD13CC8B86}"/>
              </a:ext>
            </a:extLst>
          </p:cNvPr>
          <p:cNvSpPr>
            <a:spLocks noGrp="1"/>
          </p:cNvSpPr>
          <p:nvPr/>
        </p:nvSpPr>
        <p:spPr>
          <a:xfrm>
            <a:off x="685800" y="6162675"/>
            <a:ext cx="10820400" cy="9525"/>
          </a:xfrm>
          <a:prstGeom prst="rect">
            <a:avLst/>
          </a:prstGeom>
          <a:solidFill>
            <a:srgbClr val="D8CEBD"/>
          </a:solidFill>
          <a:ln w="0">
            <a:noFill/>
            <a:prstDash val="solid"/>
          </a:ln>
        </p:spPr>
        <p:txBody>
          <a:bodyPr/>
          <a:lstStyle/>
          <a:p>
            <a:endParaRPr lang="en-US"/>
          </a:p>
        </p:txBody>
      </p:sp>
      <p:sp>
        <p:nvSpPr>
          <p:cNvPr id="22" name="answer-number-4">
            <a:extLst>
              <a:ext uri="{FF2B5EF4-FFF2-40B4-BE49-F238E27FC236}">
                <a16:creationId xmlns:a16="http://schemas.microsoft.com/office/drawing/2014/main" id="{BBD6EAFB-E0AD-49E8-9647-6AB9FA8D3F81}"/>
              </a:ext>
            </a:extLst>
          </p:cNvPr>
          <p:cNvSpPr>
            <a:spLocks noGrp="1"/>
          </p:cNvSpPr>
          <p:nvPr/>
        </p:nvSpPr>
        <p:spPr>
          <a:xfrm>
            <a:off x="685800" y="5638800"/>
            <a:ext cx="514350" cy="476250"/>
          </a:xfrm>
          <a:prstGeom prst="rect">
            <a:avLst/>
          </a:prstGeom>
          <a:noFill/>
          <a:ln w="0">
            <a:noFill/>
            <a:prstDash val="solid"/>
          </a:ln>
        </p:spPr>
        <p:txBody>
          <a:bodyPr anchor="ctr"/>
          <a:lstStyle/>
          <a:p>
            <a:pPr algn="l">
              <a:defRPr sz="1125" b="1" i="0">
                <a:solidFill>
                  <a:srgbClr val="B78A45"/>
                </a:solidFill>
              </a:defRPr>
            </a:pPr>
            <a:r>
              <a:rPr sz="1125" b="1" i="0">
                <a:solidFill>
                  <a:srgbClr val="B78A45"/>
                </a:solidFill>
              </a:rPr>
              <a:t>04</a:t>
            </a:r>
          </a:p>
        </p:txBody>
      </p:sp>
      <p:sp>
        <p:nvSpPr>
          <p:cNvPr id="23" name="answer-4">
            <a:extLst>
              <a:ext uri="{FF2B5EF4-FFF2-40B4-BE49-F238E27FC236}">
                <a16:creationId xmlns:a16="http://schemas.microsoft.com/office/drawing/2014/main" id="{F186FA18-2B3A-45AA-BC43-8E627FEBBDC4}"/>
              </a:ext>
            </a:extLst>
          </p:cNvPr>
          <p:cNvSpPr>
            <a:spLocks noGrp="1"/>
          </p:cNvSpPr>
          <p:nvPr/>
        </p:nvSpPr>
        <p:spPr>
          <a:xfrm>
            <a:off x="1295400" y="5638800"/>
            <a:ext cx="9715500" cy="476250"/>
          </a:xfrm>
          <a:prstGeom prst="rect">
            <a:avLst/>
          </a:prstGeom>
          <a:noFill/>
          <a:ln w="0">
            <a:noFill/>
            <a:prstDash val="solid"/>
          </a:ln>
        </p:spPr>
        <p:txBody>
          <a:bodyPr anchor="ctr"/>
          <a:lstStyle/>
          <a:p>
            <a:pPr algn="l">
              <a:defRPr sz="1575" b="0" i="0">
                <a:solidFill>
                  <a:srgbClr val="172C2B"/>
                </a:solidFill>
              </a:defRPr>
            </a:pPr>
            <a:r>
              <a:rPr sz="1575" b="0" i="0">
                <a:solidFill>
                  <a:srgbClr val="172C2B"/>
                </a:solidFill>
              </a:rPr>
              <a:t>Written so Theophilus could have confidence and certainty</a:t>
            </a:r>
          </a:p>
        </p:txBody>
      </p:sp>
    </p:spTree>
    <p:extLst>
      <p:ext uri="{BB962C8B-B14F-4D97-AF65-F5344CB8AC3E}">
        <p14:creationId xmlns:p14="http://schemas.microsoft.com/office/powerpoint/2010/main" val="175676901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511</Words>
  <Application>Microsoft Macintosh PowerPoint</Application>
  <DocSecurity>0</DocSecurity>
  <PresentationFormat>Widescreen</PresentationFormat>
  <Paragraphs>51</Paragraphs>
  <Slides>2</Slides>
  <Notes>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vt:i4>
      </vt:variant>
    </vt:vector>
  </HeadingPairs>
  <TitlesOfParts>
    <vt:vector size="4" baseType="lpstr">
      <vt:lpstr>Calibri</vt:lpstr>
      <vt:lpstr>ChatGPT</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Flynt Moreland</cp:lastModifiedBy>
  <cp:revision>1</cp:revision>
  <dcterms:created xsi:type="dcterms:W3CDTF">2026-08-07T21:04:03Z</dcterms:created>
  <dcterms:modified xsi:type="dcterms:W3CDTF">2026-08-07T21:06:42Z</dcterms:modified>
</cp:coreProperties>
</file>