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87908"/>
  </p:normalViewPr>
  <p:slideViewPr>
    <p:cSldViewPr snapToGrid="0">
      <p:cViewPr varScale="1">
        <p:scale>
          <a:sx n="112" d="100"/>
          <a:sy n="112" d="100"/>
        </p:scale>
        <p:origin x="1120"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Acts chapter one is a bridge. Jesus prepares His followers for His physical departure, promises the Holy Spirit, gives them their mission, and ascends. The disciples then wait together in prayer and restore the number of the Twelve by choosing Matthias. The chapter moves from Jesus’ commission to a community prepared to become His witnesses. Luke is setting the table for Pentecost—</a:t>
            </a:r>
            <a:r>
              <a:rPr lang="en-US" dirty="0"/>
              <a:t>[Humor]</a:t>
            </a:r>
            <a:r>
              <a:rPr dirty="0"/>
              <a:t>and unlike most dinner tables, this one comes with a rushing wind in the next chapter. </a:t>
            </a:r>
            <a:r>
              <a:rPr lang="en-US" dirty="0"/>
              <a:t>[/Humor]</a:t>
            </a:r>
            <a:r>
              <a:rPr dirty="0"/>
              <a:t>[Smile]</a:t>
            </a:r>
          </a:p>
          <a:p>
            <a:endParaRPr dirty="0"/>
          </a:p>
          <a:p>
            <a:r>
              <a:rPr dirty="0"/>
              <a:t>[Sources]</a:t>
            </a:r>
          </a:p>
          <a:p>
            <a:r>
              <a:rPr dirty="0"/>
              <a:t>- User-provided screenshots of Lesson Two, Acts 1:1–26; Scripture references shown in the lesson.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six themes give us a framework for reading Acts as a whole. As we study each chapter, we can watch how Luke develops the church’s mission and message, the work of the Holy Spirit, the response to opposition, the connection between Christianity and Judaism, and the shape of Christian fellowship. We will not answer all six today; this is our running scorecard for the book.</a:t>
            </a:r>
          </a:p>
          <a:p>
            <a:endParaRPr/>
          </a:p>
          <a:p>
            <a:r>
              <a:t>[Sources]</a:t>
            </a:r>
          </a:p>
          <a:p>
            <a:r>
              <a:t>- User-provided screenshots of Lesson Two, Acts 1:1–26; Scripture references shown in the lesson.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Question one asks us to outline the chapter in two broad movements. Read Acts 1:1 through 11 as one unit and Acts 1:12 through 26 as the second. What short title best captures the main action and purpose of each section?</a:t>
            </a:r>
          </a:p>
          <a:p>
            <a:endParaRPr/>
          </a:p>
          <a:p>
            <a:r>
              <a:t>[Sources]</a:t>
            </a:r>
          </a:p>
          <a:p>
            <a:r>
              <a:t>- User-provided screenshots of Lesson Two, Acts 1:1–26; Scripture references shown in the lesson.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A helpful outline is: first, Jesus commissions His witnesses and ascends; second, the believers wait in prayer and choose a twelfth witness. Other titles may work. </a:t>
            </a:r>
            <a:endParaRPr lang="en-US" dirty="0"/>
          </a:p>
          <a:p>
            <a:endParaRPr dirty="0"/>
          </a:p>
          <a:p>
            <a:r>
              <a:rPr dirty="0"/>
              <a:t>[Sources]</a:t>
            </a:r>
          </a:p>
          <a:p>
            <a:r>
              <a:rPr dirty="0"/>
              <a:t>- User-provided screenshots of Lesson Two, Acts 1:1–26; Scripture references shown in the lesson.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Acts describes the church beginning to fulfill its mission through the Holy Spirit. In this opening chapter, notice what Jesus commands, what He promises, and how the disciples respond before the Spirit is poured out. How does Acts 1 prepare the church for everything that follows?</a:t>
            </a:r>
          </a:p>
          <a:p>
            <a:endParaRPr/>
          </a:p>
          <a:p>
            <a:r>
              <a:t>[Sources]</a:t>
            </a:r>
          </a:p>
          <a:p>
            <a:r>
              <a:t>- User-provided screenshots of Lesson Two, Acts 1:1–26; Scripture references shown in the lesson.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Acts 1 establishes both the assignment and the source of power. Jesus commissions the disciples to be His witnesses, but tells them to wait for the Holy Spirit rather than beginning in their own strength. Their prayerful waiting and restoration of the Twelve prepare the community for its mission.</a:t>
            </a:r>
          </a:p>
          <a:p>
            <a:endParaRPr/>
          </a:p>
          <a:p>
            <a:r>
              <a:t>[Sources]</a:t>
            </a:r>
          </a:p>
          <a:p>
            <a:r>
              <a:t>- User-provided screenshots of Lesson Two, Acts 1:1–26; Scripture references shown in the lesson.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During the forty days after His Resurrection, Jesus appeared to the disciples, gave convincing proofs that He was alive, spoke about the kingdom of God, and instructed them to wait for the promised Holy Spirit. What purpose do these activities suggest?</a:t>
            </a:r>
          </a:p>
          <a:p>
            <a:endParaRPr/>
          </a:p>
          <a:p>
            <a:r>
              <a:t>[Sources]</a:t>
            </a:r>
          </a:p>
          <a:p>
            <a:r>
              <a:t>- User-provided screenshots of Lesson Two, Acts 1:1–26; Scripture references shown in the lesson.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forty days gave the disciples confidence that Jesus was truly alive, deeper understanding of God’s kingdom, and clear instructions for what came next. They were not being left with a vague inspirational memory. They were being prepared as witnesses to a living Lord.</a:t>
            </a:r>
          </a:p>
          <a:p>
            <a:endParaRPr/>
          </a:p>
          <a:p>
            <a:r>
              <a:t>[Sources]</a:t>
            </a:r>
          </a:p>
          <a:p>
            <a:r>
              <a:t>- User-provided screenshots of Lesson Two, Acts 1:1–26; Scripture references shown in the lesson.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apostles asked whether Jesus was about to restore the kingdom to Israel. Jesus did not correct their hope so much as redirect their attention. The timing belonged to the Father; their immediate responsibility was to receive power and become witnesses. Why is that distinction important?</a:t>
            </a:r>
          </a:p>
          <a:p>
            <a:endParaRPr/>
          </a:p>
          <a:p>
            <a:r>
              <a:t>[Sources]</a:t>
            </a:r>
          </a:p>
          <a:p>
            <a:r>
              <a:t>- User-provided screenshots of Lesson Two, Acts 1:1–26; Scripture references shown in the lesson.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The timetable belonged to the Father and was not necessary for the apostles to complete their assignment. Jesus redirected them from controlling the calendar to carrying out the mission. </a:t>
            </a:r>
            <a:r>
              <a:rPr lang="en-US"/>
              <a:t>[Humor]</a:t>
            </a:r>
            <a:r>
              <a:t>Christians </a:t>
            </a:r>
            <a:r>
              <a:rPr dirty="0"/>
              <a:t>still find calendars fascinating, but Acts 1:8 gives us a calling rather than a </a:t>
            </a:r>
            <a:r>
              <a:t>countdown.</a:t>
            </a:r>
            <a:r>
              <a:rPr lang="en-US"/>
              <a:t>[/Humor]</a:t>
            </a:r>
            <a:r>
              <a:t> </a:t>
            </a:r>
            <a:r>
              <a:rPr dirty="0"/>
              <a:t>[Smile]</a:t>
            </a:r>
          </a:p>
          <a:p>
            <a:endParaRPr dirty="0"/>
          </a:p>
          <a:p>
            <a:r>
              <a:rPr dirty="0"/>
              <a:t>[Sources]</a:t>
            </a:r>
          </a:p>
          <a:p>
            <a:r>
              <a:rPr dirty="0"/>
              <a:t>- User-provided screenshots of Lesson Two, Acts 1:1–26; Scripture references shown in the lesson.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Question five connects the Ascension with Jesus’ teaching in John 16. Jesus told the disciples that His departure was necessary and that the Spirit would come to guide them into truth. Why was this transition essential rather than merely unfortunate?</a:t>
            </a:r>
          </a:p>
          <a:p>
            <a:endParaRPr/>
          </a:p>
          <a:p>
            <a:r>
              <a:t>[Sources]</a:t>
            </a:r>
          </a:p>
          <a:p>
            <a:r>
              <a:t>- User-provided screenshots of Lesson Two, Acts 1:1–26; Scripture references shown in the lesson.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Jesus’ ascension marked the completion of His earthly ministry and the beginning of His exalted reign. The Holy Spirit would come to guide, empower, and equip believers everywhere. Jesus’ departure was therefore not abandonment; it was the transition to the worldwide mission described in Acts.</a:t>
            </a:r>
          </a:p>
          <a:p>
            <a:endParaRPr/>
          </a:p>
          <a:p>
            <a:r>
              <a:t>[Sources]</a:t>
            </a:r>
          </a:p>
          <a:p>
            <a:r>
              <a:t>- User-provided screenshots of Lesson Two, Acts 1:1–26; Scripture references shown in the lesson.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angels told the apostles that the same Jesus who had been taken into heaven would return. What conviction would sustain them while He was physically absent, and why would that promise encourage them as they faced a difficult mission?</a:t>
            </a:r>
          </a:p>
          <a:p>
            <a:endParaRPr/>
          </a:p>
          <a:p>
            <a:r>
              <a:t>[Sources]</a:t>
            </a:r>
          </a:p>
          <a:p>
            <a:r>
              <a:t>- User-provided screenshots of Lesson Two, Acts 1:1–26; Scripture references shown in the lesson.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apostles could live and serve with the conviction that Jesus was alive, reigning, and would return. His physical absence did not mean defeat or permanent separation. Their work took place between His victorious ascension and promised return, giving both courage and urgency to their witness.</a:t>
            </a:r>
          </a:p>
          <a:p>
            <a:endParaRPr/>
          </a:p>
          <a:p>
            <a:r>
              <a:t>[Sources]</a:t>
            </a:r>
          </a:p>
          <a:p>
            <a:r>
              <a:t>- User-provided screenshots of Lesson Two, Acts 1:1–26; Scripture references shown in the lesson.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Peter described the vacancy among the Twelve in terms of witness. The replacement needed to have accompanied the disciples throughout Jesus’ ministry, from John’s baptism until the Ascension, and to become a witness to the Resurrection. What do those requirements tell us about the chief function and qualifications of an apostle?</a:t>
            </a:r>
          </a:p>
          <a:p>
            <a:endParaRPr/>
          </a:p>
          <a:p>
            <a:r>
              <a:t>[NEXT SLIDE]</a:t>
            </a:r>
          </a:p>
          <a:p>
            <a:endParaRPr/>
          </a:p>
          <a:p>
            <a:r>
              <a:t>[Sources]</a:t>
            </a:r>
          </a:p>
          <a:p>
            <a:r>
              <a:t>- User-provided screenshots of Lesson Two, Acts 1:1–26; Scripture references shown in the lesson.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rabbit hole asks whether the title apostle should be used today. Acts 1 gives qualifications for joining the Twelve: accompanying Jesus’ ministry and witnessing His Resurrection. The New Testament sometimes uses the word more broadly for people who are sent, but that does not automatically grant the foundational authority of the Twelve. How should those uses be distinguished, and what safeguards should churches apply when someone claims apostolic authority?</a:t>
            </a:r>
          </a:p>
          <a:p>
            <a:endParaRPr/>
          </a:p>
          <a:p>
            <a:r>
              <a:t>[Sources]</a:t>
            </a:r>
          </a:p>
          <a:p>
            <a:r>
              <a:t>- User-provided screenshots of Lesson Two, Acts 1:1–26; Scripture references shown in the lesson.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Peter’s description places eyewitness testimony at the center of the office. The replacement had to know the course of Jesus’ ministry and be able to testify that He had risen. This gave the church a body of witnesses grounded in public events rather than private spiritual claims.</a:t>
            </a:r>
          </a:p>
          <a:p>
            <a:endParaRPr/>
          </a:p>
          <a:p>
            <a:r>
              <a:t>[Sources]</a:t>
            </a:r>
          </a:p>
          <a:p>
            <a:r>
              <a:t>- User-provided screenshots of Lesson Two, Acts 1:1–26; Scripture references shown in the lesson.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Between the Ascension and Pentecost, the believers devoted themselves to prayer. They also prayed before choosing Matthias, asking God to reveal the person He had chosen. What role did prayer play in this waiting community, and how does their example speak to us?</a:t>
            </a:r>
          </a:p>
          <a:p>
            <a:endParaRPr/>
          </a:p>
          <a:p>
            <a:r>
              <a:t>[NEXT SLIDE]</a:t>
            </a:r>
          </a:p>
          <a:p>
            <a:endParaRPr/>
          </a:p>
          <a:p>
            <a:r>
              <a:t>[Sources]</a:t>
            </a:r>
          </a:p>
          <a:p>
            <a:r>
              <a:t>- User-provided screenshots of Lesson Two, Acts 1:1–26; Scripture references shown in the lesson.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believers prayed and then cast lots to choose Matthias. Proverbs reflects the belief that God, not chance, determined the outcome of a lot. Yet Acts 1:26 is the only biblical example of Christians casting lots, and it occurs immediately before the Spirit is poured out at Pentecost. Should this be treated as a model for ordinary Christian decisions, or as a unique moment in salvation history? What forms of discernment recur after Acts 2?</a:t>
            </a:r>
          </a:p>
          <a:p>
            <a:endParaRPr/>
          </a:p>
          <a:p>
            <a:r>
              <a:t>[Sources]</a:t>
            </a:r>
          </a:p>
          <a:p>
            <a:r>
              <a:t>- User-provided screenshots of Lesson Two, Acts 1:1–26; Scripture references shown in the lesson.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Prayer was not a decorative opening to their meetings. It united the believers, expressed dependence, and framed an important decision. Their example encourages us to pray together while waiting, preparing, and discerning—especially when we would prefer God to send a detailed spreadsheet. [Smile]</a:t>
            </a:r>
          </a:p>
          <a:p>
            <a:endParaRPr/>
          </a:p>
          <a:p>
            <a:r>
              <a:t>[Sources]</a:t>
            </a:r>
          </a:p>
          <a:p>
            <a:r>
              <a:t>- User-provided screenshots of Lesson Two, Acts 1:1–26; Scripture references shown in the lesson.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7212B"/>
        </a:solidFill>
        <a:effectLst/>
      </p:bgPr>
    </p:bg>
    <p:spTree>
      <p:nvGrpSpPr>
        <p:cNvPr id="1" name=""/>
        <p:cNvGrpSpPr/>
        <p:nvPr/>
      </p:nvGrpSpPr>
      <p:grpSpPr>
        <a:xfrm>
          <a:off x="0" y="0"/>
          <a:ext cx="0" cy="0"/>
          <a:chOff x="0" y="0"/>
          <a:chExt cx="0" cy="0"/>
        </a:xfrm>
      </p:grpSpPr>
      <p:sp>
        <p:nvSpPr>
          <p:cNvPr id="7" name="welcome-accent">
            <a:extLst>
              <a:ext uri="{FF2B5EF4-FFF2-40B4-BE49-F238E27FC236}">
                <a16:creationId xmlns:a16="http://schemas.microsoft.com/office/drawing/2014/main" id="{C483B4A3-4BCA-4666-8330-36E2CF6640D3}"/>
              </a:ext>
            </a:extLst>
          </p:cNvPr>
          <p:cNvSpPr>
            <a:spLocks noGrp="1"/>
          </p:cNvSpPr>
          <p:nvPr/>
        </p:nvSpPr>
        <p:spPr>
          <a:xfrm>
            <a:off x="0" y="0"/>
            <a:ext cx="171450" cy="6858000"/>
          </a:xfrm>
          <a:prstGeom prst="rect">
            <a:avLst/>
          </a:prstGeom>
          <a:solidFill>
            <a:srgbClr val="236AA3"/>
          </a:solidFill>
          <a:ln w="0">
            <a:noFill/>
            <a:prstDash val="solid"/>
          </a:ln>
        </p:spPr>
        <p:txBody>
          <a:bodyPr/>
          <a:lstStyle/>
          <a:p>
            <a:endParaRPr lang="en-US"/>
          </a:p>
        </p:txBody>
      </p:sp>
      <p:sp>
        <p:nvSpPr>
          <p:cNvPr id="2" name="welcome-kicker">
            <a:extLst>
              <a:ext uri="{FF2B5EF4-FFF2-40B4-BE49-F238E27FC236}">
                <a16:creationId xmlns:a16="http://schemas.microsoft.com/office/drawing/2014/main" id="{763A1737-32BA-4705-9D87-A42BB355CFB8}"/>
              </a:ext>
            </a:extLst>
          </p:cNvPr>
          <p:cNvSpPr>
            <a:spLocks noGrp="1"/>
          </p:cNvSpPr>
          <p:nvPr/>
        </p:nvSpPr>
        <p:spPr>
          <a:xfrm>
            <a:off x="838200" y="1200150"/>
            <a:ext cx="8572500" cy="323850"/>
          </a:xfrm>
          <a:prstGeom prst="rect">
            <a:avLst/>
          </a:prstGeom>
          <a:noFill/>
          <a:ln w="0">
            <a:noFill/>
            <a:prstDash val="solid"/>
          </a:ln>
        </p:spPr>
        <p:txBody>
          <a:bodyPr wrap="square" lIns="57150" tIns="38100" rIns="57150" bIns="38100" anchor="t">
            <a:normAutofit/>
          </a:bodyPr>
          <a:lstStyle/>
          <a:p>
            <a:pPr algn="l">
              <a:defRPr sz="1350" b="1">
                <a:solidFill>
                  <a:srgbClr val="AFC9DD"/>
                </a:solidFill>
                <a:latin typeface="Helvetica Neue"/>
                <a:ea typeface="Helvetica Neue"/>
                <a:cs typeface="Helvetica Neue"/>
              </a:defRPr>
            </a:pPr>
            <a:r>
              <a:rPr sz="1350" b="1">
                <a:solidFill>
                  <a:srgbClr val="AFC9DD"/>
                </a:solidFill>
                <a:latin typeface="Helvetica Neue"/>
                <a:ea typeface="Helvetica Neue"/>
                <a:cs typeface="Helvetica Neue"/>
              </a:rPr>
              <a:t>THE NORTH TEXAS MEN’S STUDY GROUP</a:t>
            </a:r>
          </a:p>
        </p:txBody>
      </p:sp>
      <p:sp>
        <p:nvSpPr>
          <p:cNvPr id="3" name="welcome-title">
            <a:extLst>
              <a:ext uri="{FF2B5EF4-FFF2-40B4-BE49-F238E27FC236}">
                <a16:creationId xmlns:a16="http://schemas.microsoft.com/office/drawing/2014/main" id="{A5F0A299-6FB0-40E2-A5F7-116B3CC40085}"/>
              </a:ext>
            </a:extLst>
          </p:cNvPr>
          <p:cNvSpPr>
            <a:spLocks noGrp="1"/>
          </p:cNvSpPr>
          <p:nvPr/>
        </p:nvSpPr>
        <p:spPr>
          <a:xfrm>
            <a:off x="781050" y="1924050"/>
            <a:ext cx="9620250" cy="1047750"/>
          </a:xfrm>
          <a:prstGeom prst="rect">
            <a:avLst/>
          </a:prstGeom>
          <a:noFill/>
          <a:ln w="0">
            <a:noFill/>
            <a:prstDash val="solid"/>
          </a:ln>
        </p:spPr>
        <p:txBody>
          <a:bodyPr wrap="square" lIns="57150" tIns="38100" rIns="57150" bIns="38100" anchor="t">
            <a:normAutofit/>
          </a:bodyPr>
          <a:lstStyle/>
          <a:p>
            <a:pPr algn="l">
              <a:defRPr sz="4650" b="1">
                <a:solidFill>
                  <a:srgbClr val="FFFFFF"/>
                </a:solidFill>
                <a:latin typeface="Helvetica Neue"/>
                <a:ea typeface="Helvetica Neue"/>
                <a:cs typeface="Helvetica Neue"/>
              </a:defRPr>
            </a:pPr>
            <a:r>
              <a:rPr sz="4650" b="1">
                <a:solidFill>
                  <a:srgbClr val="FFFFFF"/>
                </a:solidFill>
                <a:latin typeface="Helvetica Neue"/>
                <a:ea typeface="Helvetica Neue"/>
                <a:cs typeface="Helvetica Neue"/>
              </a:rPr>
              <a:t>Welcome to TNMSG</a:t>
            </a:r>
          </a:p>
        </p:txBody>
      </p:sp>
      <p:sp>
        <p:nvSpPr>
          <p:cNvPr id="4" name="welcome-lesson">
            <a:extLst>
              <a:ext uri="{FF2B5EF4-FFF2-40B4-BE49-F238E27FC236}">
                <a16:creationId xmlns:a16="http://schemas.microsoft.com/office/drawing/2014/main" id="{A4DBCA27-0770-4192-9B69-9499FD47AB31}"/>
              </a:ext>
            </a:extLst>
          </p:cNvPr>
          <p:cNvSpPr>
            <a:spLocks noGrp="1"/>
          </p:cNvSpPr>
          <p:nvPr/>
        </p:nvSpPr>
        <p:spPr>
          <a:xfrm>
            <a:off x="838200" y="3257550"/>
            <a:ext cx="7810500" cy="514350"/>
          </a:xfrm>
          <a:prstGeom prst="rect">
            <a:avLst/>
          </a:prstGeom>
          <a:noFill/>
          <a:ln w="0">
            <a:noFill/>
            <a:prstDash val="solid"/>
          </a:ln>
        </p:spPr>
        <p:txBody>
          <a:bodyPr wrap="square" lIns="57150" tIns="38100" rIns="57150" bIns="38100" anchor="t">
            <a:normAutofit/>
          </a:bodyPr>
          <a:lstStyle/>
          <a:p>
            <a:pPr algn="l">
              <a:defRPr sz="2250" b="0">
                <a:solidFill>
                  <a:srgbClr val="DDE7EE"/>
                </a:solidFill>
                <a:latin typeface="Helvetica Neue"/>
                <a:ea typeface="Helvetica Neue"/>
                <a:cs typeface="Helvetica Neue"/>
              </a:defRPr>
            </a:pPr>
            <a:r>
              <a:rPr sz="2250" b="0">
                <a:solidFill>
                  <a:srgbClr val="DDE7EE"/>
                </a:solidFill>
                <a:latin typeface="Helvetica Neue"/>
                <a:ea typeface="Helvetica Neue"/>
                <a:cs typeface="Helvetica Neue"/>
              </a:rPr>
              <a:t>Lesson Two  •  Acts 1:1–26</a:t>
            </a:r>
          </a:p>
        </p:txBody>
      </p:sp>
      <p:sp>
        <p:nvSpPr>
          <p:cNvPr id="5" name="welcome-rule">
            <a:extLst>
              <a:ext uri="{FF2B5EF4-FFF2-40B4-BE49-F238E27FC236}">
                <a16:creationId xmlns:a16="http://schemas.microsoft.com/office/drawing/2014/main" id="{9D04F631-AAC4-4078-A814-665A91CF9ACF}"/>
              </a:ext>
            </a:extLst>
          </p:cNvPr>
          <p:cNvSpPr>
            <a:spLocks noGrp="1"/>
          </p:cNvSpPr>
          <p:nvPr/>
        </p:nvSpPr>
        <p:spPr>
          <a:xfrm>
            <a:off x="838200" y="4095750"/>
            <a:ext cx="5429250" cy="38100"/>
          </a:xfrm>
          <a:prstGeom prst="rect">
            <a:avLst/>
          </a:prstGeom>
          <a:solidFill>
            <a:srgbClr val="C99535"/>
          </a:solidFill>
          <a:ln w="0">
            <a:noFill/>
            <a:prstDash val="solid"/>
          </a:ln>
        </p:spPr>
        <p:txBody>
          <a:bodyPr/>
          <a:lstStyle/>
          <a:p>
            <a:endParaRPr lang="en-US"/>
          </a:p>
        </p:txBody>
      </p:sp>
      <p:sp>
        <p:nvSpPr>
          <p:cNvPr id="6" name="welcome-subtitle">
            <a:extLst>
              <a:ext uri="{FF2B5EF4-FFF2-40B4-BE49-F238E27FC236}">
                <a16:creationId xmlns:a16="http://schemas.microsoft.com/office/drawing/2014/main" id="{54E847A3-A484-4A8D-B726-4496D43E1EC5}"/>
              </a:ext>
            </a:extLst>
          </p:cNvPr>
          <p:cNvSpPr>
            <a:spLocks noGrp="1"/>
          </p:cNvSpPr>
          <p:nvPr/>
        </p:nvSpPr>
        <p:spPr>
          <a:xfrm>
            <a:off x="838200" y="4400550"/>
            <a:ext cx="8572500" cy="590550"/>
          </a:xfrm>
          <a:prstGeom prst="rect">
            <a:avLst/>
          </a:prstGeom>
          <a:noFill/>
          <a:ln w="0">
            <a:noFill/>
            <a:prstDash val="solid"/>
          </a:ln>
        </p:spPr>
        <p:txBody>
          <a:bodyPr wrap="square" lIns="57150" tIns="38100" rIns="57150" bIns="38100" anchor="t">
            <a:normAutofit/>
          </a:bodyPr>
          <a:lstStyle/>
          <a:p>
            <a:pPr algn="l">
              <a:defRPr sz="1950" b="0">
                <a:solidFill>
                  <a:srgbClr val="DDE7EE"/>
                </a:solidFill>
                <a:latin typeface="Helvetica Neue"/>
                <a:ea typeface="Helvetica Neue"/>
                <a:cs typeface="Helvetica Neue"/>
              </a:defRPr>
            </a:pPr>
            <a:r>
              <a:rPr sz="1950" b="0">
                <a:solidFill>
                  <a:srgbClr val="DDE7EE"/>
                </a:solidFill>
                <a:latin typeface="Helvetica Neue"/>
                <a:ea typeface="Helvetica Neue"/>
                <a:cs typeface="Helvetica Neue"/>
              </a:rPr>
              <a:t>Commission, witness, prayer, and a twelfth apostle</a:t>
            </a:r>
          </a:p>
        </p:txBody>
      </p:sp>
    </p:spTree>
    <p:extLst>
      <p:ext uri="{BB962C8B-B14F-4D97-AF65-F5344CB8AC3E}">
        <p14:creationId xmlns:p14="http://schemas.microsoft.com/office/powerpoint/2010/main" val="1530992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7" name="eyebrow-2">
            <a:extLst>
              <a:ext uri="{FF2B5EF4-FFF2-40B4-BE49-F238E27FC236}">
                <a16:creationId xmlns:a16="http://schemas.microsoft.com/office/drawing/2014/main" id="{D3427BC3-B807-4D7B-A794-28D7012FAF88}"/>
              </a:ext>
            </a:extLst>
          </p:cNvPr>
          <p:cNvSpPr>
            <a:spLocks noGrp="1"/>
          </p:cNvSpPr>
          <p:nvPr/>
        </p:nvSpPr>
        <p:spPr>
          <a:xfrm>
            <a:off x="552450" y="323850"/>
            <a:ext cx="3238500" cy="285750"/>
          </a:xfrm>
          <a:prstGeom prst="rect">
            <a:avLst/>
          </a:prstGeom>
          <a:noFill/>
          <a:ln w="0">
            <a:noFill/>
            <a:prstDash val="solid"/>
          </a:ln>
        </p:spPr>
        <p:txBody>
          <a:bodyPr wrap="square" lIns="57150" tIns="38100" rIns="57150" bIns="38100" anchor="t">
            <a:normAutofit/>
          </a:bodyPr>
          <a:lstStyle/>
          <a:p>
            <a:pPr algn="l">
              <a:defRPr sz="1125" b="1">
                <a:solidFill>
                  <a:srgbClr val="236AA3"/>
                </a:solidFill>
                <a:latin typeface="Helvetica Neue"/>
                <a:ea typeface="Helvetica Neue"/>
                <a:cs typeface="Helvetica Neue"/>
              </a:defRPr>
            </a:pPr>
            <a:r>
              <a:rPr sz="1125" b="1">
                <a:solidFill>
                  <a:srgbClr val="236AA3"/>
                </a:solidFill>
                <a:latin typeface="Helvetica Neue"/>
                <a:ea typeface="Helvetica Neue"/>
                <a:cs typeface="Helvetica Neue"/>
              </a:rPr>
              <a:t>LESSON OVERVIEW</a:t>
            </a:r>
          </a:p>
        </p:txBody>
      </p:sp>
      <p:sp>
        <p:nvSpPr>
          <p:cNvPr id="2" name="title-2">
            <a:extLst>
              <a:ext uri="{FF2B5EF4-FFF2-40B4-BE49-F238E27FC236}">
                <a16:creationId xmlns:a16="http://schemas.microsoft.com/office/drawing/2014/main" id="{7A49E6E9-5526-4E8C-BCA5-350245FC73DC}"/>
              </a:ext>
            </a:extLst>
          </p:cNvPr>
          <p:cNvSpPr>
            <a:spLocks noGrp="1"/>
          </p:cNvSpPr>
          <p:nvPr/>
        </p:nvSpPr>
        <p:spPr>
          <a:xfrm>
            <a:off x="552450" y="704850"/>
            <a:ext cx="10810875" cy="914400"/>
          </a:xfrm>
          <a:prstGeom prst="rect">
            <a:avLst/>
          </a:prstGeom>
          <a:noFill/>
          <a:ln w="0">
            <a:noFill/>
            <a:prstDash val="solid"/>
          </a:ln>
        </p:spPr>
        <p:txBody>
          <a:bodyPr wrap="square" lIns="57150" tIns="38100" rIns="57150" bIns="38100" anchor="t">
            <a:normAutofit/>
          </a:bodyPr>
          <a:lstStyle/>
          <a:p>
            <a:pPr algn="l">
              <a:defRPr sz="3000" b="1">
                <a:solidFill>
                  <a:srgbClr val="17212B"/>
                </a:solidFill>
                <a:latin typeface="Helvetica Neue"/>
                <a:ea typeface="Helvetica Neue"/>
                <a:cs typeface="Helvetica Neue"/>
              </a:defRPr>
            </a:pPr>
            <a:r>
              <a:rPr sz="3000" b="1">
                <a:solidFill>
                  <a:srgbClr val="17212B"/>
                </a:solidFill>
                <a:latin typeface="Helvetica Neue"/>
                <a:ea typeface="Helvetica Neue"/>
                <a:cs typeface="Helvetica Neue"/>
              </a:rPr>
              <a:t>Acts 1 prepares the church for its mission</a:t>
            </a:r>
          </a:p>
        </p:txBody>
      </p:sp>
      <p:sp>
        <p:nvSpPr>
          <p:cNvPr id="3" name="rule-2">
            <a:extLst>
              <a:ext uri="{FF2B5EF4-FFF2-40B4-BE49-F238E27FC236}">
                <a16:creationId xmlns:a16="http://schemas.microsoft.com/office/drawing/2014/main" id="{3A59A886-3AF8-49EA-9BA8-AB31E756811C}"/>
              </a:ext>
            </a:extLst>
          </p:cNvPr>
          <p:cNvSpPr>
            <a:spLocks noGrp="1"/>
          </p:cNvSpPr>
          <p:nvPr/>
        </p:nvSpPr>
        <p:spPr>
          <a:xfrm>
            <a:off x="552450" y="1657350"/>
            <a:ext cx="10810875" cy="28575"/>
          </a:xfrm>
          <a:prstGeom prst="rect">
            <a:avLst/>
          </a:prstGeom>
          <a:solidFill>
            <a:srgbClr val="236AA3"/>
          </a:solidFill>
          <a:ln w="0">
            <a:noFill/>
            <a:prstDash val="solid"/>
          </a:ln>
        </p:spPr>
        <p:txBody>
          <a:bodyPr/>
          <a:lstStyle/>
          <a:p>
            <a:endParaRPr lang="en-US"/>
          </a:p>
        </p:txBody>
      </p:sp>
      <p:sp>
        <p:nvSpPr>
          <p:cNvPr id="4" name="number-2">
            <a:extLst>
              <a:ext uri="{FF2B5EF4-FFF2-40B4-BE49-F238E27FC236}">
                <a16:creationId xmlns:a16="http://schemas.microsoft.com/office/drawing/2014/main" id="{12B552FE-7159-457D-A631-F68D465DAC77}"/>
              </a:ext>
            </a:extLst>
          </p:cNvPr>
          <p:cNvSpPr>
            <a:spLocks noGrp="1"/>
          </p:cNvSpPr>
          <p:nvPr/>
        </p:nvSpPr>
        <p:spPr>
          <a:xfrm>
            <a:off x="10858500" y="6305550"/>
            <a:ext cx="514350" cy="247650"/>
          </a:xfrm>
          <a:prstGeom prst="rect">
            <a:avLst/>
          </a:prstGeom>
          <a:noFill/>
          <a:ln w="0">
            <a:noFill/>
            <a:prstDash val="solid"/>
          </a:ln>
        </p:spPr>
        <p:txBody>
          <a:bodyPr wrap="square" lIns="57150" tIns="38100" rIns="57150" bIns="38100" anchor="t">
            <a:normAutofit/>
          </a:bodyPr>
          <a:lstStyle/>
          <a:p>
            <a:pPr algn="r">
              <a:defRPr sz="1050" b="0">
                <a:solidFill>
                  <a:srgbClr val="536170"/>
                </a:solidFill>
                <a:latin typeface="Helvetica Neue"/>
                <a:ea typeface="Helvetica Neue"/>
                <a:cs typeface="Helvetica Neue"/>
              </a:defRPr>
            </a:pPr>
            <a:r>
              <a:rPr sz="1050" b="0">
                <a:solidFill>
                  <a:srgbClr val="536170"/>
                </a:solidFill>
                <a:latin typeface="Helvetica Neue"/>
                <a:ea typeface="Helvetica Neue"/>
                <a:cs typeface="Helvetica Neue"/>
              </a:rPr>
              <a:t>02</a:t>
            </a:r>
          </a:p>
        </p:txBody>
      </p:sp>
      <p:sp>
        <p:nvSpPr>
          <p:cNvPr id="5" name="overview-panel-0">
            <a:extLst>
              <a:ext uri="{FF2B5EF4-FFF2-40B4-BE49-F238E27FC236}">
                <a16:creationId xmlns:a16="http://schemas.microsoft.com/office/drawing/2014/main" id="{6CF2919F-D6C4-465E-9FBE-1F5C324FE398}"/>
              </a:ext>
            </a:extLst>
          </p:cNvPr>
          <p:cNvSpPr>
            <a:spLocks noGrp="1"/>
          </p:cNvSpPr>
          <p:nvPr/>
        </p:nvSpPr>
        <p:spPr>
          <a:xfrm>
            <a:off x="552450" y="2095500"/>
            <a:ext cx="5143500" cy="1485900"/>
          </a:xfrm>
          <a:prstGeom prst="roundRect">
            <a:avLst>
              <a:gd name="adj" fmla="val 5128"/>
            </a:avLst>
          </a:prstGeom>
          <a:solidFill>
            <a:srgbClr val="EAF3F9"/>
          </a:solidFill>
          <a:ln w="9525">
            <a:solidFill>
              <a:srgbClr val="B9C7D1"/>
            </a:solidFill>
            <a:prstDash val="solid"/>
          </a:ln>
        </p:spPr>
        <p:txBody>
          <a:bodyPr/>
          <a:lstStyle/>
          <a:p>
            <a:endParaRPr lang="en-US"/>
          </a:p>
        </p:txBody>
      </p:sp>
      <p:sp>
        <p:nvSpPr>
          <p:cNvPr id="6" name="overview-head-0">
            <a:extLst>
              <a:ext uri="{FF2B5EF4-FFF2-40B4-BE49-F238E27FC236}">
                <a16:creationId xmlns:a16="http://schemas.microsoft.com/office/drawing/2014/main" id="{A375384A-4AB1-4BF6-890B-83C45B1B6164}"/>
              </a:ext>
            </a:extLst>
          </p:cNvPr>
          <p:cNvSpPr>
            <a:spLocks noGrp="1"/>
          </p:cNvSpPr>
          <p:nvPr/>
        </p:nvSpPr>
        <p:spPr>
          <a:xfrm>
            <a:off x="762000" y="2266950"/>
            <a:ext cx="4667250" cy="323850"/>
          </a:xfrm>
          <a:prstGeom prst="rect">
            <a:avLst/>
          </a:prstGeom>
          <a:noFill/>
          <a:ln w="0">
            <a:noFill/>
            <a:prstDash val="solid"/>
          </a:ln>
        </p:spPr>
        <p:txBody>
          <a:bodyPr wrap="square" lIns="57150" tIns="38100" rIns="57150" bIns="38100" anchor="t">
            <a:normAutofit fontScale="90278"/>
          </a:bodyPr>
          <a:lstStyle/>
          <a:p>
            <a:pPr algn="l">
              <a:defRPr sz="1800" b="1">
                <a:solidFill>
                  <a:srgbClr val="236AA3"/>
                </a:solidFill>
                <a:latin typeface="Helvetica Neue"/>
                <a:ea typeface="Helvetica Neue"/>
                <a:cs typeface="Helvetica Neue"/>
              </a:defRPr>
            </a:pPr>
            <a:r>
              <a:rPr sz="1800" b="1">
                <a:solidFill>
                  <a:srgbClr val="236AA3"/>
                </a:solidFill>
                <a:latin typeface="Helvetica Neue"/>
                <a:ea typeface="Helvetica Neue"/>
                <a:cs typeface="Helvetica Neue"/>
              </a:rPr>
              <a:t>Commission</a:t>
            </a:r>
          </a:p>
        </p:txBody>
      </p:sp>
      <p:sp>
        <p:nvSpPr>
          <p:cNvPr id="7" name="overview-body-0">
            <a:extLst>
              <a:ext uri="{FF2B5EF4-FFF2-40B4-BE49-F238E27FC236}">
                <a16:creationId xmlns:a16="http://schemas.microsoft.com/office/drawing/2014/main" id="{DB5C4287-03C9-4DBD-925B-7EA215AB692D}"/>
              </a:ext>
            </a:extLst>
          </p:cNvPr>
          <p:cNvSpPr>
            <a:spLocks noGrp="1"/>
          </p:cNvSpPr>
          <p:nvPr/>
        </p:nvSpPr>
        <p:spPr>
          <a:xfrm>
            <a:off x="762000" y="2667000"/>
            <a:ext cx="4667250" cy="723900"/>
          </a:xfrm>
          <a:prstGeom prst="rect">
            <a:avLst/>
          </a:prstGeom>
          <a:noFill/>
          <a:ln w="0">
            <a:noFill/>
            <a:prstDash val="solid"/>
          </a:ln>
        </p:spPr>
        <p:txBody>
          <a:bodyPr wrap="square" lIns="57150" tIns="38100" rIns="57150" bIns="38100" anchor="t">
            <a:normAutofit/>
          </a:bodyPr>
          <a:lstStyle/>
          <a:p>
            <a:pPr algn="l">
              <a:defRPr sz="1575" b="0">
                <a:solidFill>
                  <a:srgbClr val="17212B"/>
                </a:solidFill>
                <a:latin typeface="Helvetica Neue"/>
                <a:ea typeface="Helvetica Neue"/>
                <a:cs typeface="Helvetica Neue"/>
              </a:defRPr>
            </a:pPr>
            <a:r>
              <a:rPr sz="1575" b="0">
                <a:solidFill>
                  <a:srgbClr val="17212B"/>
                </a:solidFill>
                <a:latin typeface="Helvetica Neue"/>
                <a:ea typeface="Helvetica Neue"/>
                <a:cs typeface="Helvetica Neue"/>
              </a:rPr>
              <a:t>Jesus prepares His witnesses and redirects them from speculation to mission.</a:t>
            </a:r>
          </a:p>
        </p:txBody>
      </p:sp>
      <p:sp>
        <p:nvSpPr>
          <p:cNvPr id="8" name="overview-panel-1">
            <a:extLst>
              <a:ext uri="{FF2B5EF4-FFF2-40B4-BE49-F238E27FC236}">
                <a16:creationId xmlns:a16="http://schemas.microsoft.com/office/drawing/2014/main" id="{574F8388-6232-408D-A049-97127E493E6C}"/>
              </a:ext>
            </a:extLst>
          </p:cNvPr>
          <p:cNvSpPr>
            <a:spLocks noGrp="1"/>
          </p:cNvSpPr>
          <p:nvPr/>
        </p:nvSpPr>
        <p:spPr>
          <a:xfrm>
            <a:off x="6191250" y="2095500"/>
            <a:ext cx="5143500" cy="1485900"/>
          </a:xfrm>
          <a:prstGeom prst="roundRect">
            <a:avLst>
              <a:gd name="adj" fmla="val 5128"/>
            </a:avLst>
          </a:prstGeom>
          <a:solidFill>
            <a:srgbClr val="F4F7F9"/>
          </a:solidFill>
          <a:ln w="9525">
            <a:solidFill>
              <a:srgbClr val="B9C7D1"/>
            </a:solidFill>
            <a:prstDash val="solid"/>
          </a:ln>
        </p:spPr>
        <p:txBody>
          <a:bodyPr/>
          <a:lstStyle/>
          <a:p>
            <a:endParaRPr lang="en-US"/>
          </a:p>
        </p:txBody>
      </p:sp>
      <p:sp>
        <p:nvSpPr>
          <p:cNvPr id="9" name="overview-head-1">
            <a:extLst>
              <a:ext uri="{FF2B5EF4-FFF2-40B4-BE49-F238E27FC236}">
                <a16:creationId xmlns:a16="http://schemas.microsoft.com/office/drawing/2014/main" id="{B4693A94-F7AC-4EA8-A21A-5B9CD87D4EB0}"/>
              </a:ext>
            </a:extLst>
          </p:cNvPr>
          <p:cNvSpPr>
            <a:spLocks noGrp="1"/>
          </p:cNvSpPr>
          <p:nvPr/>
        </p:nvSpPr>
        <p:spPr>
          <a:xfrm>
            <a:off x="6400800" y="2266950"/>
            <a:ext cx="4667250" cy="323850"/>
          </a:xfrm>
          <a:prstGeom prst="rect">
            <a:avLst/>
          </a:prstGeom>
          <a:noFill/>
          <a:ln w="0">
            <a:noFill/>
            <a:prstDash val="solid"/>
          </a:ln>
        </p:spPr>
        <p:txBody>
          <a:bodyPr wrap="square" lIns="57150" tIns="38100" rIns="57150" bIns="38100" anchor="t">
            <a:normAutofit fontScale="90278"/>
          </a:bodyPr>
          <a:lstStyle/>
          <a:p>
            <a:pPr algn="l">
              <a:defRPr sz="1800" b="1">
                <a:solidFill>
                  <a:srgbClr val="236AA3"/>
                </a:solidFill>
                <a:latin typeface="Helvetica Neue"/>
                <a:ea typeface="Helvetica Neue"/>
                <a:cs typeface="Helvetica Neue"/>
              </a:defRPr>
            </a:pPr>
            <a:r>
              <a:rPr sz="1800" b="1">
                <a:solidFill>
                  <a:srgbClr val="236AA3"/>
                </a:solidFill>
                <a:latin typeface="Helvetica Neue"/>
                <a:ea typeface="Helvetica Neue"/>
                <a:cs typeface="Helvetica Neue"/>
              </a:rPr>
              <a:t>Ascension</a:t>
            </a:r>
          </a:p>
        </p:txBody>
      </p:sp>
      <p:sp>
        <p:nvSpPr>
          <p:cNvPr id="10" name="overview-body-1">
            <a:extLst>
              <a:ext uri="{FF2B5EF4-FFF2-40B4-BE49-F238E27FC236}">
                <a16:creationId xmlns:a16="http://schemas.microsoft.com/office/drawing/2014/main" id="{BC8E803B-E227-472F-87A0-0B491995D1C4}"/>
              </a:ext>
            </a:extLst>
          </p:cNvPr>
          <p:cNvSpPr>
            <a:spLocks noGrp="1"/>
          </p:cNvSpPr>
          <p:nvPr/>
        </p:nvSpPr>
        <p:spPr>
          <a:xfrm>
            <a:off x="6400800" y="2667000"/>
            <a:ext cx="4667250" cy="723900"/>
          </a:xfrm>
          <a:prstGeom prst="rect">
            <a:avLst/>
          </a:prstGeom>
          <a:noFill/>
          <a:ln w="0">
            <a:noFill/>
            <a:prstDash val="solid"/>
          </a:ln>
        </p:spPr>
        <p:txBody>
          <a:bodyPr wrap="square" lIns="57150" tIns="38100" rIns="57150" bIns="38100" anchor="t">
            <a:normAutofit/>
          </a:bodyPr>
          <a:lstStyle/>
          <a:p>
            <a:pPr algn="l">
              <a:defRPr sz="1575" b="0">
                <a:solidFill>
                  <a:srgbClr val="17212B"/>
                </a:solidFill>
                <a:latin typeface="Helvetica Neue"/>
                <a:ea typeface="Helvetica Neue"/>
                <a:cs typeface="Helvetica Neue"/>
              </a:defRPr>
            </a:pPr>
            <a:r>
              <a:rPr sz="1575" b="0">
                <a:solidFill>
                  <a:srgbClr val="17212B"/>
                </a:solidFill>
                <a:latin typeface="Helvetica Neue"/>
                <a:ea typeface="Helvetica Neue"/>
                <a:cs typeface="Helvetica Neue"/>
              </a:rPr>
              <a:t>His departure does not end His work; the Spirit will empower its continuation.</a:t>
            </a:r>
          </a:p>
        </p:txBody>
      </p:sp>
      <p:sp>
        <p:nvSpPr>
          <p:cNvPr id="11" name="overview-panel-2">
            <a:extLst>
              <a:ext uri="{FF2B5EF4-FFF2-40B4-BE49-F238E27FC236}">
                <a16:creationId xmlns:a16="http://schemas.microsoft.com/office/drawing/2014/main" id="{ECE69AAD-43F0-4C34-8B5F-040AD9C80E47}"/>
              </a:ext>
            </a:extLst>
          </p:cNvPr>
          <p:cNvSpPr>
            <a:spLocks noGrp="1"/>
          </p:cNvSpPr>
          <p:nvPr/>
        </p:nvSpPr>
        <p:spPr>
          <a:xfrm>
            <a:off x="552450" y="4038600"/>
            <a:ext cx="5143500" cy="1485900"/>
          </a:xfrm>
          <a:prstGeom prst="roundRect">
            <a:avLst>
              <a:gd name="adj" fmla="val 5128"/>
            </a:avLst>
          </a:prstGeom>
          <a:solidFill>
            <a:srgbClr val="EAF3F9"/>
          </a:solidFill>
          <a:ln w="9525">
            <a:solidFill>
              <a:srgbClr val="B9C7D1"/>
            </a:solidFill>
            <a:prstDash val="solid"/>
          </a:ln>
        </p:spPr>
        <p:txBody>
          <a:bodyPr/>
          <a:lstStyle/>
          <a:p>
            <a:endParaRPr lang="en-US"/>
          </a:p>
        </p:txBody>
      </p:sp>
      <p:sp>
        <p:nvSpPr>
          <p:cNvPr id="12" name="overview-head-2">
            <a:extLst>
              <a:ext uri="{FF2B5EF4-FFF2-40B4-BE49-F238E27FC236}">
                <a16:creationId xmlns:a16="http://schemas.microsoft.com/office/drawing/2014/main" id="{2A6EB7B2-F347-418F-BBF5-B3278064005D}"/>
              </a:ext>
            </a:extLst>
          </p:cNvPr>
          <p:cNvSpPr>
            <a:spLocks noGrp="1"/>
          </p:cNvSpPr>
          <p:nvPr/>
        </p:nvSpPr>
        <p:spPr>
          <a:xfrm>
            <a:off x="762000" y="4210050"/>
            <a:ext cx="4667250" cy="323850"/>
          </a:xfrm>
          <a:prstGeom prst="rect">
            <a:avLst/>
          </a:prstGeom>
          <a:noFill/>
          <a:ln w="0">
            <a:noFill/>
            <a:prstDash val="solid"/>
          </a:ln>
        </p:spPr>
        <p:txBody>
          <a:bodyPr wrap="square" lIns="57150" tIns="38100" rIns="57150" bIns="38100" anchor="t">
            <a:normAutofit fontScale="90278"/>
          </a:bodyPr>
          <a:lstStyle/>
          <a:p>
            <a:pPr algn="l">
              <a:defRPr sz="1800" b="1">
                <a:solidFill>
                  <a:srgbClr val="236AA3"/>
                </a:solidFill>
                <a:latin typeface="Helvetica Neue"/>
                <a:ea typeface="Helvetica Neue"/>
                <a:cs typeface="Helvetica Neue"/>
              </a:defRPr>
            </a:pPr>
            <a:r>
              <a:rPr sz="1800" b="1">
                <a:solidFill>
                  <a:srgbClr val="236AA3"/>
                </a:solidFill>
                <a:latin typeface="Helvetica Neue"/>
                <a:ea typeface="Helvetica Neue"/>
                <a:cs typeface="Helvetica Neue"/>
              </a:rPr>
              <a:t>Community</a:t>
            </a:r>
          </a:p>
        </p:txBody>
      </p:sp>
      <p:sp>
        <p:nvSpPr>
          <p:cNvPr id="13" name="overview-body-2">
            <a:extLst>
              <a:ext uri="{FF2B5EF4-FFF2-40B4-BE49-F238E27FC236}">
                <a16:creationId xmlns:a16="http://schemas.microsoft.com/office/drawing/2014/main" id="{A36D7E08-7913-466D-9405-50718B407C2F}"/>
              </a:ext>
            </a:extLst>
          </p:cNvPr>
          <p:cNvSpPr>
            <a:spLocks noGrp="1"/>
          </p:cNvSpPr>
          <p:nvPr/>
        </p:nvSpPr>
        <p:spPr>
          <a:xfrm>
            <a:off x="762000" y="4610100"/>
            <a:ext cx="4667250" cy="723900"/>
          </a:xfrm>
          <a:prstGeom prst="rect">
            <a:avLst/>
          </a:prstGeom>
          <a:noFill/>
          <a:ln w="0">
            <a:noFill/>
            <a:prstDash val="solid"/>
          </a:ln>
        </p:spPr>
        <p:txBody>
          <a:bodyPr wrap="square" lIns="57150" tIns="38100" rIns="57150" bIns="38100" anchor="t">
            <a:normAutofit/>
          </a:bodyPr>
          <a:lstStyle/>
          <a:p>
            <a:pPr algn="l">
              <a:defRPr sz="1575" b="0">
                <a:solidFill>
                  <a:srgbClr val="17212B"/>
                </a:solidFill>
                <a:latin typeface="Helvetica Neue"/>
                <a:ea typeface="Helvetica Neue"/>
                <a:cs typeface="Helvetica Neue"/>
              </a:defRPr>
            </a:pPr>
            <a:r>
              <a:rPr sz="1575" b="0">
                <a:solidFill>
                  <a:srgbClr val="17212B"/>
                </a:solidFill>
                <a:latin typeface="Helvetica Neue"/>
                <a:ea typeface="Helvetica Neue"/>
                <a:cs typeface="Helvetica Neue"/>
              </a:rPr>
              <a:t>The believers wait together in prayer, joined by Jesus’ family.</a:t>
            </a:r>
          </a:p>
        </p:txBody>
      </p:sp>
      <p:sp>
        <p:nvSpPr>
          <p:cNvPr id="14" name="overview-panel-3">
            <a:extLst>
              <a:ext uri="{FF2B5EF4-FFF2-40B4-BE49-F238E27FC236}">
                <a16:creationId xmlns:a16="http://schemas.microsoft.com/office/drawing/2014/main" id="{7CA18A14-8041-4D7B-AA9C-2CBC1C3E6E82}"/>
              </a:ext>
            </a:extLst>
          </p:cNvPr>
          <p:cNvSpPr>
            <a:spLocks noGrp="1"/>
          </p:cNvSpPr>
          <p:nvPr/>
        </p:nvSpPr>
        <p:spPr>
          <a:xfrm>
            <a:off x="6191250" y="4038600"/>
            <a:ext cx="5143500" cy="1485900"/>
          </a:xfrm>
          <a:prstGeom prst="roundRect">
            <a:avLst>
              <a:gd name="adj" fmla="val 5128"/>
            </a:avLst>
          </a:prstGeom>
          <a:solidFill>
            <a:srgbClr val="F4F7F9"/>
          </a:solidFill>
          <a:ln w="9525">
            <a:solidFill>
              <a:srgbClr val="B9C7D1"/>
            </a:solidFill>
            <a:prstDash val="solid"/>
          </a:ln>
        </p:spPr>
        <p:txBody>
          <a:bodyPr/>
          <a:lstStyle/>
          <a:p>
            <a:endParaRPr lang="en-US"/>
          </a:p>
        </p:txBody>
      </p:sp>
      <p:sp>
        <p:nvSpPr>
          <p:cNvPr id="15" name="overview-head-3">
            <a:extLst>
              <a:ext uri="{FF2B5EF4-FFF2-40B4-BE49-F238E27FC236}">
                <a16:creationId xmlns:a16="http://schemas.microsoft.com/office/drawing/2014/main" id="{B8546B9F-8DD4-4B6F-B1D1-C3C35ECAB904}"/>
              </a:ext>
            </a:extLst>
          </p:cNvPr>
          <p:cNvSpPr>
            <a:spLocks noGrp="1"/>
          </p:cNvSpPr>
          <p:nvPr/>
        </p:nvSpPr>
        <p:spPr>
          <a:xfrm>
            <a:off x="6400800" y="4210050"/>
            <a:ext cx="4667250" cy="323850"/>
          </a:xfrm>
          <a:prstGeom prst="rect">
            <a:avLst/>
          </a:prstGeom>
          <a:noFill/>
          <a:ln w="0">
            <a:noFill/>
            <a:prstDash val="solid"/>
          </a:ln>
        </p:spPr>
        <p:txBody>
          <a:bodyPr wrap="square" lIns="57150" tIns="38100" rIns="57150" bIns="38100" anchor="t">
            <a:normAutofit fontScale="90278"/>
          </a:bodyPr>
          <a:lstStyle/>
          <a:p>
            <a:pPr algn="l">
              <a:defRPr sz="1800" b="1">
                <a:solidFill>
                  <a:srgbClr val="236AA3"/>
                </a:solidFill>
                <a:latin typeface="Helvetica Neue"/>
                <a:ea typeface="Helvetica Neue"/>
                <a:cs typeface="Helvetica Neue"/>
              </a:defRPr>
            </a:pPr>
            <a:r>
              <a:rPr sz="1800" b="1">
                <a:solidFill>
                  <a:srgbClr val="236AA3"/>
                </a:solidFill>
                <a:latin typeface="Helvetica Neue"/>
                <a:ea typeface="Helvetica Neue"/>
                <a:cs typeface="Helvetica Neue"/>
              </a:rPr>
              <a:t>Continuity</a:t>
            </a:r>
          </a:p>
        </p:txBody>
      </p:sp>
      <p:sp>
        <p:nvSpPr>
          <p:cNvPr id="16" name="overview-body-3">
            <a:extLst>
              <a:ext uri="{FF2B5EF4-FFF2-40B4-BE49-F238E27FC236}">
                <a16:creationId xmlns:a16="http://schemas.microsoft.com/office/drawing/2014/main" id="{12F53818-8E28-4C24-8707-C12585A3C99A}"/>
              </a:ext>
            </a:extLst>
          </p:cNvPr>
          <p:cNvSpPr>
            <a:spLocks noGrp="1"/>
          </p:cNvSpPr>
          <p:nvPr/>
        </p:nvSpPr>
        <p:spPr>
          <a:xfrm>
            <a:off x="6400800" y="4610100"/>
            <a:ext cx="4667250" cy="723900"/>
          </a:xfrm>
          <a:prstGeom prst="rect">
            <a:avLst/>
          </a:prstGeom>
          <a:noFill/>
          <a:ln w="0">
            <a:noFill/>
            <a:prstDash val="solid"/>
          </a:ln>
        </p:spPr>
        <p:txBody>
          <a:bodyPr wrap="square" lIns="57150" tIns="38100" rIns="57150" bIns="38100" anchor="t">
            <a:normAutofit/>
          </a:bodyPr>
          <a:lstStyle/>
          <a:p>
            <a:pPr algn="l">
              <a:defRPr sz="1575" b="0">
                <a:solidFill>
                  <a:srgbClr val="17212B"/>
                </a:solidFill>
                <a:latin typeface="Helvetica Neue"/>
                <a:ea typeface="Helvetica Neue"/>
                <a:cs typeface="Helvetica Neue"/>
              </a:defRPr>
            </a:pPr>
            <a:r>
              <a:rPr sz="1575" b="0">
                <a:solidFill>
                  <a:srgbClr val="17212B"/>
                </a:solidFill>
                <a:latin typeface="Helvetica Neue"/>
                <a:ea typeface="Helvetica Neue"/>
                <a:cs typeface="Helvetica Neue"/>
              </a:rPr>
              <a:t>Matthias is chosen to restore the Twelve as witnesses to the Resurrection.</a:t>
            </a:r>
          </a:p>
        </p:txBody>
      </p:sp>
    </p:spTree>
    <p:extLst>
      <p:ext uri="{BB962C8B-B14F-4D97-AF65-F5344CB8AC3E}">
        <p14:creationId xmlns:p14="http://schemas.microsoft.com/office/powerpoint/2010/main" val="15411178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eyebrow-3">
            <a:extLst>
              <a:ext uri="{FF2B5EF4-FFF2-40B4-BE49-F238E27FC236}">
                <a16:creationId xmlns:a16="http://schemas.microsoft.com/office/drawing/2014/main" id="{44A88E66-4D80-4067-95DB-C015DFB1D7CB}"/>
              </a:ext>
            </a:extLst>
          </p:cNvPr>
          <p:cNvSpPr>
            <a:spLocks noGrp="1"/>
          </p:cNvSpPr>
          <p:nvPr/>
        </p:nvSpPr>
        <p:spPr>
          <a:xfrm>
            <a:off x="552450" y="323850"/>
            <a:ext cx="3238500" cy="285750"/>
          </a:xfrm>
          <a:prstGeom prst="rect">
            <a:avLst/>
          </a:prstGeom>
          <a:noFill/>
          <a:ln w="0">
            <a:noFill/>
            <a:prstDash val="solid"/>
          </a:ln>
        </p:spPr>
        <p:txBody>
          <a:bodyPr wrap="square" lIns="57150" tIns="38100" rIns="57150" bIns="38100" anchor="t">
            <a:normAutofit/>
          </a:bodyPr>
          <a:lstStyle/>
          <a:p>
            <a:pPr algn="l">
              <a:defRPr sz="1125" b="1">
                <a:solidFill>
                  <a:srgbClr val="236AA3"/>
                </a:solidFill>
                <a:latin typeface="Helvetica Neue"/>
                <a:ea typeface="Helvetica Neue"/>
                <a:cs typeface="Helvetica Neue"/>
              </a:defRPr>
            </a:pPr>
            <a:r>
              <a:rPr sz="1125" b="1">
                <a:solidFill>
                  <a:srgbClr val="236AA3"/>
                </a:solidFill>
                <a:latin typeface="Helvetica Neue"/>
                <a:ea typeface="Helvetica Neue"/>
                <a:cs typeface="Helvetica Neue"/>
              </a:rPr>
              <a:t>EDITABLE REFERENCE</a:t>
            </a:r>
          </a:p>
        </p:txBody>
      </p:sp>
      <p:sp>
        <p:nvSpPr>
          <p:cNvPr id="2" name="title-3">
            <a:extLst>
              <a:ext uri="{FF2B5EF4-FFF2-40B4-BE49-F238E27FC236}">
                <a16:creationId xmlns:a16="http://schemas.microsoft.com/office/drawing/2014/main" id="{ECC1CFBB-1EE7-4513-A256-EF6E7A3492A3}"/>
              </a:ext>
            </a:extLst>
          </p:cNvPr>
          <p:cNvSpPr>
            <a:spLocks noGrp="1"/>
          </p:cNvSpPr>
          <p:nvPr/>
        </p:nvSpPr>
        <p:spPr>
          <a:xfrm>
            <a:off x="552450" y="704850"/>
            <a:ext cx="10810875" cy="914400"/>
          </a:xfrm>
          <a:prstGeom prst="rect">
            <a:avLst/>
          </a:prstGeom>
          <a:noFill/>
          <a:ln w="0">
            <a:noFill/>
            <a:prstDash val="solid"/>
          </a:ln>
        </p:spPr>
        <p:txBody>
          <a:bodyPr wrap="square" lIns="57150" tIns="38100" rIns="57150" bIns="38100" anchor="t">
            <a:normAutofit/>
          </a:bodyPr>
          <a:lstStyle/>
          <a:p>
            <a:pPr algn="l">
              <a:defRPr sz="3000" b="1">
                <a:solidFill>
                  <a:srgbClr val="17212B"/>
                </a:solidFill>
                <a:latin typeface="Helvetica Neue"/>
                <a:ea typeface="Helvetica Neue"/>
                <a:cs typeface="Helvetica Neue"/>
              </a:defRPr>
            </a:pPr>
            <a:r>
              <a:rPr sz="3000" b="1">
                <a:solidFill>
                  <a:srgbClr val="17212B"/>
                </a:solidFill>
                <a:latin typeface="Helvetica Neue"/>
                <a:ea typeface="Helvetica Neue"/>
                <a:cs typeface="Helvetica Neue"/>
              </a:rPr>
              <a:t>Themes to watch throughout Acts</a:t>
            </a:r>
          </a:p>
        </p:txBody>
      </p:sp>
      <p:sp>
        <p:nvSpPr>
          <p:cNvPr id="3" name="rule-3">
            <a:extLst>
              <a:ext uri="{FF2B5EF4-FFF2-40B4-BE49-F238E27FC236}">
                <a16:creationId xmlns:a16="http://schemas.microsoft.com/office/drawing/2014/main" id="{FCFB2724-84B2-434F-8B5F-124DAA5C62B3}"/>
              </a:ext>
            </a:extLst>
          </p:cNvPr>
          <p:cNvSpPr>
            <a:spLocks noGrp="1"/>
          </p:cNvSpPr>
          <p:nvPr/>
        </p:nvSpPr>
        <p:spPr>
          <a:xfrm>
            <a:off x="552450" y="1657350"/>
            <a:ext cx="10810875" cy="28575"/>
          </a:xfrm>
          <a:prstGeom prst="rect">
            <a:avLst/>
          </a:prstGeom>
          <a:solidFill>
            <a:srgbClr val="236AA3"/>
          </a:solidFill>
          <a:ln w="0">
            <a:noFill/>
            <a:prstDash val="solid"/>
          </a:ln>
        </p:spPr>
        <p:txBody>
          <a:bodyPr/>
          <a:lstStyle/>
          <a:p>
            <a:endParaRPr lang="en-US"/>
          </a:p>
        </p:txBody>
      </p:sp>
      <p:sp>
        <p:nvSpPr>
          <p:cNvPr id="4" name="number-3">
            <a:extLst>
              <a:ext uri="{FF2B5EF4-FFF2-40B4-BE49-F238E27FC236}">
                <a16:creationId xmlns:a16="http://schemas.microsoft.com/office/drawing/2014/main" id="{ACE2E2CF-CBEE-4795-A4A6-6ED58DFDB48D}"/>
              </a:ext>
            </a:extLst>
          </p:cNvPr>
          <p:cNvSpPr>
            <a:spLocks noGrp="1"/>
          </p:cNvSpPr>
          <p:nvPr/>
        </p:nvSpPr>
        <p:spPr>
          <a:xfrm>
            <a:off x="10858500" y="6305550"/>
            <a:ext cx="514350" cy="247650"/>
          </a:xfrm>
          <a:prstGeom prst="rect">
            <a:avLst/>
          </a:prstGeom>
          <a:noFill/>
          <a:ln w="0">
            <a:noFill/>
            <a:prstDash val="solid"/>
          </a:ln>
        </p:spPr>
        <p:txBody>
          <a:bodyPr wrap="square" lIns="57150" tIns="38100" rIns="57150" bIns="38100" anchor="t">
            <a:normAutofit/>
          </a:bodyPr>
          <a:lstStyle/>
          <a:p>
            <a:pPr algn="r">
              <a:defRPr sz="1050" b="0">
                <a:solidFill>
                  <a:srgbClr val="536170"/>
                </a:solidFill>
                <a:latin typeface="Helvetica Neue"/>
                <a:ea typeface="Helvetica Neue"/>
                <a:cs typeface="Helvetica Neue"/>
              </a:defRPr>
            </a:pPr>
            <a:r>
              <a:rPr sz="1050" b="0">
                <a:solidFill>
                  <a:srgbClr val="536170"/>
                </a:solidFill>
                <a:latin typeface="Helvetica Neue"/>
                <a:ea typeface="Helvetica Neue"/>
                <a:cs typeface="Helvetica Neue"/>
              </a:rPr>
              <a:t>03</a:t>
            </a:r>
          </a:p>
        </p:txBody>
      </p:sp>
      <p:sp>
        <p:nvSpPr>
          <p:cNvPr id="5" name="theme-panel-0">
            <a:extLst>
              <a:ext uri="{FF2B5EF4-FFF2-40B4-BE49-F238E27FC236}">
                <a16:creationId xmlns:a16="http://schemas.microsoft.com/office/drawing/2014/main" id="{48A12BAE-0F6B-4C68-82F1-DC6E249A70C0}"/>
              </a:ext>
            </a:extLst>
          </p:cNvPr>
          <p:cNvSpPr>
            <a:spLocks noGrp="1"/>
          </p:cNvSpPr>
          <p:nvPr/>
        </p:nvSpPr>
        <p:spPr>
          <a:xfrm>
            <a:off x="552450" y="2038350"/>
            <a:ext cx="5143500" cy="990600"/>
          </a:xfrm>
          <a:prstGeom prst="roundRect">
            <a:avLst>
              <a:gd name="adj" fmla="val 7692"/>
            </a:avLst>
          </a:prstGeom>
          <a:solidFill>
            <a:srgbClr val="F4F7F9"/>
          </a:solidFill>
          <a:ln w="9525">
            <a:solidFill>
              <a:srgbClr val="B9C7D1"/>
            </a:solidFill>
            <a:prstDash val="solid"/>
          </a:ln>
        </p:spPr>
        <p:txBody>
          <a:bodyPr/>
          <a:lstStyle/>
          <a:p>
            <a:endParaRPr lang="en-US"/>
          </a:p>
        </p:txBody>
      </p:sp>
      <p:sp>
        <p:nvSpPr>
          <p:cNvPr id="6" name="theme-number-0">
            <a:extLst>
              <a:ext uri="{FF2B5EF4-FFF2-40B4-BE49-F238E27FC236}">
                <a16:creationId xmlns:a16="http://schemas.microsoft.com/office/drawing/2014/main" id="{E498A2CB-A80D-4F16-AAC8-9C341D3F764E}"/>
              </a:ext>
            </a:extLst>
          </p:cNvPr>
          <p:cNvSpPr>
            <a:spLocks noGrp="1"/>
          </p:cNvSpPr>
          <p:nvPr/>
        </p:nvSpPr>
        <p:spPr>
          <a:xfrm>
            <a:off x="723900" y="2190750"/>
            <a:ext cx="323850" cy="304800"/>
          </a:xfrm>
          <a:prstGeom prst="rect">
            <a:avLst/>
          </a:prstGeom>
          <a:noFill/>
          <a:ln w="0">
            <a:noFill/>
            <a:prstDash val="solid"/>
          </a:ln>
        </p:spPr>
        <p:txBody>
          <a:bodyPr wrap="square" lIns="57150" tIns="38100" rIns="57150" bIns="38100" anchor="t">
            <a:normAutofit/>
          </a:bodyPr>
          <a:lstStyle/>
          <a:p>
            <a:pPr algn="ctr">
              <a:defRPr sz="1425" b="1">
                <a:solidFill>
                  <a:srgbClr val="236AA3"/>
                </a:solidFill>
                <a:latin typeface="Helvetica Neue"/>
                <a:ea typeface="Helvetica Neue"/>
                <a:cs typeface="Helvetica Neue"/>
              </a:defRPr>
            </a:pPr>
            <a:r>
              <a:rPr sz="1425" b="1">
                <a:solidFill>
                  <a:srgbClr val="236AA3"/>
                </a:solidFill>
                <a:latin typeface="Helvetica Neue"/>
                <a:ea typeface="Helvetica Neue"/>
                <a:cs typeface="Helvetica Neue"/>
              </a:rPr>
              <a:t>1</a:t>
            </a:r>
          </a:p>
        </p:txBody>
      </p:sp>
      <p:sp>
        <p:nvSpPr>
          <p:cNvPr id="7" name="theme-text-0">
            <a:extLst>
              <a:ext uri="{FF2B5EF4-FFF2-40B4-BE49-F238E27FC236}">
                <a16:creationId xmlns:a16="http://schemas.microsoft.com/office/drawing/2014/main" id="{1F953540-F3B8-4747-B284-86C99657C7B2}"/>
              </a:ext>
            </a:extLst>
          </p:cNvPr>
          <p:cNvSpPr>
            <a:spLocks noGrp="1"/>
          </p:cNvSpPr>
          <p:nvPr/>
        </p:nvSpPr>
        <p:spPr>
          <a:xfrm>
            <a:off x="1123950" y="2171700"/>
            <a:ext cx="4362450" cy="723900"/>
          </a:xfrm>
          <a:prstGeom prst="rect">
            <a:avLst/>
          </a:prstGeom>
          <a:noFill/>
          <a:ln w="0">
            <a:noFill/>
            <a:prstDash val="solid"/>
          </a:ln>
        </p:spPr>
        <p:txBody>
          <a:bodyPr wrap="square" lIns="57150" tIns="38100" rIns="57150" bIns="38100" anchor="t">
            <a:normAutofit/>
          </a:bodyPr>
          <a:lstStyle/>
          <a:p>
            <a:pPr algn="l">
              <a:defRPr sz="1575" b="0">
                <a:solidFill>
                  <a:srgbClr val="17212B"/>
                </a:solidFill>
                <a:latin typeface="Helvetica Neue"/>
                <a:ea typeface="Helvetica Neue"/>
                <a:cs typeface="Helvetica Neue"/>
              </a:defRPr>
            </a:pPr>
            <a:r>
              <a:rPr sz="1575" b="0">
                <a:solidFill>
                  <a:srgbClr val="17212B"/>
                </a:solidFill>
                <a:latin typeface="Helvetica Neue"/>
                <a:ea typeface="Helvetica Neue"/>
                <a:cs typeface="Helvetica Neue"/>
              </a:rPr>
              <a:t>What is the church’s mission?</a:t>
            </a:r>
          </a:p>
        </p:txBody>
      </p:sp>
      <p:sp>
        <p:nvSpPr>
          <p:cNvPr id="8" name="theme-panel-1">
            <a:extLst>
              <a:ext uri="{FF2B5EF4-FFF2-40B4-BE49-F238E27FC236}">
                <a16:creationId xmlns:a16="http://schemas.microsoft.com/office/drawing/2014/main" id="{4BD8564E-7AF4-4DA3-A21D-DB16C719411E}"/>
              </a:ext>
            </a:extLst>
          </p:cNvPr>
          <p:cNvSpPr>
            <a:spLocks noGrp="1"/>
          </p:cNvSpPr>
          <p:nvPr/>
        </p:nvSpPr>
        <p:spPr>
          <a:xfrm>
            <a:off x="6210300" y="2038350"/>
            <a:ext cx="5143500" cy="990600"/>
          </a:xfrm>
          <a:prstGeom prst="roundRect">
            <a:avLst>
              <a:gd name="adj" fmla="val 7692"/>
            </a:avLst>
          </a:prstGeom>
          <a:solidFill>
            <a:srgbClr val="F4F7F9"/>
          </a:solidFill>
          <a:ln w="9525">
            <a:solidFill>
              <a:srgbClr val="B9C7D1"/>
            </a:solidFill>
            <a:prstDash val="solid"/>
          </a:ln>
        </p:spPr>
        <p:txBody>
          <a:bodyPr/>
          <a:lstStyle/>
          <a:p>
            <a:endParaRPr lang="en-US"/>
          </a:p>
        </p:txBody>
      </p:sp>
      <p:sp>
        <p:nvSpPr>
          <p:cNvPr id="9" name="theme-number-1">
            <a:extLst>
              <a:ext uri="{FF2B5EF4-FFF2-40B4-BE49-F238E27FC236}">
                <a16:creationId xmlns:a16="http://schemas.microsoft.com/office/drawing/2014/main" id="{9B16499C-4E36-4586-8753-DB93AE2234B5}"/>
              </a:ext>
            </a:extLst>
          </p:cNvPr>
          <p:cNvSpPr>
            <a:spLocks noGrp="1"/>
          </p:cNvSpPr>
          <p:nvPr/>
        </p:nvSpPr>
        <p:spPr>
          <a:xfrm>
            <a:off x="6381750" y="2190750"/>
            <a:ext cx="323850" cy="304800"/>
          </a:xfrm>
          <a:prstGeom prst="rect">
            <a:avLst/>
          </a:prstGeom>
          <a:noFill/>
          <a:ln w="0">
            <a:noFill/>
            <a:prstDash val="solid"/>
          </a:ln>
        </p:spPr>
        <p:txBody>
          <a:bodyPr wrap="square" lIns="57150" tIns="38100" rIns="57150" bIns="38100" anchor="t">
            <a:normAutofit/>
          </a:bodyPr>
          <a:lstStyle/>
          <a:p>
            <a:pPr algn="ctr">
              <a:defRPr sz="1425" b="1">
                <a:solidFill>
                  <a:srgbClr val="236AA3"/>
                </a:solidFill>
                <a:latin typeface="Helvetica Neue"/>
                <a:ea typeface="Helvetica Neue"/>
                <a:cs typeface="Helvetica Neue"/>
              </a:defRPr>
            </a:pPr>
            <a:r>
              <a:rPr sz="1425" b="1">
                <a:solidFill>
                  <a:srgbClr val="236AA3"/>
                </a:solidFill>
                <a:latin typeface="Helvetica Neue"/>
                <a:ea typeface="Helvetica Neue"/>
                <a:cs typeface="Helvetica Neue"/>
              </a:rPr>
              <a:t>2</a:t>
            </a:r>
          </a:p>
        </p:txBody>
      </p:sp>
      <p:sp>
        <p:nvSpPr>
          <p:cNvPr id="10" name="theme-text-1">
            <a:extLst>
              <a:ext uri="{FF2B5EF4-FFF2-40B4-BE49-F238E27FC236}">
                <a16:creationId xmlns:a16="http://schemas.microsoft.com/office/drawing/2014/main" id="{6687F1F5-A054-43E9-A35E-23B58E6C2335}"/>
              </a:ext>
            </a:extLst>
          </p:cNvPr>
          <p:cNvSpPr>
            <a:spLocks noGrp="1"/>
          </p:cNvSpPr>
          <p:nvPr/>
        </p:nvSpPr>
        <p:spPr>
          <a:xfrm>
            <a:off x="6781800" y="2171700"/>
            <a:ext cx="4362450" cy="723900"/>
          </a:xfrm>
          <a:prstGeom prst="rect">
            <a:avLst/>
          </a:prstGeom>
          <a:noFill/>
          <a:ln w="0">
            <a:noFill/>
            <a:prstDash val="solid"/>
          </a:ln>
        </p:spPr>
        <p:txBody>
          <a:bodyPr wrap="square" lIns="57150" tIns="38100" rIns="57150" bIns="38100" anchor="t">
            <a:normAutofit/>
          </a:bodyPr>
          <a:lstStyle/>
          <a:p>
            <a:pPr algn="l">
              <a:defRPr sz="1575" b="0">
                <a:solidFill>
                  <a:srgbClr val="17212B"/>
                </a:solidFill>
                <a:latin typeface="Helvetica Neue"/>
                <a:ea typeface="Helvetica Neue"/>
                <a:cs typeface="Helvetica Neue"/>
              </a:defRPr>
            </a:pPr>
            <a:r>
              <a:rPr sz="1575" b="0">
                <a:solidFill>
                  <a:srgbClr val="17212B"/>
                </a:solidFill>
                <a:latin typeface="Helvetica Neue"/>
                <a:ea typeface="Helvetica Neue"/>
                <a:cs typeface="Helvetica Neue"/>
              </a:rPr>
              <a:t>What is the church’s message?</a:t>
            </a:r>
          </a:p>
        </p:txBody>
      </p:sp>
      <p:sp>
        <p:nvSpPr>
          <p:cNvPr id="11" name="theme-panel-2">
            <a:extLst>
              <a:ext uri="{FF2B5EF4-FFF2-40B4-BE49-F238E27FC236}">
                <a16:creationId xmlns:a16="http://schemas.microsoft.com/office/drawing/2014/main" id="{B175B6A0-3A99-484A-8631-A42D67ECEAFE}"/>
              </a:ext>
            </a:extLst>
          </p:cNvPr>
          <p:cNvSpPr>
            <a:spLocks noGrp="1"/>
          </p:cNvSpPr>
          <p:nvPr/>
        </p:nvSpPr>
        <p:spPr>
          <a:xfrm>
            <a:off x="552450" y="3295650"/>
            <a:ext cx="5143500" cy="990600"/>
          </a:xfrm>
          <a:prstGeom prst="roundRect">
            <a:avLst>
              <a:gd name="adj" fmla="val 7692"/>
            </a:avLst>
          </a:prstGeom>
          <a:solidFill>
            <a:srgbClr val="EAF3F9"/>
          </a:solidFill>
          <a:ln w="9525">
            <a:solidFill>
              <a:srgbClr val="B9C7D1"/>
            </a:solidFill>
            <a:prstDash val="solid"/>
          </a:ln>
        </p:spPr>
        <p:txBody>
          <a:bodyPr/>
          <a:lstStyle/>
          <a:p>
            <a:endParaRPr lang="en-US"/>
          </a:p>
        </p:txBody>
      </p:sp>
      <p:sp>
        <p:nvSpPr>
          <p:cNvPr id="12" name="theme-number-2">
            <a:extLst>
              <a:ext uri="{FF2B5EF4-FFF2-40B4-BE49-F238E27FC236}">
                <a16:creationId xmlns:a16="http://schemas.microsoft.com/office/drawing/2014/main" id="{8D30DFDB-3455-4A6E-8A8B-08CD252F900D}"/>
              </a:ext>
            </a:extLst>
          </p:cNvPr>
          <p:cNvSpPr>
            <a:spLocks noGrp="1"/>
          </p:cNvSpPr>
          <p:nvPr/>
        </p:nvSpPr>
        <p:spPr>
          <a:xfrm>
            <a:off x="723900" y="3448050"/>
            <a:ext cx="323850" cy="304800"/>
          </a:xfrm>
          <a:prstGeom prst="rect">
            <a:avLst/>
          </a:prstGeom>
          <a:noFill/>
          <a:ln w="0">
            <a:noFill/>
            <a:prstDash val="solid"/>
          </a:ln>
        </p:spPr>
        <p:txBody>
          <a:bodyPr wrap="square" lIns="57150" tIns="38100" rIns="57150" bIns="38100" anchor="t">
            <a:normAutofit/>
          </a:bodyPr>
          <a:lstStyle/>
          <a:p>
            <a:pPr algn="ctr">
              <a:defRPr sz="1425" b="1">
                <a:solidFill>
                  <a:srgbClr val="236AA3"/>
                </a:solidFill>
                <a:latin typeface="Helvetica Neue"/>
                <a:ea typeface="Helvetica Neue"/>
                <a:cs typeface="Helvetica Neue"/>
              </a:defRPr>
            </a:pPr>
            <a:r>
              <a:rPr sz="1425" b="1">
                <a:solidFill>
                  <a:srgbClr val="236AA3"/>
                </a:solidFill>
                <a:latin typeface="Helvetica Neue"/>
                <a:ea typeface="Helvetica Neue"/>
                <a:cs typeface="Helvetica Neue"/>
              </a:rPr>
              <a:t>3</a:t>
            </a:r>
          </a:p>
        </p:txBody>
      </p:sp>
      <p:sp>
        <p:nvSpPr>
          <p:cNvPr id="13" name="theme-text-2">
            <a:extLst>
              <a:ext uri="{FF2B5EF4-FFF2-40B4-BE49-F238E27FC236}">
                <a16:creationId xmlns:a16="http://schemas.microsoft.com/office/drawing/2014/main" id="{48D92C16-519C-4435-8DC0-B93E883DB0AA}"/>
              </a:ext>
            </a:extLst>
          </p:cNvPr>
          <p:cNvSpPr>
            <a:spLocks noGrp="1"/>
          </p:cNvSpPr>
          <p:nvPr/>
        </p:nvSpPr>
        <p:spPr>
          <a:xfrm>
            <a:off x="1123950" y="3429000"/>
            <a:ext cx="4362450" cy="723900"/>
          </a:xfrm>
          <a:prstGeom prst="rect">
            <a:avLst/>
          </a:prstGeom>
          <a:noFill/>
          <a:ln w="0">
            <a:noFill/>
            <a:prstDash val="solid"/>
          </a:ln>
        </p:spPr>
        <p:txBody>
          <a:bodyPr wrap="square" lIns="57150" tIns="38100" rIns="57150" bIns="38100" anchor="t">
            <a:normAutofit/>
          </a:bodyPr>
          <a:lstStyle/>
          <a:p>
            <a:pPr algn="l">
              <a:defRPr sz="1575" b="1">
                <a:solidFill>
                  <a:srgbClr val="17212B"/>
                </a:solidFill>
                <a:latin typeface="Helvetica Neue"/>
                <a:ea typeface="Helvetica Neue"/>
                <a:cs typeface="Helvetica Neue"/>
              </a:defRPr>
            </a:pPr>
            <a:r>
              <a:rPr sz="1575" b="1">
                <a:solidFill>
                  <a:srgbClr val="17212B"/>
                </a:solidFill>
                <a:latin typeface="Helvetica Neue"/>
                <a:ea typeface="Helvetica Neue"/>
                <a:cs typeface="Helvetica Neue"/>
              </a:rPr>
              <a:t>What is the Holy Spirit’s role in the church and the world?</a:t>
            </a:r>
          </a:p>
        </p:txBody>
      </p:sp>
      <p:sp>
        <p:nvSpPr>
          <p:cNvPr id="14" name="theme-panel-3">
            <a:extLst>
              <a:ext uri="{FF2B5EF4-FFF2-40B4-BE49-F238E27FC236}">
                <a16:creationId xmlns:a16="http://schemas.microsoft.com/office/drawing/2014/main" id="{280D7B31-E0DB-426B-AE42-5AC870BAE052}"/>
              </a:ext>
            </a:extLst>
          </p:cNvPr>
          <p:cNvSpPr>
            <a:spLocks noGrp="1"/>
          </p:cNvSpPr>
          <p:nvPr/>
        </p:nvSpPr>
        <p:spPr>
          <a:xfrm>
            <a:off x="6210300" y="3295650"/>
            <a:ext cx="5143500" cy="990600"/>
          </a:xfrm>
          <a:prstGeom prst="roundRect">
            <a:avLst>
              <a:gd name="adj" fmla="val 7692"/>
            </a:avLst>
          </a:prstGeom>
          <a:solidFill>
            <a:srgbClr val="F4F7F9"/>
          </a:solidFill>
          <a:ln w="9525">
            <a:solidFill>
              <a:srgbClr val="B9C7D1"/>
            </a:solidFill>
            <a:prstDash val="solid"/>
          </a:ln>
        </p:spPr>
        <p:txBody>
          <a:bodyPr/>
          <a:lstStyle/>
          <a:p>
            <a:endParaRPr lang="en-US"/>
          </a:p>
        </p:txBody>
      </p:sp>
      <p:sp>
        <p:nvSpPr>
          <p:cNvPr id="15" name="theme-number-3">
            <a:extLst>
              <a:ext uri="{FF2B5EF4-FFF2-40B4-BE49-F238E27FC236}">
                <a16:creationId xmlns:a16="http://schemas.microsoft.com/office/drawing/2014/main" id="{B12F9CCB-1F27-4147-B212-D082273E0879}"/>
              </a:ext>
            </a:extLst>
          </p:cNvPr>
          <p:cNvSpPr>
            <a:spLocks noGrp="1"/>
          </p:cNvSpPr>
          <p:nvPr/>
        </p:nvSpPr>
        <p:spPr>
          <a:xfrm>
            <a:off x="6381750" y="3448050"/>
            <a:ext cx="323850" cy="304800"/>
          </a:xfrm>
          <a:prstGeom prst="rect">
            <a:avLst/>
          </a:prstGeom>
          <a:noFill/>
          <a:ln w="0">
            <a:noFill/>
            <a:prstDash val="solid"/>
          </a:ln>
        </p:spPr>
        <p:txBody>
          <a:bodyPr wrap="square" lIns="57150" tIns="38100" rIns="57150" bIns="38100" anchor="t">
            <a:normAutofit/>
          </a:bodyPr>
          <a:lstStyle/>
          <a:p>
            <a:pPr algn="ctr">
              <a:defRPr sz="1425" b="1">
                <a:solidFill>
                  <a:srgbClr val="236AA3"/>
                </a:solidFill>
                <a:latin typeface="Helvetica Neue"/>
                <a:ea typeface="Helvetica Neue"/>
                <a:cs typeface="Helvetica Neue"/>
              </a:defRPr>
            </a:pPr>
            <a:r>
              <a:rPr sz="1425" b="1">
                <a:solidFill>
                  <a:srgbClr val="236AA3"/>
                </a:solidFill>
                <a:latin typeface="Helvetica Neue"/>
                <a:ea typeface="Helvetica Neue"/>
                <a:cs typeface="Helvetica Neue"/>
              </a:rPr>
              <a:t>4</a:t>
            </a:r>
          </a:p>
        </p:txBody>
      </p:sp>
      <p:sp>
        <p:nvSpPr>
          <p:cNvPr id="16" name="theme-text-3">
            <a:extLst>
              <a:ext uri="{FF2B5EF4-FFF2-40B4-BE49-F238E27FC236}">
                <a16:creationId xmlns:a16="http://schemas.microsoft.com/office/drawing/2014/main" id="{04B9C3FB-A463-47A2-A969-AAC205258F41}"/>
              </a:ext>
            </a:extLst>
          </p:cNvPr>
          <p:cNvSpPr>
            <a:spLocks noGrp="1"/>
          </p:cNvSpPr>
          <p:nvPr/>
        </p:nvSpPr>
        <p:spPr>
          <a:xfrm>
            <a:off x="6781800" y="3429000"/>
            <a:ext cx="4362450" cy="723900"/>
          </a:xfrm>
          <a:prstGeom prst="rect">
            <a:avLst/>
          </a:prstGeom>
          <a:noFill/>
          <a:ln w="0">
            <a:noFill/>
            <a:prstDash val="solid"/>
          </a:ln>
        </p:spPr>
        <p:txBody>
          <a:bodyPr wrap="square" lIns="57150" tIns="38100" rIns="57150" bIns="38100" anchor="t">
            <a:normAutofit/>
          </a:bodyPr>
          <a:lstStyle/>
          <a:p>
            <a:pPr algn="l">
              <a:defRPr sz="1575" b="0">
                <a:solidFill>
                  <a:srgbClr val="17212B"/>
                </a:solidFill>
                <a:latin typeface="Helvetica Neue"/>
                <a:ea typeface="Helvetica Neue"/>
                <a:cs typeface="Helvetica Neue"/>
              </a:defRPr>
            </a:pPr>
            <a:r>
              <a:rPr sz="1575" b="0">
                <a:solidFill>
                  <a:srgbClr val="17212B"/>
                </a:solidFill>
                <a:latin typeface="Helvetica Neue"/>
                <a:ea typeface="Helvetica Neue"/>
                <a:cs typeface="Helvetica Neue"/>
              </a:rPr>
              <a:t>How do believers respond to opposition and persecution?</a:t>
            </a:r>
          </a:p>
        </p:txBody>
      </p:sp>
      <p:sp>
        <p:nvSpPr>
          <p:cNvPr id="17" name="theme-panel-4">
            <a:extLst>
              <a:ext uri="{FF2B5EF4-FFF2-40B4-BE49-F238E27FC236}">
                <a16:creationId xmlns:a16="http://schemas.microsoft.com/office/drawing/2014/main" id="{8FB9F9A2-555D-4253-8D3F-4D6DE482CC7A}"/>
              </a:ext>
            </a:extLst>
          </p:cNvPr>
          <p:cNvSpPr>
            <a:spLocks noGrp="1"/>
          </p:cNvSpPr>
          <p:nvPr/>
        </p:nvSpPr>
        <p:spPr>
          <a:xfrm>
            <a:off x="552450" y="4552950"/>
            <a:ext cx="5143500" cy="990600"/>
          </a:xfrm>
          <a:prstGeom prst="roundRect">
            <a:avLst>
              <a:gd name="adj" fmla="val 7692"/>
            </a:avLst>
          </a:prstGeom>
          <a:solidFill>
            <a:srgbClr val="F4F7F9"/>
          </a:solidFill>
          <a:ln w="9525">
            <a:solidFill>
              <a:srgbClr val="B9C7D1"/>
            </a:solidFill>
            <a:prstDash val="solid"/>
          </a:ln>
        </p:spPr>
        <p:txBody>
          <a:bodyPr/>
          <a:lstStyle/>
          <a:p>
            <a:endParaRPr lang="en-US"/>
          </a:p>
        </p:txBody>
      </p:sp>
      <p:sp>
        <p:nvSpPr>
          <p:cNvPr id="18" name="theme-number-4">
            <a:extLst>
              <a:ext uri="{FF2B5EF4-FFF2-40B4-BE49-F238E27FC236}">
                <a16:creationId xmlns:a16="http://schemas.microsoft.com/office/drawing/2014/main" id="{64E71B97-7D49-498E-820E-77534C1A053B}"/>
              </a:ext>
            </a:extLst>
          </p:cNvPr>
          <p:cNvSpPr>
            <a:spLocks noGrp="1"/>
          </p:cNvSpPr>
          <p:nvPr/>
        </p:nvSpPr>
        <p:spPr>
          <a:xfrm>
            <a:off x="723900" y="4705350"/>
            <a:ext cx="323850" cy="304800"/>
          </a:xfrm>
          <a:prstGeom prst="rect">
            <a:avLst/>
          </a:prstGeom>
          <a:noFill/>
          <a:ln w="0">
            <a:noFill/>
            <a:prstDash val="solid"/>
          </a:ln>
        </p:spPr>
        <p:txBody>
          <a:bodyPr wrap="square" lIns="57150" tIns="38100" rIns="57150" bIns="38100" anchor="t">
            <a:normAutofit/>
          </a:bodyPr>
          <a:lstStyle/>
          <a:p>
            <a:pPr algn="ctr">
              <a:defRPr sz="1425" b="1">
                <a:solidFill>
                  <a:srgbClr val="236AA3"/>
                </a:solidFill>
                <a:latin typeface="Helvetica Neue"/>
                <a:ea typeface="Helvetica Neue"/>
                <a:cs typeface="Helvetica Neue"/>
              </a:defRPr>
            </a:pPr>
            <a:r>
              <a:rPr sz="1425" b="1">
                <a:solidFill>
                  <a:srgbClr val="236AA3"/>
                </a:solidFill>
                <a:latin typeface="Helvetica Neue"/>
                <a:ea typeface="Helvetica Neue"/>
                <a:cs typeface="Helvetica Neue"/>
              </a:rPr>
              <a:t>5</a:t>
            </a:r>
          </a:p>
        </p:txBody>
      </p:sp>
      <p:sp>
        <p:nvSpPr>
          <p:cNvPr id="19" name="theme-text-4">
            <a:extLst>
              <a:ext uri="{FF2B5EF4-FFF2-40B4-BE49-F238E27FC236}">
                <a16:creationId xmlns:a16="http://schemas.microsoft.com/office/drawing/2014/main" id="{A9F0AA89-472E-457E-8850-DF4E1A78F832}"/>
              </a:ext>
            </a:extLst>
          </p:cNvPr>
          <p:cNvSpPr>
            <a:spLocks noGrp="1"/>
          </p:cNvSpPr>
          <p:nvPr/>
        </p:nvSpPr>
        <p:spPr>
          <a:xfrm>
            <a:off x="1123950" y="4686300"/>
            <a:ext cx="4362450" cy="723900"/>
          </a:xfrm>
          <a:prstGeom prst="rect">
            <a:avLst/>
          </a:prstGeom>
          <a:noFill/>
          <a:ln w="0">
            <a:noFill/>
            <a:prstDash val="solid"/>
          </a:ln>
        </p:spPr>
        <p:txBody>
          <a:bodyPr wrap="square" lIns="57150" tIns="38100" rIns="57150" bIns="38100" anchor="t">
            <a:normAutofit/>
          </a:bodyPr>
          <a:lstStyle/>
          <a:p>
            <a:pPr algn="l">
              <a:defRPr sz="1575" b="0">
                <a:solidFill>
                  <a:srgbClr val="17212B"/>
                </a:solidFill>
                <a:latin typeface="Helvetica Neue"/>
                <a:ea typeface="Helvetica Neue"/>
                <a:cs typeface="Helvetica Neue"/>
              </a:defRPr>
            </a:pPr>
            <a:r>
              <a:rPr sz="1575" b="0">
                <a:solidFill>
                  <a:srgbClr val="17212B"/>
                </a:solidFill>
                <a:latin typeface="Helvetica Neue"/>
                <a:ea typeface="Helvetica Neue"/>
                <a:cs typeface="Helvetica Neue"/>
              </a:rPr>
              <a:t>What is the relationship between Christianity and Judaism?</a:t>
            </a:r>
          </a:p>
        </p:txBody>
      </p:sp>
      <p:sp>
        <p:nvSpPr>
          <p:cNvPr id="20" name="theme-panel-5">
            <a:extLst>
              <a:ext uri="{FF2B5EF4-FFF2-40B4-BE49-F238E27FC236}">
                <a16:creationId xmlns:a16="http://schemas.microsoft.com/office/drawing/2014/main" id="{47979D10-2997-418E-B703-2B31425794E5}"/>
              </a:ext>
            </a:extLst>
          </p:cNvPr>
          <p:cNvSpPr>
            <a:spLocks noGrp="1"/>
          </p:cNvSpPr>
          <p:nvPr/>
        </p:nvSpPr>
        <p:spPr>
          <a:xfrm>
            <a:off x="6210300" y="4552950"/>
            <a:ext cx="5143500" cy="990600"/>
          </a:xfrm>
          <a:prstGeom prst="roundRect">
            <a:avLst>
              <a:gd name="adj" fmla="val 7692"/>
            </a:avLst>
          </a:prstGeom>
          <a:solidFill>
            <a:srgbClr val="F4F7F9"/>
          </a:solidFill>
          <a:ln w="9525">
            <a:solidFill>
              <a:srgbClr val="B9C7D1"/>
            </a:solidFill>
            <a:prstDash val="solid"/>
          </a:ln>
        </p:spPr>
        <p:txBody>
          <a:bodyPr/>
          <a:lstStyle/>
          <a:p>
            <a:endParaRPr lang="en-US"/>
          </a:p>
        </p:txBody>
      </p:sp>
      <p:sp>
        <p:nvSpPr>
          <p:cNvPr id="21" name="theme-number-5">
            <a:extLst>
              <a:ext uri="{FF2B5EF4-FFF2-40B4-BE49-F238E27FC236}">
                <a16:creationId xmlns:a16="http://schemas.microsoft.com/office/drawing/2014/main" id="{772B795B-DDAA-4FD1-8ADA-E45FA4F34FE3}"/>
              </a:ext>
            </a:extLst>
          </p:cNvPr>
          <p:cNvSpPr>
            <a:spLocks noGrp="1"/>
          </p:cNvSpPr>
          <p:nvPr/>
        </p:nvSpPr>
        <p:spPr>
          <a:xfrm>
            <a:off x="6381750" y="4705350"/>
            <a:ext cx="323850" cy="304800"/>
          </a:xfrm>
          <a:prstGeom prst="rect">
            <a:avLst/>
          </a:prstGeom>
          <a:noFill/>
          <a:ln w="0">
            <a:noFill/>
            <a:prstDash val="solid"/>
          </a:ln>
        </p:spPr>
        <p:txBody>
          <a:bodyPr wrap="square" lIns="57150" tIns="38100" rIns="57150" bIns="38100" anchor="t">
            <a:normAutofit/>
          </a:bodyPr>
          <a:lstStyle/>
          <a:p>
            <a:pPr algn="ctr">
              <a:defRPr sz="1425" b="1">
                <a:solidFill>
                  <a:srgbClr val="236AA3"/>
                </a:solidFill>
                <a:latin typeface="Helvetica Neue"/>
                <a:ea typeface="Helvetica Neue"/>
                <a:cs typeface="Helvetica Neue"/>
              </a:defRPr>
            </a:pPr>
            <a:r>
              <a:rPr sz="1425" b="1">
                <a:solidFill>
                  <a:srgbClr val="236AA3"/>
                </a:solidFill>
                <a:latin typeface="Helvetica Neue"/>
                <a:ea typeface="Helvetica Neue"/>
                <a:cs typeface="Helvetica Neue"/>
              </a:rPr>
              <a:t>6</a:t>
            </a:r>
          </a:p>
        </p:txBody>
      </p:sp>
      <p:sp>
        <p:nvSpPr>
          <p:cNvPr id="22" name="theme-text-5">
            <a:extLst>
              <a:ext uri="{FF2B5EF4-FFF2-40B4-BE49-F238E27FC236}">
                <a16:creationId xmlns:a16="http://schemas.microsoft.com/office/drawing/2014/main" id="{0B72F3A4-6FCD-4CE0-9025-450DB749C8D6}"/>
              </a:ext>
            </a:extLst>
          </p:cNvPr>
          <p:cNvSpPr>
            <a:spLocks noGrp="1"/>
          </p:cNvSpPr>
          <p:nvPr/>
        </p:nvSpPr>
        <p:spPr>
          <a:xfrm>
            <a:off x="6781800" y="4686300"/>
            <a:ext cx="4362450" cy="723900"/>
          </a:xfrm>
          <a:prstGeom prst="rect">
            <a:avLst/>
          </a:prstGeom>
          <a:noFill/>
          <a:ln w="0">
            <a:noFill/>
            <a:prstDash val="solid"/>
          </a:ln>
        </p:spPr>
        <p:txBody>
          <a:bodyPr wrap="square" lIns="57150" tIns="38100" rIns="57150" bIns="38100" anchor="t">
            <a:normAutofit fontScale="89947"/>
          </a:bodyPr>
          <a:lstStyle/>
          <a:p>
            <a:pPr algn="l">
              <a:defRPr sz="1575" b="0">
                <a:solidFill>
                  <a:srgbClr val="17212B"/>
                </a:solidFill>
                <a:latin typeface="Helvetica Neue"/>
                <a:ea typeface="Helvetica Neue"/>
                <a:cs typeface="Helvetica Neue"/>
              </a:defRPr>
            </a:pPr>
            <a:r>
              <a:rPr sz="1575" b="0">
                <a:solidFill>
                  <a:srgbClr val="17212B"/>
                </a:solidFill>
                <a:latin typeface="Helvetica Neue"/>
                <a:ea typeface="Helvetica Neue"/>
                <a:cs typeface="Helvetica Neue"/>
              </a:rPr>
              <a:t>What does Acts show about fellowship—partnership, participation, sharing, and communion?</a:t>
            </a:r>
          </a:p>
        </p:txBody>
      </p:sp>
    </p:spTree>
    <p:extLst>
      <p:ext uri="{BB962C8B-B14F-4D97-AF65-F5344CB8AC3E}">
        <p14:creationId xmlns:p14="http://schemas.microsoft.com/office/powerpoint/2010/main" val="18963428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eyebrow-4">
            <a:extLst>
              <a:ext uri="{FF2B5EF4-FFF2-40B4-BE49-F238E27FC236}">
                <a16:creationId xmlns:a16="http://schemas.microsoft.com/office/drawing/2014/main" id="{9E0E6758-81B7-4186-AF91-0B5150B873F1}"/>
              </a:ext>
            </a:extLst>
          </p:cNvPr>
          <p:cNvSpPr>
            <a:spLocks noGrp="1"/>
          </p:cNvSpPr>
          <p:nvPr/>
        </p:nvSpPr>
        <p:spPr>
          <a:xfrm>
            <a:off x="552450" y="323850"/>
            <a:ext cx="3238500" cy="285750"/>
          </a:xfrm>
          <a:prstGeom prst="rect">
            <a:avLst/>
          </a:prstGeom>
          <a:noFill/>
          <a:ln w="0">
            <a:noFill/>
            <a:prstDash val="solid"/>
          </a:ln>
        </p:spPr>
        <p:txBody>
          <a:bodyPr wrap="square" lIns="57150" tIns="38100" rIns="57150" bIns="38100" anchor="t">
            <a:normAutofit/>
          </a:bodyPr>
          <a:lstStyle/>
          <a:p>
            <a:pPr algn="l">
              <a:defRPr sz="1125" b="1">
                <a:solidFill>
                  <a:srgbClr val="236AA3"/>
                </a:solidFill>
                <a:latin typeface="Helvetica Neue"/>
                <a:ea typeface="Helvetica Neue"/>
                <a:cs typeface="Helvetica Neue"/>
              </a:defRPr>
            </a:pPr>
            <a:r>
              <a:rPr sz="1125" b="1">
                <a:solidFill>
                  <a:srgbClr val="236AA3"/>
                </a:solidFill>
                <a:latin typeface="Helvetica Neue"/>
                <a:ea typeface="Helvetica Neue"/>
                <a:cs typeface="Helvetica Neue"/>
              </a:rPr>
              <a:t>QUESTION 1</a:t>
            </a:r>
          </a:p>
        </p:txBody>
      </p:sp>
      <p:sp>
        <p:nvSpPr>
          <p:cNvPr id="2" name="title-4">
            <a:extLst>
              <a:ext uri="{FF2B5EF4-FFF2-40B4-BE49-F238E27FC236}">
                <a16:creationId xmlns:a16="http://schemas.microsoft.com/office/drawing/2014/main" id="{C176ED8C-6D5E-4A80-A0FF-B337DFC22F81}"/>
              </a:ext>
            </a:extLst>
          </p:cNvPr>
          <p:cNvSpPr>
            <a:spLocks noGrp="1"/>
          </p:cNvSpPr>
          <p:nvPr/>
        </p:nvSpPr>
        <p:spPr>
          <a:xfrm>
            <a:off x="552450" y="704850"/>
            <a:ext cx="10810875" cy="914400"/>
          </a:xfrm>
          <a:prstGeom prst="rect">
            <a:avLst/>
          </a:prstGeom>
          <a:noFill/>
          <a:ln w="0">
            <a:noFill/>
            <a:prstDash val="solid"/>
          </a:ln>
        </p:spPr>
        <p:txBody>
          <a:bodyPr wrap="square" lIns="57150" tIns="38100" rIns="57150" bIns="38100" anchor="t">
            <a:normAutofit fontScale="91667"/>
          </a:bodyPr>
          <a:lstStyle/>
          <a:p>
            <a:pPr algn="l">
              <a:defRPr sz="3000" b="1">
                <a:solidFill>
                  <a:srgbClr val="17212B"/>
                </a:solidFill>
                <a:latin typeface="Helvetica Neue"/>
                <a:ea typeface="Helvetica Neue"/>
                <a:cs typeface="Helvetica Neue"/>
              </a:defRPr>
            </a:pPr>
            <a:r>
              <a:rPr sz="3000" b="1">
                <a:solidFill>
                  <a:srgbClr val="17212B"/>
                </a:solidFill>
                <a:latin typeface="Helvetica Neue"/>
                <a:ea typeface="Helvetica Neue"/>
                <a:cs typeface="Helvetica Neue"/>
              </a:rPr>
              <a:t>For each of the following sections, write a title that expresses what the section is about.</a:t>
            </a:r>
          </a:p>
        </p:txBody>
      </p:sp>
      <p:sp>
        <p:nvSpPr>
          <p:cNvPr id="3" name="rule-4">
            <a:extLst>
              <a:ext uri="{FF2B5EF4-FFF2-40B4-BE49-F238E27FC236}">
                <a16:creationId xmlns:a16="http://schemas.microsoft.com/office/drawing/2014/main" id="{F417BE33-F36C-4D32-AEFB-6B756C6F439B}"/>
              </a:ext>
            </a:extLst>
          </p:cNvPr>
          <p:cNvSpPr>
            <a:spLocks noGrp="1"/>
          </p:cNvSpPr>
          <p:nvPr/>
        </p:nvSpPr>
        <p:spPr>
          <a:xfrm>
            <a:off x="552450" y="1657350"/>
            <a:ext cx="10810875" cy="28575"/>
          </a:xfrm>
          <a:prstGeom prst="rect">
            <a:avLst/>
          </a:prstGeom>
          <a:solidFill>
            <a:srgbClr val="236AA3"/>
          </a:solidFill>
          <a:ln w="0">
            <a:noFill/>
            <a:prstDash val="solid"/>
          </a:ln>
        </p:spPr>
        <p:txBody>
          <a:bodyPr/>
          <a:lstStyle/>
          <a:p>
            <a:endParaRPr lang="en-US"/>
          </a:p>
        </p:txBody>
      </p:sp>
      <p:sp>
        <p:nvSpPr>
          <p:cNvPr id="4" name="number-4">
            <a:extLst>
              <a:ext uri="{FF2B5EF4-FFF2-40B4-BE49-F238E27FC236}">
                <a16:creationId xmlns:a16="http://schemas.microsoft.com/office/drawing/2014/main" id="{A8F28783-16C5-4173-9752-F61D0560A0B3}"/>
              </a:ext>
            </a:extLst>
          </p:cNvPr>
          <p:cNvSpPr>
            <a:spLocks noGrp="1"/>
          </p:cNvSpPr>
          <p:nvPr/>
        </p:nvSpPr>
        <p:spPr>
          <a:xfrm>
            <a:off x="10858500" y="6305550"/>
            <a:ext cx="514350" cy="247650"/>
          </a:xfrm>
          <a:prstGeom prst="rect">
            <a:avLst/>
          </a:prstGeom>
          <a:noFill/>
          <a:ln w="0">
            <a:noFill/>
            <a:prstDash val="solid"/>
          </a:ln>
        </p:spPr>
        <p:txBody>
          <a:bodyPr wrap="square" lIns="57150" tIns="38100" rIns="57150" bIns="38100" anchor="t">
            <a:normAutofit/>
          </a:bodyPr>
          <a:lstStyle/>
          <a:p>
            <a:pPr algn="r">
              <a:defRPr sz="1050" b="0">
                <a:solidFill>
                  <a:srgbClr val="536170"/>
                </a:solidFill>
                <a:latin typeface="Helvetica Neue"/>
                <a:ea typeface="Helvetica Neue"/>
                <a:cs typeface="Helvetica Neue"/>
              </a:defRPr>
            </a:pPr>
            <a:r>
              <a:rPr sz="1050" b="0">
                <a:solidFill>
                  <a:srgbClr val="536170"/>
                </a:solidFill>
                <a:latin typeface="Helvetica Neue"/>
                <a:ea typeface="Helvetica Neue"/>
                <a:cs typeface="Helvetica Neue"/>
              </a:rPr>
              <a:t>04</a:t>
            </a:r>
          </a:p>
        </p:txBody>
      </p:sp>
      <p:sp>
        <p:nvSpPr>
          <p:cNvPr id="5" name="q1-context-panel">
            <a:extLst>
              <a:ext uri="{FF2B5EF4-FFF2-40B4-BE49-F238E27FC236}">
                <a16:creationId xmlns:a16="http://schemas.microsoft.com/office/drawing/2014/main" id="{E1533434-2B82-47D0-AC28-4279EC464795}"/>
              </a:ext>
            </a:extLst>
          </p:cNvPr>
          <p:cNvSpPr>
            <a:spLocks noGrp="1"/>
          </p:cNvSpPr>
          <p:nvPr/>
        </p:nvSpPr>
        <p:spPr>
          <a:xfrm>
            <a:off x="685800" y="2381250"/>
            <a:ext cx="10820400" cy="2590800"/>
          </a:xfrm>
          <a:prstGeom prst="roundRect">
            <a:avLst>
              <a:gd name="adj" fmla="val 2941"/>
            </a:avLst>
          </a:prstGeom>
          <a:solidFill>
            <a:srgbClr val="F4F7F9"/>
          </a:solidFill>
          <a:ln w="9525">
            <a:solidFill>
              <a:srgbClr val="B9C7D1"/>
            </a:solidFill>
            <a:prstDash val="solid"/>
          </a:ln>
        </p:spPr>
        <p:txBody>
          <a:bodyPr/>
          <a:lstStyle/>
          <a:p>
            <a:endParaRPr lang="en-US"/>
          </a:p>
        </p:txBody>
      </p:sp>
      <p:sp>
        <p:nvSpPr>
          <p:cNvPr id="6" name="q1-context-label">
            <a:extLst>
              <a:ext uri="{FF2B5EF4-FFF2-40B4-BE49-F238E27FC236}">
                <a16:creationId xmlns:a16="http://schemas.microsoft.com/office/drawing/2014/main" id="{29AF6D98-5374-40D8-A070-7E9D95EECBF0}"/>
              </a:ext>
            </a:extLst>
          </p:cNvPr>
          <p:cNvSpPr>
            <a:spLocks noGrp="1"/>
          </p:cNvSpPr>
          <p:nvPr/>
        </p:nvSpPr>
        <p:spPr>
          <a:xfrm>
            <a:off x="952500" y="2609850"/>
            <a:ext cx="2857500" cy="342900"/>
          </a:xfrm>
          <a:prstGeom prst="rect">
            <a:avLst/>
          </a:prstGeom>
          <a:noFill/>
          <a:ln w="0">
            <a:noFill/>
            <a:prstDash val="solid"/>
          </a:ln>
        </p:spPr>
        <p:txBody>
          <a:bodyPr wrap="square" lIns="57150" tIns="38100" rIns="57150" bIns="38100" anchor="t">
            <a:normAutofit/>
          </a:bodyPr>
          <a:lstStyle/>
          <a:p>
            <a:pPr algn="l">
              <a:defRPr sz="1500" b="1">
                <a:solidFill>
                  <a:srgbClr val="236AA3"/>
                </a:solidFill>
                <a:latin typeface="Helvetica Neue"/>
                <a:ea typeface="Helvetica Neue"/>
                <a:cs typeface="Helvetica Neue"/>
              </a:defRPr>
            </a:pPr>
            <a:r>
              <a:rPr sz="1500" b="1">
                <a:solidFill>
                  <a:srgbClr val="236AA3"/>
                </a:solidFill>
                <a:latin typeface="Helvetica Neue"/>
                <a:ea typeface="Helvetica Neue"/>
                <a:cs typeface="Helvetica Neue"/>
              </a:rPr>
              <a:t>Helpful context</a:t>
            </a:r>
          </a:p>
        </p:txBody>
      </p:sp>
      <p:sp>
        <p:nvSpPr>
          <p:cNvPr id="7" name="q1-bullet-0">
            <a:extLst>
              <a:ext uri="{FF2B5EF4-FFF2-40B4-BE49-F238E27FC236}">
                <a16:creationId xmlns:a16="http://schemas.microsoft.com/office/drawing/2014/main" id="{4D3D4C38-3CDB-467A-BD49-2B8F7D43A3B4}"/>
              </a:ext>
            </a:extLst>
          </p:cNvPr>
          <p:cNvSpPr>
            <a:spLocks noGrp="1"/>
          </p:cNvSpPr>
          <p:nvPr/>
        </p:nvSpPr>
        <p:spPr>
          <a:xfrm>
            <a:off x="1028700" y="3162300"/>
            <a:ext cx="9696450" cy="400050"/>
          </a:xfrm>
          <a:prstGeom prst="rect">
            <a:avLst/>
          </a:prstGeom>
          <a:noFill/>
          <a:ln w="0">
            <a:noFill/>
            <a:prstDash val="solid"/>
          </a:ln>
        </p:spPr>
        <p:txBody>
          <a:bodyPr wrap="square" lIns="57150" tIns="38100" rIns="57150" bIns="38100" anchor="t">
            <a:normAutofit/>
          </a:bodyPr>
          <a:lstStyle/>
          <a:p>
            <a:pPr algn="l">
              <a:defRPr sz="1875" b="0">
                <a:solidFill>
                  <a:srgbClr val="17212B"/>
                </a:solidFill>
                <a:latin typeface="Helvetica Neue"/>
                <a:ea typeface="Helvetica Neue"/>
                <a:cs typeface="Helvetica Neue"/>
              </a:defRPr>
            </a:pPr>
            <a:r>
              <a:rPr sz="1875" b="0">
                <a:solidFill>
                  <a:srgbClr val="17212B"/>
                </a:solidFill>
                <a:latin typeface="Helvetica Neue"/>
                <a:ea typeface="Helvetica Neue"/>
                <a:cs typeface="Helvetica Neue"/>
              </a:rPr>
              <a:t>•  Acts 1:1–11</a:t>
            </a:r>
          </a:p>
        </p:txBody>
      </p:sp>
      <p:sp>
        <p:nvSpPr>
          <p:cNvPr id="8" name="q1-bullet-1">
            <a:extLst>
              <a:ext uri="{FF2B5EF4-FFF2-40B4-BE49-F238E27FC236}">
                <a16:creationId xmlns:a16="http://schemas.microsoft.com/office/drawing/2014/main" id="{C2B3B007-5A0A-48BE-A89C-B6DED84893EF}"/>
              </a:ext>
            </a:extLst>
          </p:cNvPr>
          <p:cNvSpPr>
            <a:spLocks noGrp="1"/>
          </p:cNvSpPr>
          <p:nvPr/>
        </p:nvSpPr>
        <p:spPr>
          <a:xfrm>
            <a:off x="1028700" y="3714750"/>
            <a:ext cx="9696450" cy="400050"/>
          </a:xfrm>
          <a:prstGeom prst="rect">
            <a:avLst/>
          </a:prstGeom>
          <a:noFill/>
          <a:ln w="0">
            <a:noFill/>
            <a:prstDash val="solid"/>
          </a:ln>
        </p:spPr>
        <p:txBody>
          <a:bodyPr wrap="square" lIns="57150" tIns="38100" rIns="57150" bIns="38100" anchor="t">
            <a:normAutofit/>
          </a:bodyPr>
          <a:lstStyle/>
          <a:p>
            <a:pPr algn="l">
              <a:defRPr sz="1875" b="0">
                <a:solidFill>
                  <a:srgbClr val="17212B"/>
                </a:solidFill>
                <a:latin typeface="Helvetica Neue"/>
                <a:ea typeface="Helvetica Neue"/>
                <a:cs typeface="Helvetica Neue"/>
              </a:defRPr>
            </a:pPr>
            <a:r>
              <a:rPr sz="1875" b="0">
                <a:solidFill>
                  <a:srgbClr val="17212B"/>
                </a:solidFill>
                <a:latin typeface="Helvetica Neue"/>
                <a:ea typeface="Helvetica Neue"/>
                <a:cs typeface="Helvetica Neue"/>
              </a:rPr>
              <a:t>•  Acts 1:12–26</a:t>
            </a:r>
          </a:p>
        </p:txBody>
      </p:sp>
      <p:sp>
        <p:nvSpPr>
          <p:cNvPr id="9" name="q1-discussion">
            <a:extLst>
              <a:ext uri="{FF2B5EF4-FFF2-40B4-BE49-F238E27FC236}">
                <a16:creationId xmlns:a16="http://schemas.microsoft.com/office/drawing/2014/main" id="{BFC4BF16-F2DC-442E-B8F3-6055BCC8C8AA}"/>
              </a:ext>
            </a:extLst>
          </p:cNvPr>
          <p:cNvSpPr>
            <a:spLocks noGrp="1"/>
          </p:cNvSpPr>
          <p:nvPr/>
        </p:nvSpPr>
        <p:spPr>
          <a:xfrm>
            <a:off x="723900" y="5476875"/>
            <a:ext cx="8572500" cy="361950"/>
          </a:xfrm>
          <a:prstGeom prst="rect">
            <a:avLst/>
          </a:prstGeom>
          <a:noFill/>
          <a:ln w="0">
            <a:noFill/>
            <a:prstDash val="solid"/>
          </a:ln>
        </p:spPr>
        <p:txBody>
          <a:bodyPr wrap="square" lIns="57150" tIns="38100" rIns="57150" bIns="38100" anchor="t">
            <a:normAutofit/>
          </a:bodyPr>
          <a:lstStyle/>
          <a:p>
            <a:pPr algn="l">
              <a:defRPr sz="1350" b="0">
                <a:solidFill>
                  <a:srgbClr val="536170"/>
                </a:solidFill>
                <a:latin typeface="Helvetica Neue"/>
                <a:ea typeface="Helvetica Neue"/>
                <a:cs typeface="Helvetica Neue"/>
              </a:defRPr>
            </a:pPr>
            <a:r>
              <a:rPr sz="1350" b="0">
                <a:solidFill>
                  <a:srgbClr val="536170"/>
                </a:solidFill>
                <a:latin typeface="Helvetica Neue"/>
                <a:ea typeface="Helvetica Neue"/>
                <a:cs typeface="Helvetica Neue"/>
              </a:rPr>
              <a:t>Discuss before revealing the suggested response</a:t>
            </a:r>
          </a:p>
        </p:txBody>
      </p:sp>
    </p:spTree>
    <p:extLst>
      <p:ext uri="{BB962C8B-B14F-4D97-AF65-F5344CB8AC3E}">
        <p14:creationId xmlns:p14="http://schemas.microsoft.com/office/powerpoint/2010/main" val="2780670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q1-answer-panel">
            <a:extLst>
              <a:ext uri="{FF2B5EF4-FFF2-40B4-BE49-F238E27FC236}">
                <a16:creationId xmlns:a16="http://schemas.microsoft.com/office/drawing/2014/main" id="{D7C9B426-24C4-4313-AB18-4214E7FF93A7}"/>
              </a:ext>
            </a:extLst>
          </p:cNvPr>
          <p:cNvSpPr>
            <a:spLocks noGrp="1"/>
          </p:cNvSpPr>
          <p:nvPr/>
        </p:nvSpPr>
        <p:spPr>
          <a:xfrm>
            <a:off x="685800" y="2209800"/>
            <a:ext cx="10820400" cy="3333750"/>
          </a:xfrm>
          <a:prstGeom prst="roundRect">
            <a:avLst>
              <a:gd name="adj" fmla="val 2286"/>
            </a:avLst>
          </a:prstGeom>
          <a:solidFill>
            <a:srgbClr val="EAF3F9"/>
          </a:solidFill>
          <a:ln w="9525">
            <a:solidFill>
              <a:srgbClr val="B9C7D1"/>
            </a:solidFill>
            <a:prstDash val="solid"/>
          </a:ln>
        </p:spPr>
        <p:txBody>
          <a:bodyPr/>
          <a:lstStyle/>
          <a:p>
            <a:endParaRPr lang="en-US"/>
          </a:p>
        </p:txBody>
      </p:sp>
      <p:sp>
        <p:nvSpPr>
          <p:cNvPr id="2" name="q1-answer-label">
            <a:extLst>
              <a:ext uri="{FF2B5EF4-FFF2-40B4-BE49-F238E27FC236}">
                <a16:creationId xmlns:a16="http://schemas.microsoft.com/office/drawing/2014/main" id="{1AD9B35C-E492-4650-9A6E-F078C19B9470}"/>
              </a:ext>
            </a:extLst>
          </p:cNvPr>
          <p:cNvSpPr>
            <a:spLocks noGrp="1"/>
          </p:cNvSpPr>
          <p:nvPr/>
        </p:nvSpPr>
        <p:spPr>
          <a:xfrm>
            <a:off x="971550" y="2438400"/>
            <a:ext cx="3429000" cy="381000"/>
          </a:xfrm>
          <a:prstGeom prst="rect">
            <a:avLst/>
          </a:prstGeom>
          <a:noFill/>
          <a:ln w="0">
            <a:noFill/>
            <a:prstDash val="solid"/>
          </a:ln>
        </p:spPr>
        <p:txBody>
          <a:bodyPr wrap="square" lIns="57150" tIns="38100" rIns="57150" bIns="38100" anchor="t">
            <a:normAutofit/>
          </a:bodyPr>
          <a:lstStyle/>
          <a:p>
            <a:pPr algn="l">
              <a:defRPr sz="1650" b="1">
                <a:solidFill>
                  <a:srgbClr val="236AA3"/>
                </a:solidFill>
                <a:latin typeface="Helvetica Neue"/>
                <a:ea typeface="Helvetica Neue"/>
                <a:cs typeface="Helvetica Neue"/>
              </a:defRPr>
            </a:pPr>
            <a:r>
              <a:rPr sz="1650" b="1">
                <a:solidFill>
                  <a:srgbClr val="236AA3"/>
                </a:solidFill>
                <a:latin typeface="Helvetica Neue"/>
                <a:ea typeface="Helvetica Neue"/>
                <a:cs typeface="Helvetica Neue"/>
              </a:rPr>
              <a:t>Suggested response</a:t>
            </a:r>
          </a:p>
        </p:txBody>
      </p:sp>
      <p:sp>
        <p:nvSpPr>
          <p:cNvPr id="3" name="q1-answer-0">
            <a:extLst>
              <a:ext uri="{FF2B5EF4-FFF2-40B4-BE49-F238E27FC236}">
                <a16:creationId xmlns:a16="http://schemas.microsoft.com/office/drawing/2014/main" id="{F1E3C033-7866-4B9D-8C34-1AA8F623F04A}"/>
              </a:ext>
            </a:extLst>
          </p:cNvPr>
          <p:cNvSpPr>
            <a:spLocks noGrp="1"/>
          </p:cNvSpPr>
          <p:nvPr/>
        </p:nvSpPr>
        <p:spPr>
          <a:xfrm>
            <a:off x="1047750" y="3048000"/>
            <a:ext cx="9810750" cy="552450"/>
          </a:xfrm>
          <a:prstGeom prst="rect">
            <a:avLst/>
          </a:prstGeom>
          <a:noFill/>
          <a:ln w="0">
            <a:noFill/>
            <a:prstDash val="solid"/>
          </a:ln>
        </p:spPr>
        <p:txBody>
          <a:bodyPr wrap="square" lIns="57150" tIns="38100" rIns="57150" bIns="38100" anchor="t">
            <a:normAutofit/>
          </a:bodyPr>
          <a:lstStyle/>
          <a:p>
            <a:pPr algn="l">
              <a:defRPr sz="1875" b="1">
                <a:solidFill>
                  <a:srgbClr val="17212B"/>
                </a:solidFill>
                <a:latin typeface="Helvetica Neue"/>
                <a:ea typeface="Helvetica Neue"/>
                <a:cs typeface="Helvetica Neue"/>
              </a:defRPr>
            </a:pPr>
            <a:r>
              <a:rPr sz="1875" b="1">
                <a:solidFill>
                  <a:srgbClr val="17212B"/>
                </a:solidFill>
                <a:latin typeface="Helvetica Neue"/>
                <a:ea typeface="Helvetica Neue"/>
                <a:cs typeface="Helvetica Neue"/>
              </a:rPr>
              <a:t>•  1:1–11 — Jesus commissions His witnesses and ascends</a:t>
            </a:r>
          </a:p>
        </p:txBody>
      </p:sp>
      <p:sp>
        <p:nvSpPr>
          <p:cNvPr id="4" name="q1-answer-1">
            <a:extLst>
              <a:ext uri="{FF2B5EF4-FFF2-40B4-BE49-F238E27FC236}">
                <a16:creationId xmlns:a16="http://schemas.microsoft.com/office/drawing/2014/main" id="{E6C8A64A-BF74-4807-BD3E-FDC99B0294B8}"/>
              </a:ext>
            </a:extLst>
          </p:cNvPr>
          <p:cNvSpPr>
            <a:spLocks noGrp="1"/>
          </p:cNvSpPr>
          <p:nvPr/>
        </p:nvSpPr>
        <p:spPr>
          <a:xfrm>
            <a:off x="1047750" y="3771900"/>
            <a:ext cx="9810750" cy="552450"/>
          </a:xfrm>
          <a:prstGeom prst="rect">
            <a:avLst/>
          </a:prstGeom>
          <a:noFill/>
          <a:ln w="0">
            <a:noFill/>
            <a:prstDash val="solid"/>
          </a:ln>
        </p:spPr>
        <p:txBody>
          <a:bodyPr wrap="square" lIns="57150" tIns="38100" rIns="57150" bIns="38100" anchor="t">
            <a:normAutofit/>
          </a:bodyPr>
          <a:lstStyle/>
          <a:p>
            <a:pPr algn="l">
              <a:defRPr sz="1875" b="0">
                <a:solidFill>
                  <a:srgbClr val="17212B"/>
                </a:solidFill>
                <a:latin typeface="Helvetica Neue"/>
                <a:ea typeface="Helvetica Neue"/>
                <a:cs typeface="Helvetica Neue"/>
              </a:defRPr>
            </a:pPr>
            <a:r>
              <a:rPr sz="1875" b="0">
                <a:solidFill>
                  <a:srgbClr val="17212B"/>
                </a:solidFill>
                <a:latin typeface="Helvetica Neue"/>
                <a:ea typeface="Helvetica Neue"/>
                <a:cs typeface="Helvetica Neue"/>
              </a:rPr>
              <a:t>•  1:12–26 — The believers pray and choose a twelfth witness</a:t>
            </a:r>
          </a:p>
        </p:txBody>
      </p:sp>
      <p:sp>
        <p:nvSpPr>
          <p:cNvPr id="5" name="eyebrow-5">
            <a:extLst>
              <a:ext uri="{FF2B5EF4-FFF2-40B4-BE49-F238E27FC236}">
                <a16:creationId xmlns:a16="http://schemas.microsoft.com/office/drawing/2014/main" id="{18AF3ABF-FE80-49BD-868E-209CB20D5656}"/>
              </a:ext>
            </a:extLst>
          </p:cNvPr>
          <p:cNvSpPr>
            <a:spLocks noGrp="1"/>
          </p:cNvSpPr>
          <p:nvPr/>
        </p:nvSpPr>
        <p:spPr>
          <a:xfrm>
            <a:off x="552450" y="323850"/>
            <a:ext cx="3238500" cy="285750"/>
          </a:xfrm>
          <a:prstGeom prst="rect">
            <a:avLst/>
          </a:prstGeom>
          <a:noFill/>
          <a:ln w="0">
            <a:noFill/>
            <a:prstDash val="solid"/>
          </a:ln>
        </p:spPr>
        <p:txBody>
          <a:bodyPr wrap="square" lIns="57150" tIns="38100" rIns="57150" bIns="38100" anchor="t">
            <a:normAutofit/>
          </a:bodyPr>
          <a:lstStyle/>
          <a:p>
            <a:pPr algn="l">
              <a:defRPr sz="1125" b="1">
                <a:solidFill>
                  <a:srgbClr val="C99535"/>
                </a:solidFill>
                <a:latin typeface="Helvetica Neue"/>
                <a:ea typeface="Helvetica Neue"/>
                <a:cs typeface="Helvetica Neue"/>
              </a:defRPr>
            </a:pPr>
            <a:r>
              <a:rPr sz="1125" b="1">
                <a:solidFill>
                  <a:srgbClr val="C99535"/>
                </a:solidFill>
                <a:latin typeface="Helvetica Neue"/>
                <a:ea typeface="Helvetica Neue"/>
                <a:cs typeface="Helvetica Neue"/>
              </a:rPr>
              <a:t>QUESTION 1 — SUGGESTED RESPONSE</a:t>
            </a:r>
          </a:p>
        </p:txBody>
      </p:sp>
      <p:sp>
        <p:nvSpPr>
          <p:cNvPr id="6" name="title-5">
            <a:extLst>
              <a:ext uri="{FF2B5EF4-FFF2-40B4-BE49-F238E27FC236}">
                <a16:creationId xmlns:a16="http://schemas.microsoft.com/office/drawing/2014/main" id="{418FF2C3-AE09-40B9-AF2E-53CDB6B66DC5}"/>
              </a:ext>
            </a:extLst>
          </p:cNvPr>
          <p:cNvSpPr>
            <a:spLocks noGrp="1"/>
          </p:cNvSpPr>
          <p:nvPr/>
        </p:nvSpPr>
        <p:spPr>
          <a:xfrm>
            <a:off x="552450" y="704850"/>
            <a:ext cx="10810875" cy="914400"/>
          </a:xfrm>
          <a:prstGeom prst="rect">
            <a:avLst/>
          </a:prstGeom>
          <a:noFill/>
          <a:ln w="0">
            <a:noFill/>
            <a:prstDash val="solid"/>
          </a:ln>
        </p:spPr>
        <p:txBody>
          <a:bodyPr wrap="square" lIns="57150" tIns="38100" rIns="57150" bIns="38100" anchor="t">
            <a:normAutofit fontScale="91667"/>
          </a:bodyPr>
          <a:lstStyle/>
          <a:p>
            <a:pPr algn="l">
              <a:defRPr sz="3000" b="1">
                <a:solidFill>
                  <a:srgbClr val="17212B"/>
                </a:solidFill>
                <a:latin typeface="Helvetica Neue"/>
                <a:ea typeface="Helvetica Neue"/>
                <a:cs typeface="Helvetica Neue"/>
              </a:defRPr>
            </a:pPr>
            <a:r>
              <a:rPr sz="3000" b="1">
                <a:solidFill>
                  <a:srgbClr val="17212B"/>
                </a:solidFill>
                <a:latin typeface="Helvetica Neue"/>
                <a:ea typeface="Helvetica Neue"/>
                <a:cs typeface="Helvetica Neue"/>
              </a:rPr>
              <a:t>For each of the following sections, write a title that expresses what the section is about.</a:t>
            </a:r>
          </a:p>
        </p:txBody>
      </p:sp>
      <p:sp>
        <p:nvSpPr>
          <p:cNvPr id="7" name="rule-5">
            <a:extLst>
              <a:ext uri="{FF2B5EF4-FFF2-40B4-BE49-F238E27FC236}">
                <a16:creationId xmlns:a16="http://schemas.microsoft.com/office/drawing/2014/main" id="{8BB3886A-703A-4277-81E8-616939B9A73A}"/>
              </a:ext>
            </a:extLst>
          </p:cNvPr>
          <p:cNvSpPr>
            <a:spLocks noGrp="1"/>
          </p:cNvSpPr>
          <p:nvPr/>
        </p:nvSpPr>
        <p:spPr>
          <a:xfrm>
            <a:off x="552450" y="1657350"/>
            <a:ext cx="10810875" cy="28575"/>
          </a:xfrm>
          <a:prstGeom prst="rect">
            <a:avLst/>
          </a:prstGeom>
          <a:solidFill>
            <a:srgbClr val="C99535"/>
          </a:solidFill>
          <a:ln w="0">
            <a:noFill/>
            <a:prstDash val="solid"/>
          </a:ln>
        </p:spPr>
        <p:txBody>
          <a:bodyPr/>
          <a:lstStyle/>
          <a:p>
            <a:endParaRPr lang="en-US"/>
          </a:p>
        </p:txBody>
      </p:sp>
      <p:sp>
        <p:nvSpPr>
          <p:cNvPr id="8" name="number-5">
            <a:extLst>
              <a:ext uri="{FF2B5EF4-FFF2-40B4-BE49-F238E27FC236}">
                <a16:creationId xmlns:a16="http://schemas.microsoft.com/office/drawing/2014/main" id="{8478FB21-DE97-4A72-B73C-D2825249C408}"/>
              </a:ext>
            </a:extLst>
          </p:cNvPr>
          <p:cNvSpPr>
            <a:spLocks noGrp="1"/>
          </p:cNvSpPr>
          <p:nvPr/>
        </p:nvSpPr>
        <p:spPr>
          <a:xfrm>
            <a:off x="10858500" y="6305550"/>
            <a:ext cx="514350" cy="247650"/>
          </a:xfrm>
          <a:prstGeom prst="rect">
            <a:avLst/>
          </a:prstGeom>
          <a:noFill/>
          <a:ln w="0">
            <a:noFill/>
            <a:prstDash val="solid"/>
          </a:ln>
        </p:spPr>
        <p:txBody>
          <a:bodyPr wrap="square" lIns="57150" tIns="38100" rIns="57150" bIns="38100" anchor="t">
            <a:normAutofit/>
          </a:bodyPr>
          <a:lstStyle/>
          <a:p>
            <a:pPr algn="r">
              <a:defRPr sz="1050" b="0">
                <a:solidFill>
                  <a:srgbClr val="536170"/>
                </a:solidFill>
                <a:latin typeface="Helvetica Neue"/>
                <a:ea typeface="Helvetica Neue"/>
                <a:cs typeface="Helvetica Neue"/>
              </a:defRPr>
            </a:pPr>
            <a:r>
              <a:rPr sz="1050" b="0">
                <a:solidFill>
                  <a:srgbClr val="536170"/>
                </a:solidFill>
                <a:latin typeface="Helvetica Neue"/>
                <a:ea typeface="Helvetica Neue"/>
                <a:cs typeface="Helvetica Neue"/>
              </a:rPr>
              <a:t>05</a:t>
            </a:r>
          </a:p>
        </p:txBody>
      </p:sp>
    </p:spTree>
    <p:extLst>
      <p:ext uri="{BB962C8B-B14F-4D97-AF65-F5344CB8AC3E}">
        <p14:creationId xmlns:p14="http://schemas.microsoft.com/office/powerpoint/2010/main" val="16604088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eyebrow-6">
            <a:extLst>
              <a:ext uri="{FF2B5EF4-FFF2-40B4-BE49-F238E27FC236}">
                <a16:creationId xmlns:a16="http://schemas.microsoft.com/office/drawing/2014/main" id="{3E36A7DD-975D-40D8-B6DB-16DBAC0D20CB}"/>
              </a:ext>
            </a:extLst>
          </p:cNvPr>
          <p:cNvSpPr>
            <a:spLocks noGrp="1"/>
          </p:cNvSpPr>
          <p:nvPr/>
        </p:nvSpPr>
        <p:spPr>
          <a:xfrm>
            <a:off x="552450" y="323850"/>
            <a:ext cx="3238500" cy="285750"/>
          </a:xfrm>
          <a:prstGeom prst="rect">
            <a:avLst/>
          </a:prstGeom>
          <a:noFill/>
          <a:ln w="0">
            <a:noFill/>
            <a:prstDash val="solid"/>
          </a:ln>
        </p:spPr>
        <p:txBody>
          <a:bodyPr wrap="square" lIns="57150" tIns="38100" rIns="57150" bIns="38100" anchor="t">
            <a:normAutofit/>
          </a:bodyPr>
          <a:lstStyle/>
          <a:p>
            <a:pPr algn="l">
              <a:defRPr sz="1125" b="1">
                <a:solidFill>
                  <a:srgbClr val="236AA3"/>
                </a:solidFill>
                <a:latin typeface="Helvetica Neue"/>
                <a:ea typeface="Helvetica Neue"/>
                <a:cs typeface="Helvetica Neue"/>
              </a:defRPr>
            </a:pPr>
            <a:r>
              <a:rPr sz="1125" b="1">
                <a:solidFill>
                  <a:srgbClr val="236AA3"/>
                </a:solidFill>
                <a:latin typeface="Helvetica Neue"/>
                <a:ea typeface="Helvetica Neue"/>
                <a:cs typeface="Helvetica Neue"/>
              </a:rPr>
              <a:t>QUESTION 2</a:t>
            </a:r>
          </a:p>
        </p:txBody>
      </p:sp>
      <p:sp>
        <p:nvSpPr>
          <p:cNvPr id="2" name="title-6">
            <a:extLst>
              <a:ext uri="{FF2B5EF4-FFF2-40B4-BE49-F238E27FC236}">
                <a16:creationId xmlns:a16="http://schemas.microsoft.com/office/drawing/2014/main" id="{B9F27E67-EFDE-4829-BEA6-65995D02851D}"/>
              </a:ext>
            </a:extLst>
          </p:cNvPr>
          <p:cNvSpPr>
            <a:spLocks noGrp="1"/>
          </p:cNvSpPr>
          <p:nvPr/>
        </p:nvSpPr>
        <p:spPr>
          <a:xfrm>
            <a:off x="552450" y="704850"/>
            <a:ext cx="10810875" cy="914400"/>
          </a:xfrm>
          <a:prstGeom prst="rect">
            <a:avLst/>
          </a:prstGeom>
          <a:noFill/>
          <a:ln w="0">
            <a:noFill/>
            <a:prstDash val="solid"/>
          </a:ln>
        </p:spPr>
        <p:txBody>
          <a:bodyPr wrap="square" lIns="57150" tIns="38100" rIns="57150" bIns="38100" anchor="t">
            <a:normAutofit fontScale="91667"/>
          </a:bodyPr>
          <a:lstStyle/>
          <a:p>
            <a:pPr algn="l">
              <a:defRPr sz="3000" b="1">
                <a:solidFill>
                  <a:srgbClr val="17212B"/>
                </a:solidFill>
                <a:latin typeface="Helvetica Neue"/>
                <a:ea typeface="Helvetica Neue"/>
                <a:cs typeface="Helvetica Neue"/>
              </a:defRPr>
            </a:pPr>
            <a:r>
              <a:rPr sz="3000" b="1">
                <a:solidFill>
                  <a:srgbClr val="17212B"/>
                </a:solidFill>
                <a:latin typeface="Helvetica Neue"/>
                <a:ea typeface="Helvetica Neue"/>
                <a:cs typeface="Helvetica Neue"/>
              </a:rPr>
              <a:t>If Acts tells how the church began to fulfill its mission through the Holy Spirit, how does 1:1–26 relate to this theme?</a:t>
            </a:r>
          </a:p>
        </p:txBody>
      </p:sp>
      <p:sp>
        <p:nvSpPr>
          <p:cNvPr id="3" name="rule-6">
            <a:extLst>
              <a:ext uri="{FF2B5EF4-FFF2-40B4-BE49-F238E27FC236}">
                <a16:creationId xmlns:a16="http://schemas.microsoft.com/office/drawing/2014/main" id="{DD6E782C-CE4B-442A-A331-A46EA791274B}"/>
              </a:ext>
            </a:extLst>
          </p:cNvPr>
          <p:cNvSpPr>
            <a:spLocks noGrp="1"/>
          </p:cNvSpPr>
          <p:nvPr/>
        </p:nvSpPr>
        <p:spPr>
          <a:xfrm>
            <a:off x="552450" y="1657350"/>
            <a:ext cx="10810875" cy="28575"/>
          </a:xfrm>
          <a:prstGeom prst="rect">
            <a:avLst/>
          </a:prstGeom>
          <a:solidFill>
            <a:srgbClr val="236AA3"/>
          </a:solidFill>
          <a:ln w="0">
            <a:noFill/>
            <a:prstDash val="solid"/>
          </a:ln>
        </p:spPr>
        <p:txBody>
          <a:bodyPr/>
          <a:lstStyle/>
          <a:p>
            <a:endParaRPr lang="en-US"/>
          </a:p>
        </p:txBody>
      </p:sp>
      <p:sp>
        <p:nvSpPr>
          <p:cNvPr id="4" name="number-6">
            <a:extLst>
              <a:ext uri="{FF2B5EF4-FFF2-40B4-BE49-F238E27FC236}">
                <a16:creationId xmlns:a16="http://schemas.microsoft.com/office/drawing/2014/main" id="{848290CE-2D14-410E-A096-0C6BAACCFB1C}"/>
              </a:ext>
            </a:extLst>
          </p:cNvPr>
          <p:cNvSpPr>
            <a:spLocks noGrp="1"/>
          </p:cNvSpPr>
          <p:nvPr/>
        </p:nvSpPr>
        <p:spPr>
          <a:xfrm>
            <a:off x="10858500" y="6305550"/>
            <a:ext cx="514350" cy="247650"/>
          </a:xfrm>
          <a:prstGeom prst="rect">
            <a:avLst/>
          </a:prstGeom>
          <a:noFill/>
          <a:ln w="0">
            <a:noFill/>
            <a:prstDash val="solid"/>
          </a:ln>
        </p:spPr>
        <p:txBody>
          <a:bodyPr wrap="square" lIns="57150" tIns="38100" rIns="57150" bIns="38100" anchor="t">
            <a:normAutofit/>
          </a:bodyPr>
          <a:lstStyle/>
          <a:p>
            <a:pPr algn="r">
              <a:defRPr sz="1050" b="0">
                <a:solidFill>
                  <a:srgbClr val="536170"/>
                </a:solidFill>
                <a:latin typeface="Helvetica Neue"/>
                <a:ea typeface="Helvetica Neue"/>
                <a:cs typeface="Helvetica Neue"/>
              </a:defRPr>
            </a:pPr>
            <a:r>
              <a:rPr sz="1050" b="0">
                <a:solidFill>
                  <a:srgbClr val="536170"/>
                </a:solidFill>
                <a:latin typeface="Helvetica Neue"/>
                <a:ea typeface="Helvetica Neue"/>
                <a:cs typeface="Helvetica Neue"/>
              </a:rPr>
              <a:t>06</a:t>
            </a:r>
          </a:p>
        </p:txBody>
      </p:sp>
      <p:sp>
        <p:nvSpPr>
          <p:cNvPr id="5" name="q2-context-panel">
            <a:extLst>
              <a:ext uri="{FF2B5EF4-FFF2-40B4-BE49-F238E27FC236}">
                <a16:creationId xmlns:a16="http://schemas.microsoft.com/office/drawing/2014/main" id="{7FDB5947-21E5-421A-A2F9-D5701A49937C}"/>
              </a:ext>
            </a:extLst>
          </p:cNvPr>
          <p:cNvSpPr>
            <a:spLocks noGrp="1"/>
          </p:cNvSpPr>
          <p:nvPr/>
        </p:nvSpPr>
        <p:spPr>
          <a:xfrm>
            <a:off x="685800" y="2381250"/>
            <a:ext cx="10820400" cy="2590800"/>
          </a:xfrm>
          <a:prstGeom prst="roundRect">
            <a:avLst>
              <a:gd name="adj" fmla="val 2941"/>
            </a:avLst>
          </a:prstGeom>
          <a:solidFill>
            <a:srgbClr val="F4F7F9"/>
          </a:solidFill>
          <a:ln w="9525">
            <a:solidFill>
              <a:srgbClr val="B9C7D1"/>
            </a:solidFill>
            <a:prstDash val="solid"/>
          </a:ln>
        </p:spPr>
        <p:txBody>
          <a:bodyPr/>
          <a:lstStyle/>
          <a:p>
            <a:endParaRPr lang="en-US"/>
          </a:p>
        </p:txBody>
      </p:sp>
      <p:sp>
        <p:nvSpPr>
          <p:cNvPr id="6" name="q2-context-label">
            <a:extLst>
              <a:ext uri="{FF2B5EF4-FFF2-40B4-BE49-F238E27FC236}">
                <a16:creationId xmlns:a16="http://schemas.microsoft.com/office/drawing/2014/main" id="{007BE4AB-7EF0-45E7-83D6-AEA176B520EC}"/>
              </a:ext>
            </a:extLst>
          </p:cNvPr>
          <p:cNvSpPr>
            <a:spLocks noGrp="1"/>
          </p:cNvSpPr>
          <p:nvPr/>
        </p:nvSpPr>
        <p:spPr>
          <a:xfrm>
            <a:off x="952500" y="2609850"/>
            <a:ext cx="2857500" cy="342900"/>
          </a:xfrm>
          <a:prstGeom prst="rect">
            <a:avLst/>
          </a:prstGeom>
          <a:noFill/>
          <a:ln w="0">
            <a:noFill/>
            <a:prstDash val="solid"/>
          </a:ln>
        </p:spPr>
        <p:txBody>
          <a:bodyPr wrap="square" lIns="57150" tIns="38100" rIns="57150" bIns="38100" anchor="t">
            <a:normAutofit/>
          </a:bodyPr>
          <a:lstStyle/>
          <a:p>
            <a:pPr algn="l">
              <a:defRPr sz="1500" b="1">
                <a:solidFill>
                  <a:srgbClr val="236AA3"/>
                </a:solidFill>
                <a:latin typeface="Helvetica Neue"/>
                <a:ea typeface="Helvetica Neue"/>
                <a:cs typeface="Helvetica Neue"/>
              </a:defRPr>
            </a:pPr>
            <a:r>
              <a:rPr sz="1500" b="1">
                <a:solidFill>
                  <a:srgbClr val="236AA3"/>
                </a:solidFill>
                <a:latin typeface="Helvetica Neue"/>
                <a:ea typeface="Helvetica Neue"/>
                <a:cs typeface="Helvetica Neue"/>
              </a:rPr>
              <a:t>Helpful context</a:t>
            </a:r>
          </a:p>
        </p:txBody>
      </p:sp>
      <p:sp>
        <p:nvSpPr>
          <p:cNvPr id="7" name="q2-bullet-0">
            <a:extLst>
              <a:ext uri="{FF2B5EF4-FFF2-40B4-BE49-F238E27FC236}">
                <a16:creationId xmlns:a16="http://schemas.microsoft.com/office/drawing/2014/main" id="{81295D66-C494-4A1E-840D-C885B5FF78ED}"/>
              </a:ext>
            </a:extLst>
          </p:cNvPr>
          <p:cNvSpPr>
            <a:spLocks noGrp="1"/>
          </p:cNvSpPr>
          <p:nvPr/>
        </p:nvSpPr>
        <p:spPr>
          <a:xfrm>
            <a:off x="1028700" y="3162300"/>
            <a:ext cx="9696450" cy="400050"/>
          </a:xfrm>
          <a:prstGeom prst="rect">
            <a:avLst/>
          </a:prstGeom>
          <a:noFill/>
          <a:ln w="0">
            <a:noFill/>
            <a:prstDash val="solid"/>
          </a:ln>
        </p:spPr>
        <p:txBody>
          <a:bodyPr wrap="square" lIns="57150" tIns="38100" rIns="57150" bIns="38100" anchor="t">
            <a:normAutofit/>
          </a:bodyPr>
          <a:lstStyle/>
          <a:p>
            <a:pPr algn="l">
              <a:defRPr sz="1875" b="0">
                <a:solidFill>
                  <a:srgbClr val="17212B"/>
                </a:solidFill>
                <a:latin typeface="Helvetica Neue"/>
                <a:ea typeface="Helvetica Neue"/>
                <a:cs typeface="Helvetica Neue"/>
              </a:defRPr>
            </a:pPr>
            <a:r>
              <a:rPr sz="1875" b="0">
                <a:solidFill>
                  <a:srgbClr val="17212B"/>
                </a:solidFill>
                <a:latin typeface="Helvetica Neue"/>
                <a:ea typeface="Helvetica Neue"/>
                <a:cs typeface="Helvetica Neue"/>
              </a:rPr>
              <a:t>•  Promise of the Holy Spirit</a:t>
            </a:r>
          </a:p>
        </p:txBody>
      </p:sp>
      <p:sp>
        <p:nvSpPr>
          <p:cNvPr id="8" name="q2-bullet-1">
            <a:extLst>
              <a:ext uri="{FF2B5EF4-FFF2-40B4-BE49-F238E27FC236}">
                <a16:creationId xmlns:a16="http://schemas.microsoft.com/office/drawing/2014/main" id="{9B64D553-FD9C-4248-A7F8-BC5E2F147071}"/>
              </a:ext>
            </a:extLst>
          </p:cNvPr>
          <p:cNvSpPr>
            <a:spLocks noGrp="1"/>
          </p:cNvSpPr>
          <p:nvPr/>
        </p:nvSpPr>
        <p:spPr>
          <a:xfrm>
            <a:off x="1028700" y="3714750"/>
            <a:ext cx="9696450" cy="400050"/>
          </a:xfrm>
          <a:prstGeom prst="rect">
            <a:avLst/>
          </a:prstGeom>
          <a:noFill/>
          <a:ln w="0">
            <a:noFill/>
            <a:prstDash val="solid"/>
          </a:ln>
        </p:spPr>
        <p:txBody>
          <a:bodyPr wrap="square" lIns="57150" tIns="38100" rIns="57150" bIns="38100" anchor="t">
            <a:normAutofit/>
          </a:bodyPr>
          <a:lstStyle/>
          <a:p>
            <a:pPr algn="l">
              <a:defRPr sz="1875" b="0">
                <a:solidFill>
                  <a:srgbClr val="17212B"/>
                </a:solidFill>
                <a:latin typeface="Helvetica Neue"/>
                <a:ea typeface="Helvetica Neue"/>
                <a:cs typeface="Helvetica Neue"/>
              </a:defRPr>
            </a:pPr>
            <a:r>
              <a:rPr sz="1875" b="0">
                <a:solidFill>
                  <a:srgbClr val="17212B"/>
                </a:solidFill>
                <a:latin typeface="Helvetica Neue"/>
                <a:ea typeface="Helvetica Neue"/>
                <a:cs typeface="Helvetica Neue"/>
              </a:rPr>
              <a:t>•  Commission to be witnesses</a:t>
            </a:r>
          </a:p>
        </p:txBody>
      </p:sp>
      <p:sp>
        <p:nvSpPr>
          <p:cNvPr id="9" name="q2-bullet-2">
            <a:extLst>
              <a:ext uri="{FF2B5EF4-FFF2-40B4-BE49-F238E27FC236}">
                <a16:creationId xmlns:a16="http://schemas.microsoft.com/office/drawing/2014/main" id="{7F037AC4-590F-4CFA-841C-5137813E1F6C}"/>
              </a:ext>
            </a:extLst>
          </p:cNvPr>
          <p:cNvSpPr>
            <a:spLocks noGrp="1"/>
          </p:cNvSpPr>
          <p:nvPr/>
        </p:nvSpPr>
        <p:spPr>
          <a:xfrm>
            <a:off x="1028700" y="4267200"/>
            <a:ext cx="9696450" cy="400050"/>
          </a:xfrm>
          <a:prstGeom prst="rect">
            <a:avLst/>
          </a:prstGeom>
          <a:noFill/>
          <a:ln w="0">
            <a:noFill/>
            <a:prstDash val="solid"/>
          </a:ln>
        </p:spPr>
        <p:txBody>
          <a:bodyPr wrap="square" lIns="57150" tIns="38100" rIns="57150" bIns="38100" anchor="t">
            <a:normAutofit/>
          </a:bodyPr>
          <a:lstStyle/>
          <a:p>
            <a:pPr algn="l">
              <a:defRPr sz="1875" b="0">
                <a:solidFill>
                  <a:srgbClr val="17212B"/>
                </a:solidFill>
                <a:latin typeface="Helvetica Neue"/>
                <a:ea typeface="Helvetica Neue"/>
                <a:cs typeface="Helvetica Neue"/>
              </a:defRPr>
            </a:pPr>
            <a:r>
              <a:rPr sz="1875" b="0">
                <a:solidFill>
                  <a:srgbClr val="17212B"/>
                </a:solidFill>
                <a:latin typeface="Helvetica Neue"/>
                <a:ea typeface="Helvetica Neue"/>
                <a:cs typeface="Helvetica Neue"/>
              </a:rPr>
              <a:t>•  A community prepared for mission</a:t>
            </a:r>
          </a:p>
        </p:txBody>
      </p:sp>
      <p:sp>
        <p:nvSpPr>
          <p:cNvPr id="10" name="q2-discussion">
            <a:extLst>
              <a:ext uri="{FF2B5EF4-FFF2-40B4-BE49-F238E27FC236}">
                <a16:creationId xmlns:a16="http://schemas.microsoft.com/office/drawing/2014/main" id="{83E7A83F-410E-4EC8-A5E4-2296291BF72D}"/>
              </a:ext>
            </a:extLst>
          </p:cNvPr>
          <p:cNvSpPr>
            <a:spLocks noGrp="1"/>
          </p:cNvSpPr>
          <p:nvPr/>
        </p:nvSpPr>
        <p:spPr>
          <a:xfrm>
            <a:off x="723900" y="5476875"/>
            <a:ext cx="8572500" cy="361950"/>
          </a:xfrm>
          <a:prstGeom prst="rect">
            <a:avLst/>
          </a:prstGeom>
          <a:noFill/>
          <a:ln w="0">
            <a:noFill/>
            <a:prstDash val="solid"/>
          </a:ln>
        </p:spPr>
        <p:txBody>
          <a:bodyPr wrap="square" lIns="57150" tIns="38100" rIns="57150" bIns="38100" anchor="t">
            <a:normAutofit/>
          </a:bodyPr>
          <a:lstStyle/>
          <a:p>
            <a:pPr algn="l">
              <a:defRPr sz="1350" b="0">
                <a:solidFill>
                  <a:srgbClr val="536170"/>
                </a:solidFill>
                <a:latin typeface="Helvetica Neue"/>
                <a:ea typeface="Helvetica Neue"/>
                <a:cs typeface="Helvetica Neue"/>
              </a:defRPr>
            </a:pPr>
            <a:r>
              <a:rPr sz="1350" b="0">
                <a:solidFill>
                  <a:srgbClr val="536170"/>
                </a:solidFill>
                <a:latin typeface="Helvetica Neue"/>
                <a:ea typeface="Helvetica Neue"/>
                <a:cs typeface="Helvetica Neue"/>
              </a:rPr>
              <a:t>Discuss before revealing the suggested response</a:t>
            </a:r>
          </a:p>
        </p:txBody>
      </p:sp>
    </p:spTree>
    <p:extLst>
      <p:ext uri="{BB962C8B-B14F-4D97-AF65-F5344CB8AC3E}">
        <p14:creationId xmlns:p14="http://schemas.microsoft.com/office/powerpoint/2010/main" val="20621435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q2-answer-panel">
            <a:extLst>
              <a:ext uri="{FF2B5EF4-FFF2-40B4-BE49-F238E27FC236}">
                <a16:creationId xmlns:a16="http://schemas.microsoft.com/office/drawing/2014/main" id="{D7968B2D-B63D-4155-A05C-E9A1A823F57D}"/>
              </a:ext>
            </a:extLst>
          </p:cNvPr>
          <p:cNvSpPr>
            <a:spLocks noGrp="1"/>
          </p:cNvSpPr>
          <p:nvPr/>
        </p:nvSpPr>
        <p:spPr>
          <a:xfrm>
            <a:off x="685800" y="2209800"/>
            <a:ext cx="10820400" cy="3333750"/>
          </a:xfrm>
          <a:prstGeom prst="roundRect">
            <a:avLst>
              <a:gd name="adj" fmla="val 2286"/>
            </a:avLst>
          </a:prstGeom>
          <a:solidFill>
            <a:srgbClr val="EAF3F9"/>
          </a:solidFill>
          <a:ln w="9525">
            <a:solidFill>
              <a:srgbClr val="B9C7D1"/>
            </a:solidFill>
            <a:prstDash val="solid"/>
          </a:ln>
        </p:spPr>
        <p:txBody>
          <a:bodyPr/>
          <a:lstStyle/>
          <a:p>
            <a:endParaRPr lang="en-US"/>
          </a:p>
        </p:txBody>
      </p:sp>
      <p:sp>
        <p:nvSpPr>
          <p:cNvPr id="2" name="q2-answer-label">
            <a:extLst>
              <a:ext uri="{FF2B5EF4-FFF2-40B4-BE49-F238E27FC236}">
                <a16:creationId xmlns:a16="http://schemas.microsoft.com/office/drawing/2014/main" id="{19FA9373-FC78-4803-A7BE-214F04C02730}"/>
              </a:ext>
            </a:extLst>
          </p:cNvPr>
          <p:cNvSpPr>
            <a:spLocks noGrp="1"/>
          </p:cNvSpPr>
          <p:nvPr/>
        </p:nvSpPr>
        <p:spPr>
          <a:xfrm>
            <a:off x="971550" y="2438400"/>
            <a:ext cx="3429000" cy="381000"/>
          </a:xfrm>
          <a:prstGeom prst="rect">
            <a:avLst/>
          </a:prstGeom>
          <a:noFill/>
          <a:ln w="0">
            <a:noFill/>
            <a:prstDash val="solid"/>
          </a:ln>
        </p:spPr>
        <p:txBody>
          <a:bodyPr wrap="square" lIns="57150" tIns="38100" rIns="57150" bIns="38100" anchor="t">
            <a:normAutofit/>
          </a:bodyPr>
          <a:lstStyle/>
          <a:p>
            <a:pPr algn="l">
              <a:defRPr sz="1650" b="1">
                <a:solidFill>
                  <a:srgbClr val="236AA3"/>
                </a:solidFill>
                <a:latin typeface="Helvetica Neue"/>
                <a:ea typeface="Helvetica Neue"/>
                <a:cs typeface="Helvetica Neue"/>
              </a:defRPr>
            </a:pPr>
            <a:r>
              <a:rPr sz="1650" b="1">
                <a:solidFill>
                  <a:srgbClr val="236AA3"/>
                </a:solidFill>
                <a:latin typeface="Helvetica Neue"/>
                <a:ea typeface="Helvetica Neue"/>
                <a:cs typeface="Helvetica Neue"/>
              </a:rPr>
              <a:t>Suggested response</a:t>
            </a:r>
          </a:p>
        </p:txBody>
      </p:sp>
      <p:sp>
        <p:nvSpPr>
          <p:cNvPr id="3" name="q2-answer-0">
            <a:extLst>
              <a:ext uri="{FF2B5EF4-FFF2-40B4-BE49-F238E27FC236}">
                <a16:creationId xmlns:a16="http://schemas.microsoft.com/office/drawing/2014/main" id="{E444CFEE-132A-4A2D-8F0D-C2C1FD7A95E1}"/>
              </a:ext>
            </a:extLst>
          </p:cNvPr>
          <p:cNvSpPr>
            <a:spLocks noGrp="1"/>
          </p:cNvSpPr>
          <p:nvPr/>
        </p:nvSpPr>
        <p:spPr>
          <a:xfrm>
            <a:off x="1047750" y="3048000"/>
            <a:ext cx="9810750" cy="552450"/>
          </a:xfrm>
          <a:prstGeom prst="rect">
            <a:avLst/>
          </a:prstGeom>
          <a:noFill/>
          <a:ln w="0">
            <a:noFill/>
            <a:prstDash val="solid"/>
          </a:ln>
        </p:spPr>
        <p:txBody>
          <a:bodyPr wrap="square" lIns="57150" tIns="38100" rIns="57150" bIns="38100" anchor="t">
            <a:normAutofit/>
          </a:bodyPr>
          <a:lstStyle/>
          <a:p>
            <a:pPr algn="l">
              <a:defRPr sz="1875" b="0">
                <a:solidFill>
                  <a:srgbClr val="17212B"/>
                </a:solidFill>
                <a:latin typeface="Helvetica Neue"/>
                <a:ea typeface="Helvetica Neue"/>
                <a:cs typeface="Helvetica Neue"/>
              </a:defRPr>
            </a:pPr>
            <a:r>
              <a:rPr sz="1875" b="0">
                <a:solidFill>
                  <a:srgbClr val="17212B"/>
                </a:solidFill>
                <a:latin typeface="Helvetica Neue"/>
                <a:ea typeface="Helvetica Neue"/>
                <a:cs typeface="Helvetica Neue"/>
              </a:rPr>
              <a:t>•  Jesus defines the mission: bear witness to Him</a:t>
            </a:r>
          </a:p>
        </p:txBody>
      </p:sp>
      <p:sp>
        <p:nvSpPr>
          <p:cNvPr id="4" name="q2-answer-1">
            <a:extLst>
              <a:ext uri="{FF2B5EF4-FFF2-40B4-BE49-F238E27FC236}">
                <a16:creationId xmlns:a16="http://schemas.microsoft.com/office/drawing/2014/main" id="{750D24D2-198B-4CBC-9E4B-DC5353645205}"/>
              </a:ext>
            </a:extLst>
          </p:cNvPr>
          <p:cNvSpPr>
            <a:spLocks noGrp="1"/>
          </p:cNvSpPr>
          <p:nvPr/>
        </p:nvSpPr>
        <p:spPr>
          <a:xfrm>
            <a:off x="1047750" y="3771900"/>
            <a:ext cx="9810750" cy="552450"/>
          </a:xfrm>
          <a:prstGeom prst="rect">
            <a:avLst/>
          </a:prstGeom>
          <a:noFill/>
          <a:ln w="0">
            <a:noFill/>
            <a:prstDash val="solid"/>
          </a:ln>
        </p:spPr>
        <p:txBody>
          <a:bodyPr wrap="square" lIns="57150" tIns="38100" rIns="57150" bIns="38100" anchor="t">
            <a:normAutofit/>
          </a:bodyPr>
          <a:lstStyle/>
          <a:p>
            <a:pPr algn="l">
              <a:defRPr sz="1875" b="0">
                <a:solidFill>
                  <a:srgbClr val="17212B"/>
                </a:solidFill>
                <a:latin typeface="Helvetica Neue"/>
                <a:ea typeface="Helvetica Neue"/>
                <a:cs typeface="Helvetica Neue"/>
              </a:defRPr>
            </a:pPr>
            <a:r>
              <a:rPr sz="1875" b="0">
                <a:solidFill>
                  <a:srgbClr val="17212B"/>
                </a:solidFill>
                <a:latin typeface="Helvetica Neue"/>
                <a:ea typeface="Helvetica Neue"/>
                <a:cs typeface="Helvetica Neue"/>
              </a:rPr>
              <a:t>•  The Spirit will supply the power</a:t>
            </a:r>
          </a:p>
        </p:txBody>
      </p:sp>
      <p:sp>
        <p:nvSpPr>
          <p:cNvPr id="5" name="q2-answer-2">
            <a:extLst>
              <a:ext uri="{FF2B5EF4-FFF2-40B4-BE49-F238E27FC236}">
                <a16:creationId xmlns:a16="http://schemas.microsoft.com/office/drawing/2014/main" id="{405FA9B9-8C08-49B4-9B86-213E95B59318}"/>
              </a:ext>
            </a:extLst>
          </p:cNvPr>
          <p:cNvSpPr>
            <a:spLocks noGrp="1"/>
          </p:cNvSpPr>
          <p:nvPr/>
        </p:nvSpPr>
        <p:spPr>
          <a:xfrm>
            <a:off x="1047750" y="4495800"/>
            <a:ext cx="9810750" cy="552450"/>
          </a:xfrm>
          <a:prstGeom prst="rect">
            <a:avLst/>
          </a:prstGeom>
          <a:noFill/>
          <a:ln w="0">
            <a:noFill/>
            <a:prstDash val="solid"/>
          </a:ln>
        </p:spPr>
        <p:txBody>
          <a:bodyPr wrap="square" lIns="57150" tIns="38100" rIns="57150" bIns="38100" anchor="t">
            <a:normAutofit/>
          </a:bodyPr>
          <a:lstStyle/>
          <a:p>
            <a:pPr algn="l">
              <a:defRPr sz="1875" b="0">
                <a:solidFill>
                  <a:srgbClr val="17212B"/>
                </a:solidFill>
                <a:latin typeface="Helvetica Neue"/>
                <a:ea typeface="Helvetica Neue"/>
                <a:cs typeface="Helvetica Neue"/>
              </a:defRPr>
            </a:pPr>
            <a:r>
              <a:rPr sz="1875" b="0">
                <a:solidFill>
                  <a:srgbClr val="17212B"/>
                </a:solidFill>
                <a:latin typeface="Helvetica Neue"/>
                <a:ea typeface="Helvetica Neue"/>
                <a:cs typeface="Helvetica Neue"/>
              </a:rPr>
              <a:t>•  The disciples wait, pray, and prepare together</a:t>
            </a:r>
          </a:p>
        </p:txBody>
      </p:sp>
      <p:sp>
        <p:nvSpPr>
          <p:cNvPr id="6" name="eyebrow-7">
            <a:extLst>
              <a:ext uri="{FF2B5EF4-FFF2-40B4-BE49-F238E27FC236}">
                <a16:creationId xmlns:a16="http://schemas.microsoft.com/office/drawing/2014/main" id="{3197488A-1922-4543-8A7A-D5CA868052D9}"/>
              </a:ext>
            </a:extLst>
          </p:cNvPr>
          <p:cNvSpPr>
            <a:spLocks noGrp="1"/>
          </p:cNvSpPr>
          <p:nvPr/>
        </p:nvSpPr>
        <p:spPr>
          <a:xfrm>
            <a:off x="552450" y="323850"/>
            <a:ext cx="3238500" cy="285750"/>
          </a:xfrm>
          <a:prstGeom prst="rect">
            <a:avLst/>
          </a:prstGeom>
          <a:noFill/>
          <a:ln w="0">
            <a:noFill/>
            <a:prstDash val="solid"/>
          </a:ln>
        </p:spPr>
        <p:txBody>
          <a:bodyPr wrap="square" lIns="57150" tIns="38100" rIns="57150" bIns="38100" anchor="t">
            <a:normAutofit/>
          </a:bodyPr>
          <a:lstStyle/>
          <a:p>
            <a:pPr algn="l">
              <a:defRPr sz="1125" b="1">
                <a:solidFill>
                  <a:srgbClr val="C99535"/>
                </a:solidFill>
                <a:latin typeface="Helvetica Neue"/>
                <a:ea typeface="Helvetica Neue"/>
                <a:cs typeface="Helvetica Neue"/>
              </a:defRPr>
            </a:pPr>
            <a:r>
              <a:rPr sz="1125" b="1">
                <a:solidFill>
                  <a:srgbClr val="C99535"/>
                </a:solidFill>
                <a:latin typeface="Helvetica Neue"/>
                <a:ea typeface="Helvetica Neue"/>
                <a:cs typeface="Helvetica Neue"/>
              </a:rPr>
              <a:t>QUESTION 2 — SUGGESTED RESPONSE</a:t>
            </a:r>
          </a:p>
        </p:txBody>
      </p:sp>
      <p:sp>
        <p:nvSpPr>
          <p:cNvPr id="7" name="title-7">
            <a:extLst>
              <a:ext uri="{FF2B5EF4-FFF2-40B4-BE49-F238E27FC236}">
                <a16:creationId xmlns:a16="http://schemas.microsoft.com/office/drawing/2014/main" id="{7AD8B374-5C3A-4AE3-B1C0-A2EAC50AEC3E}"/>
              </a:ext>
            </a:extLst>
          </p:cNvPr>
          <p:cNvSpPr>
            <a:spLocks noGrp="1"/>
          </p:cNvSpPr>
          <p:nvPr/>
        </p:nvSpPr>
        <p:spPr>
          <a:xfrm>
            <a:off x="552450" y="704850"/>
            <a:ext cx="10810875" cy="914400"/>
          </a:xfrm>
          <a:prstGeom prst="rect">
            <a:avLst/>
          </a:prstGeom>
          <a:noFill/>
          <a:ln w="0">
            <a:noFill/>
            <a:prstDash val="solid"/>
          </a:ln>
        </p:spPr>
        <p:txBody>
          <a:bodyPr wrap="square" lIns="57150" tIns="38100" rIns="57150" bIns="38100" anchor="t">
            <a:normAutofit fontScale="91667"/>
          </a:bodyPr>
          <a:lstStyle/>
          <a:p>
            <a:pPr algn="l">
              <a:defRPr sz="3000" b="1">
                <a:solidFill>
                  <a:srgbClr val="17212B"/>
                </a:solidFill>
                <a:latin typeface="Helvetica Neue"/>
                <a:ea typeface="Helvetica Neue"/>
                <a:cs typeface="Helvetica Neue"/>
              </a:defRPr>
            </a:pPr>
            <a:r>
              <a:rPr sz="3000" b="1">
                <a:solidFill>
                  <a:srgbClr val="17212B"/>
                </a:solidFill>
                <a:latin typeface="Helvetica Neue"/>
                <a:ea typeface="Helvetica Neue"/>
                <a:cs typeface="Helvetica Neue"/>
              </a:rPr>
              <a:t>If Acts tells how the church began to fulfill its mission through the Holy Spirit, how does 1:1–26 relate to this theme?</a:t>
            </a:r>
          </a:p>
        </p:txBody>
      </p:sp>
      <p:sp>
        <p:nvSpPr>
          <p:cNvPr id="8" name="rule-7">
            <a:extLst>
              <a:ext uri="{FF2B5EF4-FFF2-40B4-BE49-F238E27FC236}">
                <a16:creationId xmlns:a16="http://schemas.microsoft.com/office/drawing/2014/main" id="{6B0A7718-2A05-4833-803F-18458F962BFD}"/>
              </a:ext>
            </a:extLst>
          </p:cNvPr>
          <p:cNvSpPr>
            <a:spLocks noGrp="1"/>
          </p:cNvSpPr>
          <p:nvPr/>
        </p:nvSpPr>
        <p:spPr>
          <a:xfrm>
            <a:off x="552450" y="1657350"/>
            <a:ext cx="10810875" cy="28575"/>
          </a:xfrm>
          <a:prstGeom prst="rect">
            <a:avLst/>
          </a:prstGeom>
          <a:solidFill>
            <a:srgbClr val="C99535"/>
          </a:solidFill>
          <a:ln w="0">
            <a:noFill/>
            <a:prstDash val="solid"/>
          </a:ln>
        </p:spPr>
        <p:txBody>
          <a:bodyPr/>
          <a:lstStyle/>
          <a:p>
            <a:endParaRPr lang="en-US"/>
          </a:p>
        </p:txBody>
      </p:sp>
      <p:sp>
        <p:nvSpPr>
          <p:cNvPr id="9" name="number-7">
            <a:extLst>
              <a:ext uri="{FF2B5EF4-FFF2-40B4-BE49-F238E27FC236}">
                <a16:creationId xmlns:a16="http://schemas.microsoft.com/office/drawing/2014/main" id="{24B39384-F4DF-4D4C-8C1A-FF493FBF15B4}"/>
              </a:ext>
            </a:extLst>
          </p:cNvPr>
          <p:cNvSpPr>
            <a:spLocks noGrp="1"/>
          </p:cNvSpPr>
          <p:nvPr/>
        </p:nvSpPr>
        <p:spPr>
          <a:xfrm>
            <a:off x="10858500" y="6305550"/>
            <a:ext cx="514350" cy="247650"/>
          </a:xfrm>
          <a:prstGeom prst="rect">
            <a:avLst/>
          </a:prstGeom>
          <a:noFill/>
          <a:ln w="0">
            <a:noFill/>
            <a:prstDash val="solid"/>
          </a:ln>
        </p:spPr>
        <p:txBody>
          <a:bodyPr wrap="square" lIns="57150" tIns="38100" rIns="57150" bIns="38100" anchor="t">
            <a:normAutofit/>
          </a:bodyPr>
          <a:lstStyle/>
          <a:p>
            <a:pPr algn="r">
              <a:defRPr sz="1050" b="0">
                <a:solidFill>
                  <a:srgbClr val="536170"/>
                </a:solidFill>
                <a:latin typeface="Helvetica Neue"/>
                <a:ea typeface="Helvetica Neue"/>
                <a:cs typeface="Helvetica Neue"/>
              </a:defRPr>
            </a:pPr>
            <a:r>
              <a:rPr sz="1050" b="0">
                <a:solidFill>
                  <a:srgbClr val="536170"/>
                </a:solidFill>
                <a:latin typeface="Helvetica Neue"/>
                <a:ea typeface="Helvetica Neue"/>
                <a:cs typeface="Helvetica Neue"/>
              </a:rPr>
              <a:t>07</a:t>
            </a:r>
          </a:p>
        </p:txBody>
      </p:sp>
    </p:spTree>
    <p:extLst>
      <p:ext uri="{BB962C8B-B14F-4D97-AF65-F5344CB8AC3E}">
        <p14:creationId xmlns:p14="http://schemas.microsoft.com/office/powerpoint/2010/main" val="2567247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eyebrow-8">
            <a:extLst>
              <a:ext uri="{FF2B5EF4-FFF2-40B4-BE49-F238E27FC236}">
                <a16:creationId xmlns:a16="http://schemas.microsoft.com/office/drawing/2014/main" id="{B5AED743-5225-46F0-A9EF-0F7D2E8E8DCF}"/>
              </a:ext>
            </a:extLst>
          </p:cNvPr>
          <p:cNvSpPr>
            <a:spLocks noGrp="1"/>
          </p:cNvSpPr>
          <p:nvPr/>
        </p:nvSpPr>
        <p:spPr>
          <a:xfrm>
            <a:off x="552450" y="323850"/>
            <a:ext cx="3238500" cy="285750"/>
          </a:xfrm>
          <a:prstGeom prst="rect">
            <a:avLst/>
          </a:prstGeom>
          <a:noFill/>
          <a:ln w="0">
            <a:noFill/>
            <a:prstDash val="solid"/>
          </a:ln>
        </p:spPr>
        <p:txBody>
          <a:bodyPr wrap="square" lIns="57150" tIns="38100" rIns="57150" bIns="38100" anchor="t">
            <a:normAutofit/>
          </a:bodyPr>
          <a:lstStyle/>
          <a:p>
            <a:pPr algn="l">
              <a:defRPr sz="1125" b="1">
                <a:solidFill>
                  <a:srgbClr val="236AA3"/>
                </a:solidFill>
                <a:latin typeface="Helvetica Neue"/>
                <a:ea typeface="Helvetica Neue"/>
                <a:cs typeface="Helvetica Neue"/>
              </a:defRPr>
            </a:pPr>
            <a:r>
              <a:rPr sz="1125" b="1">
                <a:solidFill>
                  <a:srgbClr val="236AA3"/>
                </a:solidFill>
                <a:latin typeface="Helvetica Neue"/>
                <a:ea typeface="Helvetica Neue"/>
                <a:cs typeface="Helvetica Neue"/>
              </a:rPr>
              <a:t>QUESTION 3</a:t>
            </a:r>
          </a:p>
        </p:txBody>
      </p:sp>
      <p:sp>
        <p:nvSpPr>
          <p:cNvPr id="2" name="title-8">
            <a:extLst>
              <a:ext uri="{FF2B5EF4-FFF2-40B4-BE49-F238E27FC236}">
                <a16:creationId xmlns:a16="http://schemas.microsoft.com/office/drawing/2014/main" id="{1577437B-3784-4C0B-A2B4-B7D4022BBBCD}"/>
              </a:ext>
            </a:extLst>
          </p:cNvPr>
          <p:cNvSpPr>
            <a:spLocks noGrp="1"/>
          </p:cNvSpPr>
          <p:nvPr/>
        </p:nvSpPr>
        <p:spPr>
          <a:xfrm>
            <a:off x="552450" y="704850"/>
            <a:ext cx="10810875" cy="914400"/>
          </a:xfrm>
          <a:prstGeom prst="rect">
            <a:avLst/>
          </a:prstGeom>
          <a:noFill/>
          <a:ln w="0">
            <a:noFill/>
            <a:prstDash val="solid"/>
          </a:ln>
        </p:spPr>
        <p:txBody>
          <a:bodyPr wrap="square" lIns="57150" tIns="38100" rIns="57150" bIns="38100" anchor="t">
            <a:normAutofit fontScale="91667"/>
          </a:bodyPr>
          <a:lstStyle/>
          <a:p>
            <a:pPr algn="l">
              <a:defRPr sz="3000" b="1">
                <a:solidFill>
                  <a:srgbClr val="17212B"/>
                </a:solidFill>
                <a:latin typeface="Helvetica Neue"/>
                <a:ea typeface="Helvetica Neue"/>
                <a:cs typeface="Helvetica Neue"/>
              </a:defRPr>
            </a:pPr>
            <a:r>
              <a:rPr sz="3000" b="1">
                <a:solidFill>
                  <a:srgbClr val="17212B"/>
                </a:solidFill>
                <a:latin typeface="Helvetica Neue"/>
                <a:ea typeface="Helvetica Neue"/>
                <a:cs typeface="Helvetica Neue"/>
              </a:rPr>
              <a:t>From Acts 1:2–5, what was apparently the purpose of the forty days Jesus spent with His disciples after the Resurrection?</a:t>
            </a:r>
          </a:p>
        </p:txBody>
      </p:sp>
      <p:sp>
        <p:nvSpPr>
          <p:cNvPr id="3" name="rule-8">
            <a:extLst>
              <a:ext uri="{FF2B5EF4-FFF2-40B4-BE49-F238E27FC236}">
                <a16:creationId xmlns:a16="http://schemas.microsoft.com/office/drawing/2014/main" id="{396C3F93-93BE-4064-8887-AF4974EF67B9}"/>
              </a:ext>
            </a:extLst>
          </p:cNvPr>
          <p:cNvSpPr>
            <a:spLocks noGrp="1"/>
          </p:cNvSpPr>
          <p:nvPr/>
        </p:nvSpPr>
        <p:spPr>
          <a:xfrm>
            <a:off x="552450" y="1657350"/>
            <a:ext cx="10810875" cy="28575"/>
          </a:xfrm>
          <a:prstGeom prst="rect">
            <a:avLst/>
          </a:prstGeom>
          <a:solidFill>
            <a:srgbClr val="236AA3"/>
          </a:solidFill>
          <a:ln w="0">
            <a:noFill/>
            <a:prstDash val="solid"/>
          </a:ln>
        </p:spPr>
        <p:txBody>
          <a:bodyPr/>
          <a:lstStyle/>
          <a:p>
            <a:endParaRPr lang="en-US"/>
          </a:p>
        </p:txBody>
      </p:sp>
      <p:sp>
        <p:nvSpPr>
          <p:cNvPr id="4" name="number-8">
            <a:extLst>
              <a:ext uri="{FF2B5EF4-FFF2-40B4-BE49-F238E27FC236}">
                <a16:creationId xmlns:a16="http://schemas.microsoft.com/office/drawing/2014/main" id="{09D701FF-CDD2-466D-ACB4-20A16C4A4ABA}"/>
              </a:ext>
            </a:extLst>
          </p:cNvPr>
          <p:cNvSpPr>
            <a:spLocks noGrp="1"/>
          </p:cNvSpPr>
          <p:nvPr/>
        </p:nvSpPr>
        <p:spPr>
          <a:xfrm>
            <a:off x="10858500" y="6305550"/>
            <a:ext cx="514350" cy="247650"/>
          </a:xfrm>
          <a:prstGeom prst="rect">
            <a:avLst/>
          </a:prstGeom>
          <a:noFill/>
          <a:ln w="0">
            <a:noFill/>
            <a:prstDash val="solid"/>
          </a:ln>
        </p:spPr>
        <p:txBody>
          <a:bodyPr wrap="square" lIns="57150" tIns="38100" rIns="57150" bIns="38100" anchor="t">
            <a:normAutofit/>
          </a:bodyPr>
          <a:lstStyle/>
          <a:p>
            <a:pPr algn="r">
              <a:defRPr sz="1050" b="0">
                <a:solidFill>
                  <a:srgbClr val="536170"/>
                </a:solidFill>
                <a:latin typeface="Helvetica Neue"/>
                <a:ea typeface="Helvetica Neue"/>
                <a:cs typeface="Helvetica Neue"/>
              </a:defRPr>
            </a:pPr>
            <a:r>
              <a:rPr sz="1050" b="0">
                <a:solidFill>
                  <a:srgbClr val="536170"/>
                </a:solidFill>
                <a:latin typeface="Helvetica Neue"/>
                <a:ea typeface="Helvetica Neue"/>
                <a:cs typeface="Helvetica Neue"/>
              </a:rPr>
              <a:t>08</a:t>
            </a:r>
          </a:p>
        </p:txBody>
      </p:sp>
      <p:sp>
        <p:nvSpPr>
          <p:cNvPr id="5" name="q3-context-panel">
            <a:extLst>
              <a:ext uri="{FF2B5EF4-FFF2-40B4-BE49-F238E27FC236}">
                <a16:creationId xmlns:a16="http://schemas.microsoft.com/office/drawing/2014/main" id="{AA72FA46-BE3A-4B4D-9D48-89A407C6B6D9}"/>
              </a:ext>
            </a:extLst>
          </p:cNvPr>
          <p:cNvSpPr>
            <a:spLocks noGrp="1"/>
          </p:cNvSpPr>
          <p:nvPr/>
        </p:nvSpPr>
        <p:spPr>
          <a:xfrm>
            <a:off x="685800" y="2381250"/>
            <a:ext cx="10820400" cy="2590800"/>
          </a:xfrm>
          <a:prstGeom prst="roundRect">
            <a:avLst>
              <a:gd name="adj" fmla="val 2941"/>
            </a:avLst>
          </a:prstGeom>
          <a:solidFill>
            <a:srgbClr val="F4F7F9"/>
          </a:solidFill>
          <a:ln w="9525">
            <a:solidFill>
              <a:srgbClr val="B9C7D1"/>
            </a:solidFill>
            <a:prstDash val="solid"/>
          </a:ln>
        </p:spPr>
        <p:txBody>
          <a:bodyPr/>
          <a:lstStyle/>
          <a:p>
            <a:endParaRPr lang="en-US"/>
          </a:p>
        </p:txBody>
      </p:sp>
      <p:sp>
        <p:nvSpPr>
          <p:cNvPr id="6" name="q3-context-label">
            <a:extLst>
              <a:ext uri="{FF2B5EF4-FFF2-40B4-BE49-F238E27FC236}">
                <a16:creationId xmlns:a16="http://schemas.microsoft.com/office/drawing/2014/main" id="{FBECB862-0A3E-4DFC-AF51-F825337302BF}"/>
              </a:ext>
            </a:extLst>
          </p:cNvPr>
          <p:cNvSpPr>
            <a:spLocks noGrp="1"/>
          </p:cNvSpPr>
          <p:nvPr/>
        </p:nvSpPr>
        <p:spPr>
          <a:xfrm>
            <a:off x="952500" y="2609850"/>
            <a:ext cx="2857500" cy="342900"/>
          </a:xfrm>
          <a:prstGeom prst="rect">
            <a:avLst/>
          </a:prstGeom>
          <a:noFill/>
          <a:ln w="0">
            <a:noFill/>
            <a:prstDash val="solid"/>
          </a:ln>
        </p:spPr>
        <p:txBody>
          <a:bodyPr wrap="square" lIns="57150" tIns="38100" rIns="57150" bIns="38100" anchor="t">
            <a:normAutofit/>
          </a:bodyPr>
          <a:lstStyle/>
          <a:p>
            <a:pPr algn="l">
              <a:defRPr sz="1500" b="1">
                <a:solidFill>
                  <a:srgbClr val="236AA3"/>
                </a:solidFill>
                <a:latin typeface="Helvetica Neue"/>
                <a:ea typeface="Helvetica Neue"/>
                <a:cs typeface="Helvetica Neue"/>
              </a:defRPr>
            </a:pPr>
            <a:r>
              <a:rPr sz="1500" b="1">
                <a:solidFill>
                  <a:srgbClr val="236AA3"/>
                </a:solidFill>
                <a:latin typeface="Helvetica Neue"/>
                <a:ea typeface="Helvetica Neue"/>
                <a:cs typeface="Helvetica Neue"/>
              </a:rPr>
              <a:t>Helpful context</a:t>
            </a:r>
          </a:p>
        </p:txBody>
      </p:sp>
      <p:sp>
        <p:nvSpPr>
          <p:cNvPr id="7" name="q3-bullet-0">
            <a:extLst>
              <a:ext uri="{FF2B5EF4-FFF2-40B4-BE49-F238E27FC236}">
                <a16:creationId xmlns:a16="http://schemas.microsoft.com/office/drawing/2014/main" id="{06A7B5E1-EF73-47C0-8CD6-5B4434024DDE}"/>
              </a:ext>
            </a:extLst>
          </p:cNvPr>
          <p:cNvSpPr>
            <a:spLocks noGrp="1"/>
          </p:cNvSpPr>
          <p:nvPr/>
        </p:nvSpPr>
        <p:spPr>
          <a:xfrm>
            <a:off x="1028700" y="3162300"/>
            <a:ext cx="9696450" cy="400050"/>
          </a:xfrm>
          <a:prstGeom prst="rect">
            <a:avLst/>
          </a:prstGeom>
          <a:noFill/>
          <a:ln w="0">
            <a:noFill/>
            <a:prstDash val="solid"/>
          </a:ln>
        </p:spPr>
        <p:txBody>
          <a:bodyPr wrap="square" lIns="57150" tIns="38100" rIns="57150" bIns="38100" anchor="t">
            <a:normAutofit/>
          </a:bodyPr>
          <a:lstStyle/>
          <a:p>
            <a:pPr algn="l">
              <a:defRPr sz="1875" b="0">
                <a:solidFill>
                  <a:srgbClr val="17212B"/>
                </a:solidFill>
                <a:latin typeface="Helvetica Neue"/>
                <a:ea typeface="Helvetica Neue"/>
                <a:cs typeface="Helvetica Neue"/>
              </a:defRPr>
            </a:pPr>
            <a:r>
              <a:rPr sz="1875" b="0">
                <a:solidFill>
                  <a:srgbClr val="17212B"/>
                </a:solidFill>
                <a:latin typeface="Helvetica Neue"/>
                <a:ea typeface="Helvetica Neue"/>
                <a:cs typeface="Helvetica Neue"/>
              </a:rPr>
              <a:t>•  Many convincing proofs</a:t>
            </a:r>
          </a:p>
        </p:txBody>
      </p:sp>
      <p:sp>
        <p:nvSpPr>
          <p:cNvPr id="8" name="q3-bullet-1">
            <a:extLst>
              <a:ext uri="{FF2B5EF4-FFF2-40B4-BE49-F238E27FC236}">
                <a16:creationId xmlns:a16="http://schemas.microsoft.com/office/drawing/2014/main" id="{952A78EC-7AAE-4425-9196-D4C765F8A896}"/>
              </a:ext>
            </a:extLst>
          </p:cNvPr>
          <p:cNvSpPr>
            <a:spLocks noGrp="1"/>
          </p:cNvSpPr>
          <p:nvPr/>
        </p:nvSpPr>
        <p:spPr>
          <a:xfrm>
            <a:off x="1028700" y="3714750"/>
            <a:ext cx="9696450" cy="400050"/>
          </a:xfrm>
          <a:prstGeom prst="rect">
            <a:avLst/>
          </a:prstGeom>
          <a:noFill/>
          <a:ln w="0">
            <a:noFill/>
            <a:prstDash val="solid"/>
          </a:ln>
        </p:spPr>
        <p:txBody>
          <a:bodyPr wrap="square" lIns="57150" tIns="38100" rIns="57150" bIns="38100" anchor="t">
            <a:normAutofit/>
          </a:bodyPr>
          <a:lstStyle/>
          <a:p>
            <a:pPr algn="l">
              <a:defRPr sz="1875" b="0">
                <a:solidFill>
                  <a:srgbClr val="17212B"/>
                </a:solidFill>
                <a:latin typeface="Helvetica Neue"/>
                <a:ea typeface="Helvetica Neue"/>
                <a:cs typeface="Helvetica Neue"/>
              </a:defRPr>
            </a:pPr>
            <a:r>
              <a:rPr sz="1875" b="0">
                <a:solidFill>
                  <a:srgbClr val="17212B"/>
                </a:solidFill>
                <a:latin typeface="Helvetica Neue"/>
                <a:ea typeface="Helvetica Neue"/>
                <a:cs typeface="Helvetica Neue"/>
              </a:rPr>
              <a:t>•  Teaching about the kingdom of God</a:t>
            </a:r>
          </a:p>
        </p:txBody>
      </p:sp>
      <p:sp>
        <p:nvSpPr>
          <p:cNvPr id="9" name="q3-bullet-2">
            <a:extLst>
              <a:ext uri="{FF2B5EF4-FFF2-40B4-BE49-F238E27FC236}">
                <a16:creationId xmlns:a16="http://schemas.microsoft.com/office/drawing/2014/main" id="{CEBC40D0-C0A0-45BF-916A-A322489CC33B}"/>
              </a:ext>
            </a:extLst>
          </p:cNvPr>
          <p:cNvSpPr>
            <a:spLocks noGrp="1"/>
          </p:cNvSpPr>
          <p:nvPr/>
        </p:nvSpPr>
        <p:spPr>
          <a:xfrm>
            <a:off x="1028700" y="4267200"/>
            <a:ext cx="9696450" cy="400050"/>
          </a:xfrm>
          <a:prstGeom prst="rect">
            <a:avLst/>
          </a:prstGeom>
          <a:noFill/>
          <a:ln w="0">
            <a:noFill/>
            <a:prstDash val="solid"/>
          </a:ln>
        </p:spPr>
        <p:txBody>
          <a:bodyPr wrap="square" lIns="57150" tIns="38100" rIns="57150" bIns="38100" anchor="t">
            <a:normAutofit/>
          </a:bodyPr>
          <a:lstStyle/>
          <a:p>
            <a:pPr algn="l">
              <a:defRPr sz="1875" b="0">
                <a:solidFill>
                  <a:srgbClr val="17212B"/>
                </a:solidFill>
                <a:latin typeface="Helvetica Neue"/>
                <a:ea typeface="Helvetica Neue"/>
                <a:cs typeface="Helvetica Neue"/>
              </a:defRPr>
            </a:pPr>
            <a:r>
              <a:rPr sz="1875" b="0">
                <a:solidFill>
                  <a:srgbClr val="17212B"/>
                </a:solidFill>
                <a:latin typeface="Helvetica Neue"/>
                <a:ea typeface="Helvetica Neue"/>
                <a:cs typeface="Helvetica Neue"/>
              </a:rPr>
              <a:t>•  Instructions to wait for the Spirit</a:t>
            </a:r>
          </a:p>
        </p:txBody>
      </p:sp>
      <p:sp>
        <p:nvSpPr>
          <p:cNvPr id="10" name="q3-discussion">
            <a:extLst>
              <a:ext uri="{FF2B5EF4-FFF2-40B4-BE49-F238E27FC236}">
                <a16:creationId xmlns:a16="http://schemas.microsoft.com/office/drawing/2014/main" id="{73178285-6EFE-4854-BE05-CDDC952BFE10}"/>
              </a:ext>
            </a:extLst>
          </p:cNvPr>
          <p:cNvSpPr>
            <a:spLocks noGrp="1"/>
          </p:cNvSpPr>
          <p:nvPr/>
        </p:nvSpPr>
        <p:spPr>
          <a:xfrm>
            <a:off x="723900" y="5476875"/>
            <a:ext cx="8572500" cy="361950"/>
          </a:xfrm>
          <a:prstGeom prst="rect">
            <a:avLst/>
          </a:prstGeom>
          <a:noFill/>
          <a:ln w="0">
            <a:noFill/>
            <a:prstDash val="solid"/>
          </a:ln>
        </p:spPr>
        <p:txBody>
          <a:bodyPr wrap="square" lIns="57150" tIns="38100" rIns="57150" bIns="38100" anchor="t">
            <a:normAutofit/>
          </a:bodyPr>
          <a:lstStyle/>
          <a:p>
            <a:pPr algn="l">
              <a:defRPr sz="1350" b="0">
                <a:solidFill>
                  <a:srgbClr val="536170"/>
                </a:solidFill>
                <a:latin typeface="Helvetica Neue"/>
                <a:ea typeface="Helvetica Neue"/>
                <a:cs typeface="Helvetica Neue"/>
              </a:defRPr>
            </a:pPr>
            <a:r>
              <a:rPr sz="1350" b="0">
                <a:solidFill>
                  <a:srgbClr val="536170"/>
                </a:solidFill>
                <a:latin typeface="Helvetica Neue"/>
                <a:ea typeface="Helvetica Neue"/>
                <a:cs typeface="Helvetica Neue"/>
              </a:rPr>
              <a:t>Discuss before revealing the suggested response</a:t>
            </a:r>
          </a:p>
        </p:txBody>
      </p:sp>
    </p:spTree>
    <p:extLst>
      <p:ext uri="{BB962C8B-B14F-4D97-AF65-F5344CB8AC3E}">
        <p14:creationId xmlns:p14="http://schemas.microsoft.com/office/powerpoint/2010/main" val="1235258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q3-answer-panel">
            <a:extLst>
              <a:ext uri="{FF2B5EF4-FFF2-40B4-BE49-F238E27FC236}">
                <a16:creationId xmlns:a16="http://schemas.microsoft.com/office/drawing/2014/main" id="{E148DB7B-EFDD-40B5-A4F1-807BBD3EA409}"/>
              </a:ext>
            </a:extLst>
          </p:cNvPr>
          <p:cNvSpPr>
            <a:spLocks noGrp="1"/>
          </p:cNvSpPr>
          <p:nvPr/>
        </p:nvSpPr>
        <p:spPr>
          <a:xfrm>
            <a:off x="685800" y="2209800"/>
            <a:ext cx="10820400" cy="3333750"/>
          </a:xfrm>
          <a:prstGeom prst="roundRect">
            <a:avLst>
              <a:gd name="adj" fmla="val 2286"/>
            </a:avLst>
          </a:prstGeom>
          <a:solidFill>
            <a:srgbClr val="EAF3F9"/>
          </a:solidFill>
          <a:ln w="9525">
            <a:solidFill>
              <a:srgbClr val="B9C7D1"/>
            </a:solidFill>
            <a:prstDash val="solid"/>
          </a:ln>
        </p:spPr>
        <p:txBody>
          <a:bodyPr/>
          <a:lstStyle/>
          <a:p>
            <a:endParaRPr lang="en-US"/>
          </a:p>
        </p:txBody>
      </p:sp>
      <p:sp>
        <p:nvSpPr>
          <p:cNvPr id="2" name="q3-answer-label">
            <a:extLst>
              <a:ext uri="{FF2B5EF4-FFF2-40B4-BE49-F238E27FC236}">
                <a16:creationId xmlns:a16="http://schemas.microsoft.com/office/drawing/2014/main" id="{618D08C7-1C8E-47C4-A2E1-5E1FD267B275}"/>
              </a:ext>
            </a:extLst>
          </p:cNvPr>
          <p:cNvSpPr>
            <a:spLocks noGrp="1"/>
          </p:cNvSpPr>
          <p:nvPr/>
        </p:nvSpPr>
        <p:spPr>
          <a:xfrm>
            <a:off x="971550" y="2438400"/>
            <a:ext cx="3429000" cy="381000"/>
          </a:xfrm>
          <a:prstGeom prst="rect">
            <a:avLst/>
          </a:prstGeom>
          <a:noFill/>
          <a:ln w="0">
            <a:noFill/>
            <a:prstDash val="solid"/>
          </a:ln>
        </p:spPr>
        <p:txBody>
          <a:bodyPr wrap="square" lIns="57150" tIns="38100" rIns="57150" bIns="38100" anchor="t">
            <a:normAutofit/>
          </a:bodyPr>
          <a:lstStyle/>
          <a:p>
            <a:pPr algn="l">
              <a:defRPr sz="1650" b="1">
                <a:solidFill>
                  <a:srgbClr val="236AA3"/>
                </a:solidFill>
                <a:latin typeface="Helvetica Neue"/>
                <a:ea typeface="Helvetica Neue"/>
                <a:cs typeface="Helvetica Neue"/>
              </a:defRPr>
            </a:pPr>
            <a:r>
              <a:rPr sz="1650" b="1">
                <a:solidFill>
                  <a:srgbClr val="236AA3"/>
                </a:solidFill>
                <a:latin typeface="Helvetica Neue"/>
                <a:ea typeface="Helvetica Neue"/>
                <a:cs typeface="Helvetica Neue"/>
              </a:rPr>
              <a:t>Suggested response</a:t>
            </a:r>
          </a:p>
        </p:txBody>
      </p:sp>
      <p:sp>
        <p:nvSpPr>
          <p:cNvPr id="3" name="q3-answer-0">
            <a:extLst>
              <a:ext uri="{FF2B5EF4-FFF2-40B4-BE49-F238E27FC236}">
                <a16:creationId xmlns:a16="http://schemas.microsoft.com/office/drawing/2014/main" id="{277A39C7-973A-41C2-A338-C0E318B08D65}"/>
              </a:ext>
            </a:extLst>
          </p:cNvPr>
          <p:cNvSpPr>
            <a:spLocks noGrp="1"/>
          </p:cNvSpPr>
          <p:nvPr/>
        </p:nvSpPr>
        <p:spPr>
          <a:xfrm>
            <a:off x="1047750" y="3048000"/>
            <a:ext cx="9810750" cy="552450"/>
          </a:xfrm>
          <a:prstGeom prst="rect">
            <a:avLst/>
          </a:prstGeom>
          <a:noFill/>
          <a:ln w="0">
            <a:noFill/>
            <a:prstDash val="solid"/>
          </a:ln>
        </p:spPr>
        <p:txBody>
          <a:bodyPr wrap="square" lIns="57150" tIns="38100" rIns="57150" bIns="38100" anchor="t">
            <a:normAutofit/>
          </a:bodyPr>
          <a:lstStyle/>
          <a:p>
            <a:pPr algn="l">
              <a:defRPr sz="1875" b="0">
                <a:solidFill>
                  <a:srgbClr val="17212B"/>
                </a:solidFill>
                <a:latin typeface="Helvetica Neue"/>
                <a:ea typeface="Helvetica Neue"/>
                <a:cs typeface="Helvetica Neue"/>
              </a:defRPr>
            </a:pPr>
            <a:r>
              <a:rPr sz="1875" b="0">
                <a:solidFill>
                  <a:srgbClr val="17212B"/>
                </a:solidFill>
                <a:latin typeface="Helvetica Neue"/>
                <a:ea typeface="Helvetica Neue"/>
                <a:cs typeface="Helvetica Neue"/>
              </a:rPr>
              <a:t>•  To establish the reality of His Resurrection</a:t>
            </a:r>
          </a:p>
        </p:txBody>
      </p:sp>
      <p:sp>
        <p:nvSpPr>
          <p:cNvPr id="4" name="q3-answer-1">
            <a:extLst>
              <a:ext uri="{FF2B5EF4-FFF2-40B4-BE49-F238E27FC236}">
                <a16:creationId xmlns:a16="http://schemas.microsoft.com/office/drawing/2014/main" id="{6649E109-8892-42A9-8A92-59C9872504CF}"/>
              </a:ext>
            </a:extLst>
          </p:cNvPr>
          <p:cNvSpPr>
            <a:spLocks noGrp="1"/>
          </p:cNvSpPr>
          <p:nvPr/>
        </p:nvSpPr>
        <p:spPr>
          <a:xfrm>
            <a:off x="1047750" y="3771900"/>
            <a:ext cx="9810750" cy="552450"/>
          </a:xfrm>
          <a:prstGeom prst="rect">
            <a:avLst/>
          </a:prstGeom>
          <a:noFill/>
          <a:ln w="0">
            <a:noFill/>
            <a:prstDash val="solid"/>
          </a:ln>
        </p:spPr>
        <p:txBody>
          <a:bodyPr wrap="square" lIns="57150" tIns="38100" rIns="57150" bIns="38100" anchor="t">
            <a:normAutofit/>
          </a:bodyPr>
          <a:lstStyle/>
          <a:p>
            <a:pPr algn="l">
              <a:defRPr sz="1875" b="0">
                <a:solidFill>
                  <a:srgbClr val="17212B"/>
                </a:solidFill>
                <a:latin typeface="Helvetica Neue"/>
                <a:ea typeface="Helvetica Neue"/>
                <a:cs typeface="Helvetica Neue"/>
              </a:defRPr>
            </a:pPr>
            <a:r>
              <a:rPr sz="1875" b="0">
                <a:solidFill>
                  <a:srgbClr val="17212B"/>
                </a:solidFill>
                <a:latin typeface="Helvetica Neue"/>
                <a:ea typeface="Helvetica Neue"/>
                <a:cs typeface="Helvetica Neue"/>
              </a:rPr>
              <a:t>•  To continue teaching about God’s kingdom</a:t>
            </a:r>
          </a:p>
        </p:txBody>
      </p:sp>
      <p:sp>
        <p:nvSpPr>
          <p:cNvPr id="5" name="q3-answer-2">
            <a:extLst>
              <a:ext uri="{FF2B5EF4-FFF2-40B4-BE49-F238E27FC236}">
                <a16:creationId xmlns:a16="http://schemas.microsoft.com/office/drawing/2014/main" id="{C6ED29A3-FFCF-450A-B628-4C1495512423}"/>
              </a:ext>
            </a:extLst>
          </p:cNvPr>
          <p:cNvSpPr>
            <a:spLocks noGrp="1"/>
          </p:cNvSpPr>
          <p:nvPr/>
        </p:nvSpPr>
        <p:spPr>
          <a:xfrm>
            <a:off x="1047750" y="4495800"/>
            <a:ext cx="9810750" cy="552450"/>
          </a:xfrm>
          <a:prstGeom prst="rect">
            <a:avLst/>
          </a:prstGeom>
          <a:noFill/>
          <a:ln w="0">
            <a:noFill/>
            <a:prstDash val="solid"/>
          </a:ln>
        </p:spPr>
        <p:txBody>
          <a:bodyPr wrap="square" lIns="57150" tIns="38100" rIns="57150" bIns="38100" anchor="t">
            <a:normAutofit/>
          </a:bodyPr>
          <a:lstStyle/>
          <a:p>
            <a:pPr algn="l">
              <a:defRPr sz="1875" b="0">
                <a:solidFill>
                  <a:srgbClr val="17212B"/>
                </a:solidFill>
                <a:latin typeface="Helvetica Neue"/>
                <a:ea typeface="Helvetica Neue"/>
                <a:cs typeface="Helvetica Neue"/>
              </a:defRPr>
            </a:pPr>
            <a:r>
              <a:rPr sz="1875" b="0">
                <a:solidFill>
                  <a:srgbClr val="17212B"/>
                </a:solidFill>
                <a:latin typeface="Helvetica Neue"/>
                <a:ea typeface="Helvetica Neue"/>
                <a:cs typeface="Helvetica Neue"/>
              </a:rPr>
              <a:t>•  To prepare them for Spirit-empowered witness</a:t>
            </a:r>
          </a:p>
        </p:txBody>
      </p:sp>
      <p:sp>
        <p:nvSpPr>
          <p:cNvPr id="6" name="eyebrow-9">
            <a:extLst>
              <a:ext uri="{FF2B5EF4-FFF2-40B4-BE49-F238E27FC236}">
                <a16:creationId xmlns:a16="http://schemas.microsoft.com/office/drawing/2014/main" id="{6E2E96EA-AA80-4950-AAC8-313300218C28}"/>
              </a:ext>
            </a:extLst>
          </p:cNvPr>
          <p:cNvSpPr>
            <a:spLocks noGrp="1"/>
          </p:cNvSpPr>
          <p:nvPr/>
        </p:nvSpPr>
        <p:spPr>
          <a:xfrm>
            <a:off x="552450" y="323850"/>
            <a:ext cx="3238500" cy="285750"/>
          </a:xfrm>
          <a:prstGeom prst="rect">
            <a:avLst/>
          </a:prstGeom>
          <a:noFill/>
          <a:ln w="0">
            <a:noFill/>
            <a:prstDash val="solid"/>
          </a:ln>
        </p:spPr>
        <p:txBody>
          <a:bodyPr wrap="square" lIns="57150" tIns="38100" rIns="57150" bIns="38100" anchor="t">
            <a:normAutofit/>
          </a:bodyPr>
          <a:lstStyle/>
          <a:p>
            <a:pPr algn="l">
              <a:defRPr sz="1125" b="1">
                <a:solidFill>
                  <a:srgbClr val="C99535"/>
                </a:solidFill>
                <a:latin typeface="Helvetica Neue"/>
                <a:ea typeface="Helvetica Neue"/>
                <a:cs typeface="Helvetica Neue"/>
              </a:defRPr>
            </a:pPr>
            <a:r>
              <a:rPr sz="1125" b="1">
                <a:solidFill>
                  <a:srgbClr val="C99535"/>
                </a:solidFill>
                <a:latin typeface="Helvetica Neue"/>
                <a:ea typeface="Helvetica Neue"/>
                <a:cs typeface="Helvetica Neue"/>
              </a:rPr>
              <a:t>QUESTION 3 — SUGGESTED RESPONSE</a:t>
            </a:r>
          </a:p>
        </p:txBody>
      </p:sp>
      <p:sp>
        <p:nvSpPr>
          <p:cNvPr id="7" name="title-9">
            <a:extLst>
              <a:ext uri="{FF2B5EF4-FFF2-40B4-BE49-F238E27FC236}">
                <a16:creationId xmlns:a16="http://schemas.microsoft.com/office/drawing/2014/main" id="{BB1232C4-829F-4E15-9369-59FE3D647C1A}"/>
              </a:ext>
            </a:extLst>
          </p:cNvPr>
          <p:cNvSpPr>
            <a:spLocks noGrp="1"/>
          </p:cNvSpPr>
          <p:nvPr/>
        </p:nvSpPr>
        <p:spPr>
          <a:xfrm>
            <a:off x="552450" y="704850"/>
            <a:ext cx="10810875" cy="914400"/>
          </a:xfrm>
          <a:prstGeom prst="rect">
            <a:avLst/>
          </a:prstGeom>
          <a:noFill/>
          <a:ln w="0">
            <a:noFill/>
            <a:prstDash val="solid"/>
          </a:ln>
        </p:spPr>
        <p:txBody>
          <a:bodyPr wrap="square" lIns="57150" tIns="38100" rIns="57150" bIns="38100" anchor="t">
            <a:normAutofit fontScale="91667"/>
          </a:bodyPr>
          <a:lstStyle/>
          <a:p>
            <a:pPr algn="l">
              <a:defRPr sz="3000" b="1">
                <a:solidFill>
                  <a:srgbClr val="17212B"/>
                </a:solidFill>
                <a:latin typeface="Helvetica Neue"/>
                <a:ea typeface="Helvetica Neue"/>
                <a:cs typeface="Helvetica Neue"/>
              </a:defRPr>
            </a:pPr>
            <a:r>
              <a:rPr sz="3000" b="1">
                <a:solidFill>
                  <a:srgbClr val="17212B"/>
                </a:solidFill>
                <a:latin typeface="Helvetica Neue"/>
                <a:ea typeface="Helvetica Neue"/>
                <a:cs typeface="Helvetica Neue"/>
              </a:rPr>
              <a:t>From Acts 1:2–5, what was apparently the purpose of the forty days Jesus spent with His disciples after the Resurrection?</a:t>
            </a:r>
          </a:p>
        </p:txBody>
      </p:sp>
      <p:sp>
        <p:nvSpPr>
          <p:cNvPr id="8" name="rule-9">
            <a:extLst>
              <a:ext uri="{FF2B5EF4-FFF2-40B4-BE49-F238E27FC236}">
                <a16:creationId xmlns:a16="http://schemas.microsoft.com/office/drawing/2014/main" id="{897F4764-8AFC-414A-8AF6-F020F85EFCFC}"/>
              </a:ext>
            </a:extLst>
          </p:cNvPr>
          <p:cNvSpPr>
            <a:spLocks noGrp="1"/>
          </p:cNvSpPr>
          <p:nvPr/>
        </p:nvSpPr>
        <p:spPr>
          <a:xfrm>
            <a:off x="552450" y="1657350"/>
            <a:ext cx="10810875" cy="28575"/>
          </a:xfrm>
          <a:prstGeom prst="rect">
            <a:avLst/>
          </a:prstGeom>
          <a:solidFill>
            <a:srgbClr val="C99535"/>
          </a:solidFill>
          <a:ln w="0">
            <a:noFill/>
            <a:prstDash val="solid"/>
          </a:ln>
        </p:spPr>
        <p:txBody>
          <a:bodyPr/>
          <a:lstStyle/>
          <a:p>
            <a:endParaRPr lang="en-US"/>
          </a:p>
        </p:txBody>
      </p:sp>
      <p:sp>
        <p:nvSpPr>
          <p:cNvPr id="9" name="number-9">
            <a:extLst>
              <a:ext uri="{FF2B5EF4-FFF2-40B4-BE49-F238E27FC236}">
                <a16:creationId xmlns:a16="http://schemas.microsoft.com/office/drawing/2014/main" id="{6EEDE204-1FAC-42F7-9480-BCD4C11D8E1D}"/>
              </a:ext>
            </a:extLst>
          </p:cNvPr>
          <p:cNvSpPr>
            <a:spLocks noGrp="1"/>
          </p:cNvSpPr>
          <p:nvPr/>
        </p:nvSpPr>
        <p:spPr>
          <a:xfrm>
            <a:off x="10858500" y="6305550"/>
            <a:ext cx="514350" cy="247650"/>
          </a:xfrm>
          <a:prstGeom prst="rect">
            <a:avLst/>
          </a:prstGeom>
          <a:noFill/>
          <a:ln w="0">
            <a:noFill/>
            <a:prstDash val="solid"/>
          </a:ln>
        </p:spPr>
        <p:txBody>
          <a:bodyPr wrap="square" lIns="57150" tIns="38100" rIns="57150" bIns="38100" anchor="t">
            <a:normAutofit/>
          </a:bodyPr>
          <a:lstStyle/>
          <a:p>
            <a:pPr algn="r">
              <a:defRPr sz="1050" b="0">
                <a:solidFill>
                  <a:srgbClr val="536170"/>
                </a:solidFill>
                <a:latin typeface="Helvetica Neue"/>
                <a:ea typeface="Helvetica Neue"/>
                <a:cs typeface="Helvetica Neue"/>
              </a:defRPr>
            </a:pPr>
            <a:r>
              <a:rPr sz="1050" b="0">
                <a:solidFill>
                  <a:srgbClr val="536170"/>
                </a:solidFill>
                <a:latin typeface="Helvetica Neue"/>
                <a:ea typeface="Helvetica Neue"/>
                <a:cs typeface="Helvetica Neue"/>
              </a:rPr>
              <a:t>09</a:t>
            </a:r>
          </a:p>
        </p:txBody>
      </p:sp>
    </p:spTree>
    <p:extLst>
      <p:ext uri="{BB962C8B-B14F-4D97-AF65-F5344CB8AC3E}">
        <p14:creationId xmlns:p14="http://schemas.microsoft.com/office/powerpoint/2010/main" val="5344957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eyebrow-10">
            <a:extLst>
              <a:ext uri="{FF2B5EF4-FFF2-40B4-BE49-F238E27FC236}">
                <a16:creationId xmlns:a16="http://schemas.microsoft.com/office/drawing/2014/main" id="{BA3B628D-7BBA-437A-A051-53706E6617E0}"/>
              </a:ext>
            </a:extLst>
          </p:cNvPr>
          <p:cNvSpPr>
            <a:spLocks noGrp="1"/>
          </p:cNvSpPr>
          <p:nvPr/>
        </p:nvSpPr>
        <p:spPr>
          <a:xfrm>
            <a:off x="552450" y="323850"/>
            <a:ext cx="3238500" cy="285750"/>
          </a:xfrm>
          <a:prstGeom prst="rect">
            <a:avLst/>
          </a:prstGeom>
          <a:noFill/>
          <a:ln w="0">
            <a:noFill/>
            <a:prstDash val="solid"/>
          </a:ln>
        </p:spPr>
        <p:txBody>
          <a:bodyPr wrap="square" lIns="57150" tIns="38100" rIns="57150" bIns="38100" anchor="t">
            <a:normAutofit/>
          </a:bodyPr>
          <a:lstStyle/>
          <a:p>
            <a:pPr algn="l">
              <a:defRPr sz="1125" b="1">
                <a:solidFill>
                  <a:srgbClr val="236AA3"/>
                </a:solidFill>
                <a:latin typeface="Helvetica Neue"/>
                <a:ea typeface="Helvetica Neue"/>
                <a:cs typeface="Helvetica Neue"/>
              </a:defRPr>
            </a:pPr>
            <a:r>
              <a:rPr sz="1125" b="1">
                <a:solidFill>
                  <a:srgbClr val="236AA3"/>
                </a:solidFill>
                <a:latin typeface="Helvetica Neue"/>
                <a:ea typeface="Helvetica Neue"/>
                <a:cs typeface="Helvetica Neue"/>
              </a:rPr>
              <a:t>QUESTION 4</a:t>
            </a:r>
          </a:p>
        </p:txBody>
      </p:sp>
      <p:sp>
        <p:nvSpPr>
          <p:cNvPr id="2" name="title-10">
            <a:extLst>
              <a:ext uri="{FF2B5EF4-FFF2-40B4-BE49-F238E27FC236}">
                <a16:creationId xmlns:a16="http://schemas.microsoft.com/office/drawing/2014/main" id="{FDA123FE-45C4-469D-B614-ECCC3B56A733}"/>
              </a:ext>
            </a:extLst>
          </p:cNvPr>
          <p:cNvSpPr>
            <a:spLocks noGrp="1"/>
          </p:cNvSpPr>
          <p:nvPr/>
        </p:nvSpPr>
        <p:spPr>
          <a:xfrm>
            <a:off x="552450" y="704850"/>
            <a:ext cx="10810875" cy="914400"/>
          </a:xfrm>
          <a:prstGeom prst="rect">
            <a:avLst/>
          </a:prstGeom>
          <a:noFill/>
          <a:ln w="0">
            <a:noFill/>
            <a:prstDash val="solid"/>
          </a:ln>
        </p:spPr>
        <p:txBody>
          <a:bodyPr wrap="square" lIns="57150" tIns="38100" rIns="57150" bIns="38100" anchor="t">
            <a:normAutofit fontScale="91667"/>
          </a:bodyPr>
          <a:lstStyle/>
          <a:p>
            <a:pPr algn="l">
              <a:defRPr sz="3000" b="1">
                <a:solidFill>
                  <a:srgbClr val="17212B"/>
                </a:solidFill>
                <a:latin typeface="Helvetica Neue"/>
                <a:ea typeface="Helvetica Neue"/>
                <a:cs typeface="Helvetica Neue"/>
              </a:defRPr>
            </a:pPr>
            <a:r>
              <a:rPr sz="3000" b="1">
                <a:solidFill>
                  <a:srgbClr val="17212B"/>
                </a:solidFill>
                <a:latin typeface="Helvetica Neue"/>
                <a:ea typeface="Helvetica Neue"/>
                <a:cs typeface="Helvetica Neue"/>
              </a:rPr>
              <a:t>Why wasn’t it important for the apostles to know precisely when Jesus would finish bringing God’s reign to earth?</a:t>
            </a:r>
          </a:p>
        </p:txBody>
      </p:sp>
      <p:sp>
        <p:nvSpPr>
          <p:cNvPr id="3" name="rule-10">
            <a:extLst>
              <a:ext uri="{FF2B5EF4-FFF2-40B4-BE49-F238E27FC236}">
                <a16:creationId xmlns:a16="http://schemas.microsoft.com/office/drawing/2014/main" id="{7B006301-548E-4559-8E59-1346EDABFB12}"/>
              </a:ext>
            </a:extLst>
          </p:cNvPr>
          <p:cNvSpPr>
            <a:spLocks noGrp="1"/>
          </p:cNvSpPr>
          <p:nvPr/>
        </p:nvSpPr>
        <p:spPr>
          <a:xfrm>
            <a:off x="552450" y="1657350"/>
            <a:ext cx="10810875" cy="28575"/>
          </a:xfrm>
          <a:prstGeom prst="rect">
            <a:avLst/>
          </a:prstGeom>
          <a:solidFill>
            <a:srgbClr val="236AA3"/>
          </a:solidFill>
          <a:ln w="0">
            <a:noFill/>
            <a:prstDash val="solid"/>
          </a:ln>
        </p:spPr>
        <p:txBody>
          <a:bodyPr/>
          <a:lstStyle/>
          <a:p>
            <a:endParaRPr lang="en-US"/>
          </a:p>
        </p:txBody>
      </p:sp>
      <p:sp>
        <p:nvSpPr>
          <p:cNvPr id="4" name="number-10">
            <a:extLst>
              <a:ext uri="{FF2B5EF4-FFF2-40B4-BE49-F238E27FC236}">
                <a16:creationId xmlns:a16="http://schemas.microsoft.com/office/drawing/2014/main" id="{801B692A-F764-4141-9759-F9B2174ED6A5}"/>
              </a:ext>
            </a:extLst>
          </p:cNvPr>
          <p:cNvSpPr>
            <a:spLocks noGrp="1"/>
          </p:cNvSpPr>
          <p:nvPr/>
        </p:nvSpPr>
        <p:spPr>
          <a:xfrm>
            <a:off x="10858500" y="6305550"/>
            <a:ext cx="514350" cy="247650"/>
          </a:xfrm>
          <a:prstGeom prst="rect">
            <a:avLst/>
          </a:prstGeom>
          <a:noFill/>
          <a:ln w="0">
            <a:noFill/>
            <a:prstDash val="solid"/>
          </a:ln>
        </p:spPr>
        <p:txBody>
          <a:bodyPr wrap="square" lIns="57150" tIns="38100" rIns="57150" bIns="38100" anchor="t">
            <a:normAutofit/>
          </a:bodyPr>
          <a:lstStyle/>
          <a:p>
            <a:pPr algn="r">
              <a:defRPr sz="1050" b="0">
                <a:solidFill>
                  <a:srgbClr val="536170"/>
                </a:solidFill>
                <a:latin typeface="Helvetica Neue"/>
                <a:ea typeface="Helvetica Neue"/>
                <a:cs typeface="Helvetica Neue"/>
              </a:defRPr>
            </a:pPr>
            <a:r>
              <a:rPr sz="1050" b="0">
                <a:solidFill>
                  <a:srgbClr val="536170"/>
                </a:solidFill>
                <a:latin typeface="Helvetica Neue"/>
                <a:ea typeface="Helvetica Neue"/>
                <a:cs typeface="Helvetica Neue"/>
              </a:rPr>
              <a:t>10</a:t>
            </a:r>
          </a:p>
        </p:txBody>
      </p:sp>
      <p:sp>
        <p:nvSpPr>
          <p:cNvPr id="5" name="q4-context-panel">
            <a:extLst>
              <a:ext uri="{FF2B5EF4-FFF2-40B4-BE49-F238E27FC236}">
                <a16:creationId xmlns:a16="http://schemas.microsoft.com/office/drawing/2014/main" id="{9B5737F6-469F-41F2-B9E5-5D86EF2BF970}"/>
              </a:ext>
            </a:extLst>
          </p:cNvPr>
          <p:cNvSpPr>
            <a:spLocks noGrp="1"/>
          </p:cNvSpPr>
          <p:nvPr/>
        </p:nvSpPr>
        <p:spPr>
          <a:xfrm>
            <a:off x="685800" y="2381250"/>
            <a:ext cx="10820400" cy="2590800"/>
          </a:xfrm>
          <a:prstGeom prst="roundRect">
            <a:avLst>
              <a:gd name="adj" fmla="val 2941"/>
            </a:avLst>
          </a:prstGeom>
          <a:solidFill>
            <a:srgbClr val="F4F7F9"/>
          </a:solidFill>
          <a:ln w="9525">
            <a:solidFill>
              <a:srgbClr val="B9C7D1"/>
            </a:solidFill>
            <a:prstDash val="solid"/>
          </a:ln>
        </p:spPr>
        <p:txBody>
          <a:bodyPr/>
          <a:lstStyle/>
          <a:p>
            <a:endParaRPr lang="en-US"/>
          </a:p>
        </p:txBody>
      </p:sp>
      <p:sp>
        <p:nvSpPr>
          <p:cNvPr id="6" name="q4-context-label">
            <a:extLst>
              <a:ext uri="{FF2B5EF4-FFF2-40B4-BE49-F238E27FC236}">
                <a16:creationId xmlns:a16="http://schemas.microsoft.com/office/drawing/2014/main" id="{DE7263BE-5213-4576-9538-0F59E0BD0721}"/>
              </a:ext>
            </a:extLst>
          </p:cNvPr>
          <p:cNvSpPr>
            <a:spLocks noGrp="1"/>
          </p:cNvSpPr>
          <p:nvPr/>
        </p:nvSpPr>
        <p:spPr>
          <a:xfrm>
            <a:off x="952500" y="2609850"/>
            <a:ext cx="2857500" cy="342900"/>
          </a:xfrm>
          <a:prstGeom prst="rect">
            <a:avLst/>
          </a:prstGeom>
          <a:noFill/>
          <a:ln w="0">
            <a:noFill/>
            <a:prstDash val="solid"/>
          </a:ln>
        </p:spPr>
        <p:txBody>
          <a:bodyPr wrap="square" lIns="57150" tIns="38100" rIns="57150" bIns="38100" anchor="t">
            <a:normAutofit/>
          </a:bodyPr>
          <a:lstStyle/>
          <a:p>
            <a:pPr algn="l">
              <a:defRPr sz="1500" b="1">
                <a:solidFill>
                  <a:srgbClr val="236AA3"/>
                </a:solidFill>
                <a:latin typeface="Helvetica Neue"/>
                <a:ea typeface="Helvetica Neue"/>
                <a:cs typeface="Helvetica Neue"/>
              </a:defRPr>
            </a:pPr>
            <a:r>
              <a:rPr sz="1500" b="1">
                <a:solidFill>
                  <a:srgbClr val="236AA3"/>
                </a:solidFill>
                <a:latin typeface="Helvetica Neue"/>
                <a:ea typeface="Helvetica Neue"/>
                <a:cs typeface="Helvetica Neue"/>
              </a:rPr>
              <a:t>Helpful context</a:t>
            </a:r>
          </a:p>
        </p:txBody>
      </p:sp>
      <p:sp>
        <p:nvSpPr>
          <p:cNvPr id="7" name="q4-bullet-0">
            <a:extLst>
              <a:ext uri="{FF2B5EF4-FFF2-40B4-BE49-F238E27FC236}">
                <a16:creationId xmlns:a16="http://schemas.microsoft.com/office/drawing/2014/main" id="{ED48AC56-BE7B-4B12-AE65-E2D662A09579}"/>
              </a:ext>
            </a:extLst>
          </p:cNvPr>
          <p:cNvSpPr>
            <a:spLocks noGrp="1"/>
          </p:cNvSpPr>
          <p:nvPr/>
        </p:nvSpPr>
        <p:spPr>
          <a:xfrm>
            <a:off x="1028700" y="3162300"/>
            <a:ext cx="9696450" cy="400050"/>
          </a:xfrm>
          <a:prstGeom prst="rect">
            <a:avLst/>
          </a:prstGeom>
          <a:noFill/>
          <a:ln w="0">
            <a:noFill/>
            <a:prstDash val="solid"/>
          </a:ln>
        </p:spPr>
        <p:txBody>
          <a:bodyPr wrap="square" lIns="57150" tIns="38100" rIns="57150" bIns="38100" anchor="t">
            <a:normAutofit/>
          </a:bodyPr>
          <a:lstStyle/>
          <a:p>
            <a:pPr algn="l">
              <a:defRPr sz="1875" b="0">
                <a:solidFill>
                  <a:srgbClr val="17212B"/>
                </a:solidFill>
                <a:latin typeface="Helvetica Neue"/>
                <a:ea typeface="Helvetica Neue"/>
                <a:cs typeface="Helvetica Neue"/>
              </a:defRPr>
            </a:pPr>
            <a:r>
              <a:rPr sz="1875" b="0">
                <a:solidFill>
                  <a:srgbClr val="17212B"/>
                </a:solidFill>
                <a:latin typeface="Helvetica Neue"/>
                <a:ea typeface="Helvetica Neue"/>
                <a:cs typeface="Helvetica Neue"/>
              </a:rPr>
              <a:t>•  The times belong to the Father</a:t>
            </a:r>
          </a:p>
        </p:txBody>
      </p:sp>
      <p:sp>
        <p:nvSpPr>
          <p:cNvPr id="8" name="q4-bullet-1">
            <a:extLst>
              <a:ext uri="{FF2B5EF4-FFF2-40B4-BE49-F238E27FC236}">
                <a16:creationId xmlns:a16="http://schemas.microsoft.com/office/drawing/2014/main" id="{FD633D39-6E1E-4E30-8D94-27D93C1BEDCB}"/>
              </a:ext>
            </a:extLst>
          </p:cNvPr>
          <p:cNvSpPr>
            <a:spLocks noGrp="1"/>
          </p:cNvSpPr>
          <p:nvPr/>
        </p:nvSpPr>
        <p:spPr>
          <a:xfrm>
            <a:off x="1028700" y="3714750"/>
            <a:ext cx="9696450" cy="400050"/>
          </a:xfrm>
          <a:prstGeom prst="rect">
            <a:avLst/>
          </a:prstGeom>
          <a:noFill/>
          <a:ln w="0">
            <a:noFill/>
            <a:prstDash val="solid"/>
          </a:ln>
        </p:spPr>
        <p:txBody>
          <a:bodyPr wrap="square" lIns="57150" tIns="38100" rIns="57150" bIns="38100" anchor="t">
            <a:normAutofit/>
          </a:bodyPr>
          <a:lstStyle/>
          <a:p>
            <a:pPr algn="l">
              <a:defRPr sz="1875" b="0">
                <a:solidFill>
                  <a:srgbClr val="17212B"/>
                </a:solidFill>
                <a:latin typeface="Helvetica Neue"/>
                <a:ea typeface="Helvetica Neue"/>
                <a:cs typeface="Helvetica Neue"/>
              </a:defRPr>
            </a:pPr>
            <a:r>
              <a:rPr sz="1875" b="0">
                <a:solidFill>
                  <a:srgbClr val="17212B"/>
                </a:solidFill>
                <a:latin typeface="Helvetica Neue"/>
                <a:ea typeface="Helvetica Neue"/>
                <a:cs typeface="Helvetica Neue"/>
              </a:rPr>
              <a:t>•  Their assignment was witness</a:t>
            </a:r>
          </a:p>
        </p:txBody>
      </p:sp>
      <p:sp>
        <p:nvSpPr>
          <p:cNvPr id="9" name="q4-bullet-2">
            <a:extLst>
              <a:ext uri="{FF2B5EF4-FFF2-40B4-BE49-F238E27FC236}">
                <a16:creationId xmlns:a16="http://schemas.microsoft.com/office/drawing/2014/main" id="{DE16EB4E-476E-471A-B648-C5683239E925}"/>
              </a:ext>
            </a:extLst>
          </p:cNvPr>
          <p:cNvSpPr>
            <a:spLocks noGrp="1"/>
          </p:cNvSpPr>
          <p:nvPr/>
        </p:nvSpPr>
        <p:spPr>
          <a:xfrm>
            <a:off x="1028700" y="4267200"/>
            <a:ext cx="9696450" cy="400050"/>
          </a:xfrm>
          <a:prstGeom prst="rect">
            <a:avLst/>
          </a:prstGeom>
          <a:noFill/>
          <a:ln w="0">
            <a:noFill/>
            <a:prstDash val="solid"/>
          </a:ln>
        </p:spPr>
        <p:txBody>
          <a:bodyPr wrap="square" lIns="57150" tIns="38100" rIns="57150" bIns="38100" anchor="t">
            <a:normAutofit/>
          </a:bodyPr>
          <a:lstStyle/>
          <a:p>
            <a:pPr algn="l">
              <a:defRPr sz="1875" b="0">
                <a:solidFill>
                  <a:srgbClr val="17212B"/>
                </a:solidFill>
                <a:latin typeface="Helvetica Neue"/>
                <a:ea typeface="Helvetica Neue"/>
                <a:cs typeface="Helvetica Neue"/>
              </a:defRPr>
            </a:pPr>
            <a:r>
              <a:rPr sz="1875" b="0">
                <a:solidFill>
                  <a:srgbClr val="17212B"/>
                </a:solidFill>
                <a:latin typeface="Helvetica Neue"/>
                <a:ea typeface="Helvetica Neue"/>
                <a:cs typeface="Helvetica Neue"/>
              </a:rPr>
              <a:t>•  Acts 1:6–8</a:t>
            </a:r>
          </a:p>
        </p:txBody>
      </p:sp>
      <p:sp>
        <p:nvSpPr>
          <p:cNvPr id="10" name="q4-discussion">
            <a:extLst>
              <a:ext uri="{FF2B5EF4-FFF2-40B4-BE49-F238E27FC236}">
                <a16:creationId xmlns:a16="http://schemas.microsoft.com/office/drawing/2014/main" id="{D3FE2458-8CA7-424A-9AD9-7B55B4356204}"/>
              </a:ext>
            </a:extLst>
          </p:cNvPr>
          <p:cNvSpPr>
            <a:spLocks noGrp="1"/>
          </p:cNvSpPr>
          <p:nvPr/>
        </p:nvSpPr>
        <p:spPr>
          <a:xfrm>
            <a:off x="723900" y="5476875"/>
            <a:ext cx="8572500" cy="361950"/>
          </a:xfrm>
          <a:prstGeom prst="rect">
            <a:avLst/>
          </a:prstGeom>
          <a:noFill/>
          <a:ln w="0">
            <a:noFill/>
            <a:prstDash val="solid"/>
          </a:ln>
        </p:spPr>
        <p:txBody>
          <a:bodyPr wrap="square" lIns="57150" tIns="38100" rIns="57150" bIns="38100" anchor="t">
            <a:normAutofit/>
          </a:bodyPr>
          <a:lstStyle/>
          <a:p>
            <a:pPr algn="l">
              <a:defRPr sz="1350" b="0">
                <a:solidFill>
                  <a:srgbClr val="536170"/>
                </a:solidFill>
                <a:latin typeface="Helvetica Neue"/>
                <a:ea typeface="Helvetica Neue"/>
                <a:cs typeface="Helvetica Neue"/>
              </a:defRPr>
            </a:pPr>
            <a:r>
              <a:rPr sz="1350" b="0">
                <a:solidFill>
                  <a:srgbClr val="536170"/>
                </a:solidFill>
                <a:latin typeface="Helvetica Neue"/>
                <a:ea typeface="Helvetica Neue"/>
                <a:cs typeface="Helvetica Neue"/>
              </a:rPr>
              <a:t>Discuss before revealing the suggested response</a:t>
            </a:r>
          </a:p>
        </p:txBody>
      </p:sp>
    </p:spTree>
    <p:extLst>
      <p:ext uri="{BB962C8B-B14F-4D97-AF65-F5344CB8AC3E}">
        <p14:creationId xmlns:p14="http://schemas.microsoft.com/office/powerpoint/2010/main" val="12985476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q4-answer-panel">
            <a:extLst>
              <a:ext uri="{FF2B5EF4-FFF2-40B4-BE49-F238E27FC236}">
                <a16:creationId xmlns:a16="http://schemas.microsoft.com/office/drawing/2014/main" id="{10C77ED0-7486-4464-99CB-538BA10EF911}"/>
              </a:ext>
            </a:extLst>
          </p:cNvPr>
          <p:cNvSpPr>
            <a:spLocks noGrp="1"/>
          </p:cNvSpPr>
          <p:nvPr/>
        </p:nvSpPr>
        <p:spPr>
          <a:xfrm>
            <a:off x="685800" y="2209800"/>
            <a:ext cx="10820400" cy="3333750"/>
          </a:xfrm>
          <a:prstGeom prst="roundRect">
            <a:avLst>
              <a:gd name="adj" fmla="val 2286"/>
            </a:avLst>
          </a:prstGeom>
          <a:solidFill>
            <a:srgbClr val="EAF3F9"/>
          </a:solidFill>
          <a:ln w="9525">
            <a:solidFill>
              <a:srgbClr val="B9C7D1"/>
            </a:solidFill>
            <a:prstDash val="solid"/>
          </a:ln>
        </p:spPr>
        <p:txBody>
          <a:bodyPr/>
          <a:lstStyle/>
          <a:p>
            <a:endParaRPr lang="en-US"/>
          </a:p>
        </p:txBody>
      </p:sp>
      <p:sp>
        <p:nvSpPr>
          <p:cNvPr id="2" name="q4-answer-label">
            <a:extLst>
              <a:ext uri="{FF2B5EF4-FFF2-40B4-BE49-F238E27FC236}">
                <a16:creationId xmlns:a16="http://schemas.microsoft.com/office/drawing/2014/main" id="{9E1611B8-E408-4AA9-93EB-749B5F4EDB0D}"/>
              </a:ext>
            </a:extLst>
          </p:cNvPr>
          <p:cNvSpPr>
            <a:spLocks noGrp="1"/>
          </p:cNvSpPr>
          <p:nvPr/>
        </p:nvSpPr>
        <p:spPr>
          <a:xfrm>
            <a:off x="971550" y="2438400"/>
            <a:ext cx="3429000" cy="381000"/>
          </a:xfrm>
          <a:prstGeom prst="rect">
            <a:avLst/>
          </a:prstGeom>
          <a:noFill/>
          <a:ln w="0">
            <a:noFill/>
            <a:prstDash val="solid"/>
          </a:ln>
        </p:spPr>
        <p:txBody>
          <a:bodyPr wrap="square" lIns="57150" tIns="38100" rIns="57150" bIns="38100" anchor="t">
            <a:normAutofit/>
          </a:bodyPr>
          <a:lstStyle/>
          <a:p>
            <a:pPr algn="l">
              <a:defRPr sz="1650" b="1">
                <a:solidFill>
                  <a:srgbClr val="236AA3"/>
                </a:solidFill>
                <a:latin typeface="Helvetica Neue"/>
                <a:ea typeface="Helvetica Neue"/>
                <a:cs typeface="Helvetica Neue"/>
              </a:defRPr>
            </a:pPr>
            <a:r>
              <a:rPr sz="1650" b="1">
                <a:solidFill>
                  <a:srgbClr val="236AA3"/>
                </a:solidFill>
                <a:latin typeface="Helvetica Neue"/>
                <a:ea typeface="Helvetica Neue"/>
                <a:cs typeface="Helvetica Neue"/>
              </a:rPr>
              <a:t>Suggested response</a:t>
            </a:r>
          </a:p>
        </p:txBody>
      </p:sp>
      <p:sp>
        <p:nvSpPr>
          <p:cNvPr id="3" name="q4-answer-0">
            <a:extLst>
              <a:ext uri="{FF2B5EF4-FFF2-40B4-BE49-F238E27FC236}">
                <a16:creationId xmlns:a16="http://schemas.microsoft.com/office/drawing/2014/main" id="{5D4F6FEF-0472-4F62-93CD-8E556C5ADC98}"/>
              </a:ext>
            </a:extLst>
          </p:cNvPr>
          <p:cNvSpPr>
            <a:spLocks noGrp="1"/>
          </p:cNvSpPr>
          <p:nvPr/>
        </p:nvSpPr>
        <p:spPr>
          <a:xfrm>
            <a:off x="1047750" y="3048000"/>
            <a:ext cx="9810750" cy="552450"/>
          </a:xfrm>
          <a:prstGeom prst="rect">
            <a:avLst/>
          </a:prstGeom>
          <a:noFill/>
          <a:ln w="0">
            <a:noFill/>
            <a:prstDash val="solid"/>
          </a:ln>
        </p:spPr>
        <p:txBody>
          <a:bodyPr wrap="square" lIns="57150" tIns="38100" rIns="57150" bIns="38100" anchor="t">
            <a:normAutofit/>
          </a:bodyPr>
          <a:lstStyle/>
          <a:p>
            <a:pPr algn="l">
              <a:defRPr sz="1875" b="0">
                <a:solidFill>
                  <a:srgbClr val="17212B"/>
                </a:solidFill>
                <a:latin typeface="Helvetica Neue"/>
                <a:ea typeface="Helvetica Neue"/>
                <a:cs typeface="Helvetica Neue"/>
              </a:defRPr>
            </a:pPr>
            <a:r>
              <a:rPr sz="1875" b="0">
                <a:solidFill>
                  <a:srgbClr val="17212B"/>
                </a:solidFill>
                <a:latin typeface="Helvetica Neue"/>
                <a:ea typeface="Helvetica Neue"/>
                <a:cs typeface="Helvetica Neue"/>
              </a:rPr>
              <a:t>•  The Father retained authority over the timetable</a:t>
            </a:r>
          </a:p>
        </p:txBody>
      </p:sp>
      <p:sp>
        <p:nvSpPr>
          <p:cNvPr id="4" name="q4-answer-1">
            <a:extLst>
              <a:ext uri="{FF2B5EF4-FFF2-40B4-BE49-F238E27FC236}">
                <a16:creationId xmlns:a16="http://schemas.microsoft.com/office/drawing/2014/main" id="{0BE3A0AC-7EC0-4F42-AA36-17E833430CDD}"/>
              </a:ext>
            </a:extLst>
          </p:cNvPr>
          <p:cNvSpPr>
            <a:spLocks noGrp="1"/>
          </p:cNvSpPr>
          <p:nvPr/>
        </p:nvSpPr>
        <p:spPr>
          <a:xfrm>
            <a:off x="1047750" y="3771900"/>
            <a:ext cx="9810750" cy="552450"/>
          </a:xfrm>
          <a:prstGeom prst="rect">
            <a:avLst/>
          </a:prstGeom>
          <a:noFill/>
          <a:ln w="0">
            <a:noFill/>
            <a:prstDash val="solid"/>
          </a:ln>
        </p:spPr>
        <p:txBody>
          <a:bodyPr wrap="square" lIns="57150" tIns="38100" rIns="57150" bIns="38100" anchor="t">
            <a:normAutofit/>
          </a:bodyPr>
          <a:lstStyle/>
          <a:p>
            <a:pPr algn="l">
              <a:defRPr sz="1875" b="0">
                <a:solidFill>
                  <a:srgbClr val="17212B"/>
                </a:solidFill>
                <a:latin typeface="Helvetica Neue"/>
                <a:ea typeface="Helvetica Neue"/>
                <a:cs typeface="Helvetica Neue"/>
              </a:defRPr>
            </a:pPr>
            <a:r>
              <a:rPr sz="1875" b="0">
                <a:solidFill>
                  <a:srgbClr val="17212B"/>
                </a:solidFill>
                <a:latin typeface="Helvetica Neue"/>
                <a:ea typeface="Helvetica Neue"/>
                <a:cs typeface="Helvetica Neue"/>
              </a:rPr>
              <a:t>•  Speculation could distract from their present calling</a:t>
            </a:r>
          </a:p>
        </p:txBody>
      </p:sp>
      <p:sp>
        <p:nvSpPr>
          <p:cNvPr id="5" name="q4-answer-2">
            <a:extLst>
              <a:ext uri="{FF2B5EF4-FFF2-40B4-BE49-F238E27FC236}">
                <a16:creationId xmlns:a16="http://schemas.microsoft.com/office/drawing/2014/main" id="{523EF023-EBBF-448F-8138-FE7AFEE4386E}"/>
              </a:ext>
            </a:extLst>
          </p:cNvPr>
          <p:cNvSpPr>
            <a:spLocks noGrp="1"/>
          </p:cNvSpPr>
          <p:nvPr/>
        </p:nvSpPr>
        <p:spPr>
          <a:xfrm>
            <a:off x="1047750" y="4495800"/>
            <a:ext cx="9810750" cy="552450"/>
          </a:xfrm>
          <a:prstGeom prst="rect">
            <a:avLst/>
          </a:prstGeom>
          <a:noFill/>
          <a:ln w="0">
            <a:noFill/>
            <a:prstDash val="solid"/>
          </a:ln>
        </p:spPr>
        <p:txBody>
          <a:bodyPr wrap="square" lIns="57150" tIns="38100" rIns="57150" bIns="38100" anchor="t">
            <a:normAutofit/>
          </a:bodyPr>
          <a:lstStyle/>
          <a:p>
            <a:pPr algn="l">
              <a:defRPr sz="1875" b="0">
                <a:solidFill>
                  <a:srgbClr val="17212B"/>
                </a:solidFill>
                <a:latin typeface="Helvetica Neue"/>
                <a:ea typeface="Helvetica Neue"/>
                <a:cs typeface="Helvetica Neue"/>
              </a:defRPr>
            </a:pPr>
            <a:r>
              <a:rPr sz="1875" b="0">
                <a:solidFill>
                  <a:srgbClr val="17212B"/>
                </a:solidFill>
                <a:latin typeface="Helvetica Neue"/>
                <a:ea typeface="Helvetica Neue"/>
                <a:cs typeface="Helvetica Neue"/>
              </a:rPr>
              <a:t>•  Their responsibility was Spirit-empowered witness to the ends of the earth</a:t>
            </a:r>
          </a:p>
        </p:txBody>
      </p:sp>
      <p:sp>
        <p:nvSpPr>
          <p:cNvPr id="6" name="eyebrow-11">
            <a:extLst>
              <a:ext uri="{FF2B5EF4-FFF2-40B4-BE49-F238E27FC236}">
                <a16:creationId xmlns:a16="http://schemas.microsoft.com/office/drawing/2014/main" id="{8F260612-26F4-4A56-BC23-88C6950E5BC6}"/>
              </a:ext>
            </a:extLst>
          </p:cNvPr>
          <p:cNvSpPr>
            <a:spLocks noGrp="1"/>
          </p:cNvSpPr>
          <p:nvPr/>
        </p:nvSpPr>
        <p:spPr>
          <a:xfrm>
            <a:off x="552450" y="323850"/>
            <a:ext cx="3238500" cy="285750"/>
          </a:xfrm>
          <a:prstGeom prst="rect">
            <a:avLst/>
          </a:prstGeom>
          <a:noFill/>
          <a:ln w="0">
            <a:noFill/>
            <a:prstDash val="solid"/>
          </a:ln>
        </p:spPr>
        <p:txBody>
          <a:bodyPr wrap="square" lIns="57150" tIns="38100" rIns="57150" bIns="38100" anchor="t">
            <a:normAutofit/>
          </a:bodyPr>
          <a:lstStyle/>
          <a:p>
            <a:pPr algn="l">
              <a:defRPr sz="1125" b="1">
                <a:solidFill>
                  <a:srgbClr val="C99535"/>
                </a:solidFill>
                <a:latin typeface="Helvetica Neue"/>
                <a:ea typeface="Helvetica Neue"/>
                <a:cs typeface="Helvetica Neue"/>
              </a:defRPr>
            </a:pPr>
            <a:r>
              <a:rPr sz="1125" b="1">
                <a:solidFill>
                  <a:srgbClr val="C99535"/>
                </a:solidFill>
                <a:latin typeface="Helvetica Neue"/>
                <a:ea typeface="Helvetica Neue"/>
                <a:cs typeface="Helvetica Neue"/>
              </a:rPr>
              <a:t>QUESTION 4 — SUGGESTED RESPONSE</a:t>
            </a:r>
          </a:p>
        </p:txBody>
      </p:sp>
      <p:sp>
        <p:nvSpPr>
          <p:cNvPr id="7" name="title-11">
            <a:extLst>
              <a:ext uri="{FF2B5EF4-FFF2-40B4-BE49-F238E27FC236}">
                <a16:creationId xmlns:a16="http://schemas.microsoft.com/office/drawing/2014/main" id="{902917AF-F9EC-41FF-8959-8B34935BD902}"/>
              </a:ext>
            </a:extLst>
          </p:cNvPr>
          <p:cNvSpPr>
            <a:spLocks noGrp="1"/>
          </p:cNvSpPr>
          <p:nvPr/>
        </p:nvSpPr>
        <p:spPr>
          <a:xfrm>
            <a:off x="552450" y="704850"/>
            <a:ext cx="10810875" cy="914400"/>
          </a:xfrm>
          <a:prstGeom prst="rect">
            <a:avLst/>
          </a:prstGeom>
          <a:noFill/>
          <a:ln w="0">
            <a:noFill/>
            <a:prstDash val="solid"/>
          </a:ln>
        </p:spPr>
        <p:txBody>
          <a:bodyPr wrap="square" lIns="57150" tIns="38100" rIns="57150" bIns="38100" anchor="t">
            <a:normAutofit fontScale="91667"/>
          </a:bodyPr>
          <a:lstStyle/>
          <a:p>
            <a:pPr algn="l">
              <a:defRPr sz="3000" b="1">
                <a:solidFill>
                  <a:srgbClr val="17212B"/>
                </a:solidFill>
                <a:latin typeface="Helvetica Neue"/>
                <a:ea typeface="Helvetica Neue"/>
                <a:cs typeface="Helvetica Neue"/>
              </a:defRPr>
            </a:pPr>
            <a:r>
              <a:rPr sz="3000" b="1">
                <a:solidFill>
                  <a:srgbClr val="17212B"/>
                </a:solidFill>
                <a:latin typeface="Helvetica Neue"/>
                <a:ea typeface="Helvetica Neue"/>
                <a:cs typeface="Helvetica Neue"/>
              </a:rPr>
              <a:t>Why wasn’t it important for the apostles to know precisely when Jesus would finish bringing God’s reign to earth?</a:t>
            </a:r>
          </a:p>
        </p:txBody>
      </p:sp>
      <p:sp>
        <p:nvSpPr>
          <p:cNvPr id="8" name="rule-11">
            <a:extLst>
              <a:ext uri="{FF2B5EF4-FFF2-40B4-BE49-F238E27FC236}">
                <a16:creationId xmlns:a16="http://schemas.microsoft.com/office/drawing/2014/main" id="{3F993C5C-5704-4FC0-9C09-747710CB7FA7}"/>
              </a:ext>
            </a:extLst>
          </p:cNvPr>
          <p:cNvSpPr>
            <a:spLocks noGrp="1"/>
          </p:cNvSpPr>
          <p:nvPr/>
        </p:nvSpPr>
        <p:spPr>
          <a:xfrm>
            <a:off x="552450" y="1657350"/>
            <a:ext cx="10810875" cy="28575"/>
          </a:xfrm>
          <a:prstGeom prst="rect">
            <a:avLst/>
          </a:prstGeom>
          <a:solidFill>
            <a:srgbClr val="C99535"/>
          </a:solidFill>
          <a:ln w="0">
            <a:noFill/>
            <a:prstDash val="solid"/>
          </a:ln>
        </p:spPr>
        <p:txBody>
          <a:bodyPr/>
          <a:lstStyle/>
          <a:p>
            <a:endParaRPr lang="en-US"/>
          </a:p>
        </p:txBody>
      </p:sp>
      <p:sp>
        <p:nvSpPr>
          <p:cNvPr id="9" name="number-11">
            <a:extLst>
              <a:ext uri="{FF2B5EF4-FFF2-40B4-BE49-F238E27FC236}">
                <a16:creationId xmlns:a16="http://schemas.microsoft.com/office/drawing/2014/main" id="{B81886F0-6C9B-4DD6-961F-4330FBC401D4}"/>
              </a:ext>
            </a:extLst>
          </p:cNvPr>
          <p:cNvSpPr>
            <a:spLocks noGrp="1"/>
          </p:cNvSpPr>
          <p:nvPr/>
        </p:nvSpPr>
        <p:spPr>
          <a:xfrm>
            <a:off x="10858500" y="6305550"/>
            <a:ext cx="514350" cy="247650"/>
          </a:xfrm>
          <a:prstGeom prst="rect">
            <a:avLst/>
          </a:prstGeom>
          <a:noFill/>
          <a:ln w="0">
            <a:noFill/>
            <a:prstDash val="solid"/>
          </a:ln>
        </p:spPr>
        <p:txBody>
          <a:bodyPr wrap="square" lIns="57150" tIns="38100" rIns="57150" bIns="38100" anchor="t">
            <a:normAutofit/>
          </a:bodyPr>
          <a:lstStyle/>
          <a:p>
            <a:pPr algn="r">
              <a:defRPr sz="1050" b="0">
                <a:solidFill>
                  <a:srgbClr val="536170"/>
                </a:solidFill>
                <a:latin typeface="Helvetica Neue"/>
                <a:ea typeface="Helvetica Neue"/>
                <a:cs typeface="Helvetica Neue"/>
              </a:defRPr>
            </a:pPr>
            <a:r>
              <a:rPr sz="1050" b="0">
                <a:solidFill>
                  <a:srgbClr val="536170"/>
                </a:solidFill>
                <a:latin typeface="Helvetica Neue"/>
                <a:ea typeface="Helvetica Neue"/>
                <a:cs typeface="Helvetica Neue"/>
              </a:rPr>
              <a:t>11</a:t>
            </a:r>
          </a:p>
        </p:txBody>
      </p:sp>
    </p:spTree>
    <p:extLst>
      <p:ext uri="{BB962C8B-B14F-4D97-AF65-F5344CB8AC3E}">
        <p14:creationId xmlns:p14="http://schemas.microsoft.com/office/powerpoint/2010/main" val="140197632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eyebrow-12">
            <a:extLst>
              <a:ext uri="{FF2B5EF4-FFF2-40B4-BE49-F238E27FC236}">
                <a16:creationId xmlns:a16="http://schemas.microsoft.com/office/drawing/2014/main" id="{D69ABE89-C037-49DA-8CD7-D522CCD1154D}"/>
              </a:ext>
            </a:extLst>
          </p:cNvPr>
          <p:cNvSpPr>
            <a:spLocks noGrp="1"/>
          </p:cNvSpPr>
          <p:nvPr/>
        </p:nvSpPr>
        <p:spPr>
          <a:xfrm>
            <a:off x="552450" y="323850"/>
            <a:ext cx="3238500" cy="285750"/>
          </a:xfrm>
          <a:prstGeom prst="rect">
            <a:avLst/>
          </a:prstGeom>
          <a:noFill/>
          <a:ln w="0">
            <a:noFill/>
            <a:prstDash val="solid"/>
          </a:ln>
        </p:spPr>
        <p:txBody>
          <a:bodyPr wrap="square" lIns="57150" tIns="38100" rIns="57150" bIns="38100" anchor="t">
            <a:normAutofit/>
          </a:bodyPr>
          <a:lstStyle/>
          <a:p>
            <a:pPr algn="l">
              <a:defRPr sz="1125" b="1">
                <a:solidFill>
                  <a:srgbClr val="236AA3"/>
                </a:solidFill>
                <a:latin typeface="Helvetica Neue"/>
                <a:ea typeface="Helvetica Neue"/>
                <a:cs typeface="Helvetica Neue"/>
              </a:defRPr>
            </a:pPr>
            <a:r>
              <a:rPr sz="1125" b="1">
                <a:solidFill>
                  <a:srgbClr val="236AA3"/>
                </a:solidFill>
                <a:latin typeface="Helvetica Neue"/>
                <a:ea typeface="Helvetica Neue"/>
                <a:cs typeface="Helvetica Neue"/>
              </a:rPr>
              <a:t>QUESTION 5</a:t>
            </a:r>
          </a:p>
        </p:txBody>
      </p:sp>
      <p:sp>
        <p:nvSpPr>
          <p:cNvPr id="2" name="title-12">
            <a:extLst>
              <a:ext uri="{FF2B5EF4-FFF2-40B4-BE49-F238E27FC236}">
                <a16:creationId xmlns:a16="http://schemas.microsoft.com/office/drawing/2014/main" id="{74F611F6-557D-490C-BDC4-96D3164292FC}"/>
              </a:ext>
            </a:extLst>
          </p:cNvPr>
          <p:cNvSpPr>
            <a:spLocks noGrp="1"/>
          </p:cNvSpPr>
          <p:nvPr/>
        </p:nvSpPr>
        <p:spPr>
          <a:xfrm>
            <a:off x="552450" y="704850"/>
            <a:ext cx="10810875" cy="914400"/>
          </a:xfrm>
          <a:prstGeom prst="rect">
            <a:avLst/>
          </a:prstGeom>
          <a:noFill/>
          <a:ln w="0">
            <a:noFill/>
            <a:prstDash val="solid"/>
          </a:ln>
        </p:spPr>
        <p:txBody>
          <a:bodyPr wrap="square" lIns="57150" tIns="38100" rIns="57150" bIns="38100" anchor="t">
            <a:normAutofit fontScale="91667"/>
          </a:bodyPr>
          <a:lstStyle/>
          <a:p>
            <a:pPr algn="l">
              <a:defRPr sz="3000" b="1">
                <a:solidFill>
                  <a:srgbClr val="17212B"/>
                </a:solidFill>
                <a:latin typeface="Helvetica Neue"/>
                <a:ea typeface="Helvetica Neue"/>
                <a:cs typeface="Helvetica Neue"/>
              </a:defRPr>
            </a:pPr>
            <a:r>
              <a:rPr sz="3000" b="1">
                <a:solidFill>
                  <a:srgbClr val="17212B"/>
                </a:solidFill>
                <a:latin typeface="Helvetica Neue"/>
                <a:ea typeface="Helvetica Neue"/>
                <a:cs typeface="Helvetica Neue"/>
              </a:rPr>
              <a:t>Why was it necessary for Jesus to stop giving direct instructions to His disciples and ascend to be with His Father?</a:t>
            </a:r>
          </a:p>
        </p:txBody>
      </p:sp>
      <p:sp>
        <p:nvSpPr>
          <p:cNvPr id="3" name="rule-12">
            <a:extLst>
              <a:ext uri="{FF2B5EF4-FFF2-40B4-BE49-F238E27FC236}">
                <a16:creationId xmlns:a16="http://schemas.microsoft.com/office/drawing/2014/main" id="{E19AFBF9-A30A-4DC5-98AD-666522C611C5}"/>
              </a:ext>
            </a:extLst>
          </p:cNvPr>
          <p:cNvSpPr>
            <a:spLocks noGrp="1"/>
          </p:cNvSpPr>
          <p:nvPr/>
        </p:nvSpPr>
        <p:spPr>
          <a:xfrm>
            <a:off x="552450" y="1657350"/>
            <a:ext cx="10810875" cy="28575"/>
          </a:xfrm>
          <a:prstGeom prst="rect">
            <a:avLst/>
          </a:prstGeom>
          <a:solidFill>
            <a:srgbClr val="236AA3"/>
          </a:solidFill>
          <a:ln w="0">
            <a:noFill/>
            <a:prstDash val="solid"/>
          </a:ln>
        </p:spPr>
        <p:txBody>
          <a:bodyPr/>
          <a:lstStyle/>
          <a:p>
            <a:endParaRPr lang="en-US"/>
          </a:p>
        </p:txBody>
      </p:sp>
      <p:sp>
        <p:nvSpPr>
          <p:cNvPr id="4" name="number-12">
            <a:extLst>
              <a:ext uri="{FF2B5EF4-FFF2-40B4-BE49-F238E27FC236}">
                <a16:creationId xmlns:a16="http://schemas.microsoft.com/office/drawing/2014/main" id="{9BF1E5CC-E089-4CE9-9865-C7749F8788EE}"/>
              </a:ext>
            </a:extLst>
          </p:cNvPr>
          <p:cNvSpPr>
            <a:spLocks noGrp="1"/>
          </p:cNvSpPr>
          <p:nvPr/>
        </p:nvSpPr>
        <p:spPr>
          <a:xfrm>
            <a:off x="10858500" y="6305550"/>
            <a:ext cx="514350" cy="247650"/>
          </a:xfrm>
          <a:prstGeom prst="rect">
            <a:avLst/>
          </a:prstGeom>
          <a:noFill/>
          <a:ln w="0">
            <a:noFill/>
            <a:prstDash val="solid"/>
          </a:ln>
        </p:spPr>
        <p:txBody>
          <a:bodyPr wrap="square" lIns="57150" tIns="38100" rIns="57150" bIns="38100" anchor="t">
            <a:normAutofit/>
          </a:bodyPr>
          <a:lstStyle/>
          <a:p>
            <a:pPr algn="r">
              <a:defRPr sz="1050" b="0">
                <a:solidFill>
                  <a:srgbClr val="536170"/>
                </a:solidFill>
                <a:latin typeface="Helvetica Neue"/>
                <a:ea typeface="Helvetica Neue"/>
                <a:cs typeface="Helvetica Neue"/>
              </a:defRPr>
            </a:pPr>
            <a:r>
              <a:rPr sz="1050" b="0">
                <a:solidFill>
                  <a:srgbClr val="536170"/>
                </a:solidFill>
                <a:latin typeface="Helvetica Neue"/>
                <a:ea typeface="Helvetica Neue"/>
                <a:cs typeface="Helvetica Neue"/>
              </a:rPr>
              <a:t>12</a:t>
            </a:r>
          </a:p>
        </p:txBody>
      </p:sp>
      <p:sp>
        <p:nvSpPr>
          <p:cNvPr id="5" name="q5-context-panel">
            <a:extLst>
              <a:ext uri="{FF2B5EF4-FFF2-40B4-BE49-F238E27FC236}">
                <a16:creationId xmlns:a16="http://schemas.microsoft.com/office/drawing/2014/main" id="{3A49A4A4-1BF5-457E-AFF6-030C6E83757D}"/>
              </a:ext>
            </a:extLst>
          </p:cNvPr>
          <p:cNvSpPr>
            <a:spLocks noGrp="1"/>
          </p:cNvSpPr>
          <p:nvPr/>
        </p:nvSpPr>
        <p:spPr>
          <a:xfrm>
            <a:off x="685800" y="2381250"/>
            <a:ext cx="10820400" cy="2590800"/>
          </a:xfrm>
          <a:prstGeom prst="roundRect">
            <a:avLst>
              <a:gd name="adj" fmla="val 2941"/>
            </a:avLst>
          </a:prstGeom>
          <a:solidFill>
            <a:srgbClr val="F4F7F9"/>
          </a:solidFill>
          <a:ln w="9525">
            <a:solidFill>
              <a:srgbClr val="B9C7D1"/>
            </a:solidFill>
            <a:prstDash val="solid"/>
          </a:ln>
        </p:spPr>
        <p:txBody>
          <a:bodyPr/>
          <a:lstStyle/>
          <a:p>
            <a:endParaRPr lang="en-US"/>
          </a:p>
        </p:txBody>
      </p:sp>
      <p:sp>
        <p:nvSpPr>
          <p:cNvPr id="6" name="q5-context-label">
            <a:extLst>
              <a:ext uri="{FF2B5EF4-FFF2-40B4-BE49-F238E27FC236}">
                <a16:creationId xmlns:a16="http://schemas.microsoft.com/office/drawing/2014/main" id="{DF35DB6D-3566-4E38-BF47-043735B490EA}"/>
              </a:ext>
            </a:extLst>
          </p:cNvPr>
          <p:cNvSpPr>
            <a:spLocks noGrp="1"/>
          </p:cNvSpPr>
          <p:nvPr/>
        </p:nvSpPr>
        <p:spPr>
          <a:xfrm>
            <a:off x="952500" y="2609850"/>
            <a:ext cx="2857500" cy="342900"/>
          </a:xfrm>
          <a:prstGeom prst="rect">
            <a:avLst/>
          </a:prstGeom>
          <a:noFill/>
          <a:ln w="0">
            <a:noFill/>
            <a:prstDash val="solid"/>
          </a:ln>
        </p:spPr>
        <p:txBody>
          <a:bodyPr wrap="square" lIns="57150" tIns="38100" rIns="57150" bIns="38100" anchor="t">
            <a:normAutofit/>
          </a:bodyPr>
          <a:lstStyle/>
          <a:p>
            <a:pPr algn="l">
              <a:defRPr sz="1500" b="1">
                <a:solidFill>
                  <a:srgbClr val="236AA3"/>
                </a:solidFill>
                <a:latin typeface="Helvetica Neue"/>
                <a:ea typeface="Helvetica Neue"/>
                <a:cs typeface="Helvetica Neue"/>
              </a:defRPr>
            </a:pPr>
            <a:r>
              <a:rPr sz="1500" b="1">
                <a:solidFill>
                  <a:srgbClr val="236AA3"/>
                </a:solidFill>
                <a:latin typeface="Helvetica Neue"/>
                <a:ea typeface="Helvetica Neue"/>
                <a:cs typeface="Helvetica Neue"/>
              </a:rPr>
              <a:t>Helpful context</a:t>
            </a:r>
          </a:p>
        </p:txBody>
      </p:sp>
      <p:sp>
        <p:nvSpPr>
          <p:cNvPr id="7" name="q5-bullet-0">
            <a:extLst>
              <a:ext uri="{FF2B5EF4-FFF2-40B4-BE49-F238E27FC236}">
                <a16:creationId xmlns:a16="http://schemas.microsoft.com/office/drawing/2014/main" id="{34512180-5BE2-4C0F-8A19-B0BD12D6ECD7}"/>
              </a:ext>
            </a:extLst>
          </p:cNvPr>
          <p:cNvSpPr>
            <a:spLocks noGrp="1"/>
          </p:cNvSpPr>
          <p:nvPr/>
        </p:nvSpPr>
        <p:spPr>
          <a:xfrm>
            <a:off x="1028700" y="3162300"/>
            <a:ext cx="9696450" cy="400050"/>
          </a:xfrm>
          <a:prstGeom prst="rect">
            <a:avLst/>
          </a:prstGeom>
          <a:noFill/>
          <a:ln w="0">
            <a:noFill/>
            <a:prstDash val="solid"/>
          </a:ln>
        </p:spPr>
        <p:txBody>
          <a:bodyPr wrap="square" lIns="57150" tIns="38100" rIns="57150" bIns="38100" anchor="t">
            <a:normAutofit/>
          </a:bodyPr>
          <a:lstStyle/>
          <a:p>
            <a:pPr algn="l">
              <a:defRPr sz="1875" b="0">
                <a:solidFill>
                  <a:srgbClr val="17212B"/>
                </a:solidFill>
                <a:latin typeface="Helvetica Neue"/>
                <a:ea typeface="Helvetica Neue"/>
                <a:cs typeface="Helvetica Neue"/>
              </a:defRPr>
            </a:pPr>
            <a:r>
              <a:rPr sz="1875" b="0">
                <a:solidFill>
                  <a:srgbClr val="17212B"/>
                </a:solidFill>
                <a:latin typeface="Helvetica Neue"/>
                <a:ea typeface="Helvetica Neue"/>
                <a:cs typeface="Helvetica Neue"/>
              </a:rPr>
              <a:t>•  Acts 1:9</a:t>
            </a:r>
          </a:p>
        </p:txBody>
      </p:sp>
      <p:sp>
        <p:nvSpPr>
          <p:cNvPr id="8" name="q5-bullet-1">
            <a:extLst>
              <a:ext uri="{FF2B5EF4-FFF2-40B4-BE49-F238E27FC236}">
                <a16:creationId xmlns:a16="http://schemas.microsoft.com/office/drawing/2014/main" id="{4A8876A4-4E20-4C7D-B116-BD8229CB9F13}"/>
              </a:ext>
            </a:extLst>
          </p:cNvPr>
          <p:cNvSpPr>
            <a:spLocks noGrp="1"/>
          </p:cNvSpPr>
          <p:nvPr/>
        </p:nvSpPr>
        <p:spPr>
          <a:xfrm>
            <a:off x="1028700" y="3714750"/>
            <a:ext cx="9696450" cy="400050"/>
          </a:xfrm>
          <a:prstGeom prst="rect">
            <a:avLst/>
          </a:prstGeom>
          <a:noFill/>
          <a:ln w="0">
            <a:noFill/>
            <a:prstDash val="solid"/>
          </a:ln>
        </p:spPr>
        <p:txBody>
          <a:bodyPr wrap="square" lIns="57150" tIns="38100" rIns="57150" bIns="38100" anchor="t">
            <a:normAutofit/>
          </a:bodyPr>
          <a:lstStyle/>
          <a:p>
            <a:pPr algn="l">
              <a:defRPr sz="1875" b="0">
                <a:solidFill>
                  <a:srgbClr val="17212B"/>
                </a:solidFill>
                <a:latin typeface="Helvetica Neue"/>
                <a:ea typeface="Helvetica Neue"/>
                <a:cs typeface="Helvetica Neue"/>
              </a:defRPr>
            </a:pPr>
            <a:r>
              <a:rPr sz="1875" b="0">
                <a:solidFill>
                  <a:srgbClr val="17212B"/>
                </a:solidFill>
                <a:latin typeface="Helvetica Neue"/>
                <a:ea typeface="Helvetica Neue"/>
                <a:cs typeface="Helvetica Neue"/>
              </a:rPr>
              <a:t>•  John 16:5–15</a:t>
            </a:r>
          </a:p>
        </p:txBody>
      </p:sp>
      <p:sp>
        <p:nvSpPr>
          <p:cNvPr id="9" name="q5-bullet-2">
            <a:extLst>
              <a:ext uri="{FF2B5EF4-FFF2-40B4-BE49-F238E27FC236}">
                <a16:creationId xmlns:a16="http://schemas.microsoft.com/office/drawing/2014/main" id="{6AF0E4B2-E45F-44A0-A358-ECE0B1D98AD0}"/>
              </a:ext>
            </a:extLst>
          </p:cNvPr>
          <p:cNvSpPr>
            <a:spLocks noGrp="1"/>
          </p:cNvSpPr>
          <p:nvPr/>
        </p:nvSpPr>
        <p:spPr>
          <a:xfrm>
            <a:off x="1028700" y="4267200"/>
            <a:ext cx="9696450" cy="400050"/>
          </a:xfrm>
          <a:prstGeom prst="rect">
            <a:avLst/>
          </a:prstGeom>
          <a:noFill/>
          <a:ln w="0">
            <a:noFill/>
            <a:prstDash val="solid"/>
          </a:ln>
        </p:spPr>
        <p:txBody>
          <a:bodyPr wrap="square" lIns="57150" tIns="38100" rIns="57150" bIns="38100" anchor="t">
            <a:normAutofit/>
          </a:bodyPr>
          <a:lstStyle/>
          <a:p>
            <a:pPr algn="l">
              <a:defRPr sz="1875" b="0">
                <a:solidFill>
                  <a:srgbClr val="17212B"/>
                </a:solidFill>
                <a:latin typeface="Helvetica Neue"/>
                <a:ea typeface="Helvetica Neue"/>
                <a:cs typeface="Helvetica Neue"/>
              </a:defRPr>
            </a:pPr>
            <a:r>
              <a:rPr sz="1875" b="0">
                <a:solidFill>
                  <a:srgbClr val="17212B"/>
                </a:solidFill>
                <a:latin typeface="Helvetica Neue"/>
                <a:ea typeface="Helvetica Neue"/>
                <a:cs typeface="Helvetica Neue"/>
              </a:rPr>
              <a:t>•  The Spirit would guide and empower</a:t>
            </a:r>
          </a:p>
        </p:txBody>
      </p:sp>
      <p:sp>
        <p:nvSpPr>
          <p:cNvPr id="10" name="q5-discussion">
            <a:extLst>
              <a:ext uri="{FF2B5EF4-FFF2-40B4-BE49-F238E27FC236}">
                <a16:creationId xmlns:a16="http://schemas.microsoft.com/office/drawing/2014/main" id="{5616E6AE-0641-422C-B14E-5A7692275B43}"/>
              </a:ext>
            </a:extLst>
          </p:cNvPr>
          <p:cNvSpPr>
            <a:spLocks noGrp="1"/>
          </p:cNvSpPr>
          <p:nvPr/>
        </p:nvSpPr>
        <p:spPr>
          <a:xfrm>
            <a:off x="723900" y="5476875"/>
            <a:ext cx="8572500" cy="361950"/>
          </a:xfrm>
          <a:prstGeom prst="rect">
            <a:avLst/>
          </a:prstGeom>
          <a:noFill/>
          <a:ln w="0">
            <a:noFill/>
            <a:prstDash val="solid"/>
          </a:ln>
        </p:spPr>
        <p:txBody>
          <a:bodyPr wrap="square" lIns="57150" tIns="38100" rIns="57150" bIns="38100" anchor="t">
            <a:normAutofit/>
          </a:bodyPr>
          <a:lstStyle/>
          <a:p>
            <a:pPr algn="l">
              <a:defRPr sz="1350" b="0">
                <a:solidFill>
                  <a:srgbClr val="536170"/>
                </a:solidFill>
                <a:latin typeface="Helvetica Neue"/>
                <a:ea typeface="Helvetica Neue"/>
                <a:cs typeface="Helvetica Neue"/>
              </a:defRPr>
            </a:pPr>
            <a:r>
              <a:rPr sz="1350" b="0">
                <a:solidFill>
                  <a:srgbClr val="536170"/>
                </a:solidFill>
                <a:latin typeface="Helvetica Neue"/>
                <a:ea typeface="Helvetica Neue"/>
                <a:cs typeface="Helvetica Neue"/>
              </a:rPr>
              <a:t>Discuss before revealing the suggested response</a:t>
            </a:r>
          </a:p>
        </p:txBody>
      </p:sp>
    </p:spTree>
    <p:extLst>
      <p:ext uri="{BB962C8B-B14F-4D97-AF65-F5344CB8AC3E}">
        <p14:creationId xmlns:p14="http://schemas.microsoft.com/office/powerpoint/2010/main" val="65031691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q5-answer-panel">
            <a:extLst>
              <a:ext uri="{FF2B5EF4-FFF2-40B4-BE49-F238E27FC236}">
                <a16:creationId xmlns:a16="http://schemas.microsoft.com/office/drawing/2014/main" id="{0199B77D-D371-4895-B7D5-621D9065CA17}"/>
              </a:ext>
            </a:extLst>
          </p:cNvPr>
          <p:cNvSpPr>
            <a:spLocks noGrp="1"/>
          </p:cNvSpPr>
          <p:nvPr/>
        </p:nvSpPr>
        <p:spPr>
          <a:xfrm>
            <a:off x="685800" y="2209800"/>
            <a:ext cx="10820400" cy="3333750"/>
          </a:xfrm>
          <a:prstGeom prst="roundRect">
            <a:avLst>
              <a:gd name="adj" fmla="val 2286"/>
            </a:avLst>
          </a:prstGeom>
          <a:solidFill>
            <a:srgbClr val="EAF3F9"/>
          </a:solidFill>
          <a:ln w="9525">
            <a:solidFill>
              <a:srgbClr val="B9C7D1"/>
            </a:solidFill>
            <a:prstDash val="solid"/>
          </a:ln>
        </p:spPr>
        <p:txBody>
          <a:bodyPr/>
          <a:lstStyle/>
          <a:p>
            <a:endParaRPr lang="en-US"/>
          </a:p>
        </p:txBody>
      </p:sp>
      <p:sp>
        <p:nvSpPr>
          <p:cNvPr id="2" name="q5-answer-label">
            <a:extLst>
              <a:ext uri="{FF2B5EF4-FFF2-40B4-BE49-F238E27FC236}">
                <a16:creationId xmlns:a16="http://schemas.microsoft.com/office/drawing/2014/main" id="{48A44BB0-82EC-4470-AA2D-3B3D7794B3ED}"/>
              </a:ext>
            </a:extLst>
          </p:cNvPr>
          <p:cNvSpPr>
            <a:spLocks noGrp="1"/>
          </p:cNvSpPr>
          <p:nvPr/>
        </p:nvSpPr>
        <p:spPr>
          <a:xfrm>
            <a:off x="971550" y="2438400"/>
            <a:ext cx="3429000" cy="381000"/>
          </a:xfrm>
          <a:prstGeom prst="rect">
            <a:avLst/>
          </a:prstGeom>
          <a:noFill/>
          <a:ln w="0">
            <a:noFill/>
            <a:prstDash val="solid"/>
          </a:ln>
        </p:spPr>
        <p:txBody>
          <a:bodyPr wrap="square" lIns="57150" tIns="38100" rIns="57150" bIns="38100" anchor="t">
            <a:normAutofit/>
          </a:bodyPr>
          <a:lstStyle/>
          <a:p>
            <a:pPr algn="l">
              <a:defRPr sz="1650" b="1">
                <a:solidFill>
                  <a:srgbClr val="236AA3"/>
                </a:solidFill>
                <a:latin typeface="Helvetica Neue"/>
                <a:ea typeface="Helvetica Neue"/>
                <a:cs typeface="Helvetica Neue"/>
              </a:defRPr>
            </a:pPr>
            <a:r>
              <a:rPr sz="1650" b="1">
                <a:solidFill>
                  <a:srgbClr val="236AA3"/>
                </a:solidFill>
                <a:latin typeface="Helvetica Neue"/>
                <a:ea typeface="Helvetica Neue"/>
                <a:cs typeface="Helvetica Neue"/>
              </a:rPr>
              <a:t>Suggested response</a:t>
            </a:r>
          </a:p>
        </p:txBody>
      </p:sp>
      <p:sp>
        <p:nvSpPr>
          <p:cNvPr id="3" name="q5-answer-0">
            <a:extLst>
              <a:ext uri="{FF2B5EF4-FFF2-40B4-BE49-F238E27FC236}">
                <a16:creationId xmlns:a16="http://schemas.microsoft.com/office/drawing/2014/main" id="{F761DB51-0EC0-421B-87FB-3DB72CFBB29B}"/>
              </a:ext>
            </a:extLst>
          </p:cNvPr>
          <p:cNvSpPr>
            <a:spLocks noGrp="1"/>
          </p:cNvSpPr>
          <p:nvPr/>
        </p:nvSpPr>
        <p:spPr>
          <a:xfrm>
            <a:off x="1047750" y="3048000"/>
            <a:ext cx="9810750" cy="552450"/>
          </a:xfrm>
          <a:prstGeom prst="rect">
            <a:avLst/>
          </a:prstGeom>
          <a:noFill/>
          <a:ln w="0">
            <a:noFill/>
            <a:prstDash val="solid"/>
          </a:ln>
        </p:spPr>
        <p:txBody>
          <a:bodyPr wrap="square" lIns="57150" tIns="38100" rIns="57150" bIns="38100" anchor="t">
            <a:normAutofit/>
          </a:bodyPr>
          <a:lstStyle/>
          <a:p>
            <a:pPr algn="l">
              <a:defRPr sz="1875" b="0">
                <a:solidFill>
                  <a:srgbClr val="17212B"/>
                </a:solidFill>
                <a:latin typeface="Helvetica Neue"/>
                <a:ea typeface="Helvetica Neue"/>
                <a:cs typeface="Helvetica Neue"/>
              </a:defRPr>
            </a:pPr>
            <a:r>
              <a:rPr sz="1875" b="0">
                <a:solidFill>
                  <a:srgbClr val="17212B"/>
                </a:solidFill>
                <a:latin typeface="Helvetica Neue"/>
                <a:ea typeface="Helvetica Neue"/>
                <a:cs typeface="Helvetica Neue"/>
              </a:rPr>
              <a:t>•  His earthly ministry had reached its appointed transition</a:t>
            </a:r>
          </a:p>
        </p:txBody>
      </p:sp>
      <p:sp>
        <p:nvSpPr>
          <p:cNvPr id="4" name="q5-answer-1">
            <a:extLst>
              <a:ext uri="{FF2B5EF4-FFF2-40B4-BE49-F238E27FC236}">
                <a16:creationId xmlns:a16="http://schemas.microsoft.com/office/drawing/2014/main" id="{A1AD097B-099D-4C97-A71E-2CB9905D4E96}"/>
              </a:ext>
            </a:extLst>
          </p:cNvPr>
          <p:cNvSpPr>
            <a:spLocks noGrp="1"/>
          </p:cNvSpPr>
          <p:nvPr/>
        </p:nvSpPr>
        <p:spPr>
          <a:xfrm>
            <a:off x="1047750" y="3771900"/>
            <a:ext cx="9810750" cy="552450"/>
          </a:xfrm>
          <a:prstGeom prst="rect">
            <a:avLst/>
          </a:prstGeom>
          <a:noFill/>
          <a:ln w="0">
            <a:noFill/>
            <a:prstDash val="solid"/>
          </a:ln>
        </p:spPr>
        <p:txBody>
          <a:bodyPr wrap="square" lIns="57150" tIns="38100" rIns="57150" bIns="38100" anchor="t">
            <a:normAutofit/>
          </a:bodyPr>
          <a:lstStyle/>
          <a:p>
            <a:pPr algn="l">
              <a:defRPr sz="1875" b="0">
                <a:solidFill>
                  <a:srgbClr val="17212B"/>
                </a:solidFill>
                <a:latin typeface="Helvetica Neue"/>
                <a:ea typeface="Helvetica Neue"/>
                <a:cs typeface="Helvetica Neue"/>
              </a:defRPr>
            </a:pPr>
            <a:r>
              <a:rPr sz="1875" b="0">
                <a:solidFill>
                  <a:srgbClr val="17212B"/>
                </a:solidFill>
                <a:latin typeface="Helvetica Neue"/>
                <a:ea typeface="Helvetica Neue"/>
                <a:cs typeface="Helvetica Neue"/>
              </a:rPr>
              <a:t>•  His ascension opened the next stage of God’s plan</a:t>
            </a:r>
          </a:p>
        </p:txBody>
      </p:sp>
      <p:sp>
        <p:nvSpPr>
          <p:cNvPr id="5" name="q5-answer-2">
            <a:extLst>
              <a:ext uri="{FF2B5EF4-FFF2-40B4-BE49-F238E27FC236}">
                <a16:creationId xmlns:a16="http://schemas.microsoft.com/office/drawing/2014/main" id="{15260798-A806-445F-A612-8CECE08D815C}"/>
              </a:ext>
            </a:extLst>
          </p:cNvPr>
          <p:cNvSpPr>
            <a:spLocks noGrp="1"/>
          </p:cNvSpPr>
          <p:nvPr/>
        </p:nvSpPr>
        <p:spPr>
          <a:xfrm>
            <a:off x="1047750" y="4495800"/>
            <a:ext cx="9810750" cy="552450"/>
          </a:xfrm>
          <a:prstGeom prst="rect">
            <a:avLst/>
          </a:prstGeom>
          <a:noFill/>
          <a:ln w="0">
            <a:noFill/>
            <a:prstDash val="solid"/>
          </a:ln>
        </p:spPr>
        <p:txBody>
          <a:bodyPr wrap="square" lIns="57150" tIns="38100" rIns="57150" bIns="38100" anchor="t">
            <a:normAutofit/>
          </a:bodyPr>
          <a:lstStyle/>
          <a:p>
            <a:pPr algn="l">
              <a:defRPr sz="1875" b="0">
                <a:solidFill>
                  <a:srgbClr val="17212B"/>
                </a:solidFill>
                <a:latin typeface="Helvetica Neue"/>
                <a:ea typeface="Helvetica Neue"/>
                <a:cs typeface="Helvetica Neue"/>
              </a:defRPr>
            </a:pPr>
            <a:r>
              <a:rPr sz="1875" b="0">
                <a:solidFill>
                  <a:srgbClr val="17212B"/>
                </a:solidFill>
                <a:latin typeface="Helvetica Neue"/>
                <a:ea typeface="Helvetica Neue"/>
                <a:cs typeface="Helvetica Neue"/>
              </a:rPr>
              <a:t>•  The Spirit would make Christ’s presence and power effective through the church</a:t>
            </a:r>
          </a:p>
        </p:txBody>
      </p:sp>
      <p:sp>
        <p:nvSpPr>
          <p:cNvPr id="6" name="eyebrow-13">
            <a:extLst>
              <a:ext uri="{FF2B5EF4-FFF2-40B4-BE49-F238E27FC236}">
                <a16:creationId xmlns:a16="http://schemas.microsoft.com/office/drawing/2014/main" id="{3574AFF0-08B3-4002-95B5-6BC493442641}"/>
              </a:ext>
            </a:extLst>
          </p:cNvPr>
          <p:cNvSpPr>
            <a:spLocks noGrp="1"/>
          </p:cNvSpPr>
          <p:nvPr/>
        </p:nvSpPr>
        <p:spPr>
          <a:xfrm>
            <a:off x="552450" y="323850"/>
            <a:ext cx="3238500" cy="285750"/>
          </a:xfrm>
          <a:prstGeom prst="rect">
            <a:avLst/>
          </a:prstGeom>
          <a:noFill/>
          <a:ln w="0">
            <a:noFill/>
            <a:prstDash val="solid"/>
          </a:ln>
        </p:spPr>
        <p:txBody>
          <a:bodyPr wrap="square" lIns="57150" tIns="38100" rIns="57150" bIns="38100" anchor="t">
            <a:normAutofit/>
          </a:bodyPr>
          <a:lstStyle/>
          <a:p>
            <a:pPr algn="l">
              <a:defRPr sz="1125" b="1">
                <a:solidFill>
                  <a:srgbClr val="C99535"/>
                </a:solidFill>
                <a:latin typeface="Helvetica Neue"/>
                <a:ea typeface="Helvetica Neue"/>
                <a:cs typeface="Helvetica Neue"/>
              </a:defRPr>
            </a:pPr>
            <a:r>
              <a:rPr sz="1125" b="1">
                <a:solidFill>
                  <a:srgbClr val="C99535"/>
                </a:solidFill>
                <a:latin typeface="Helvetica Neue"/>
                <a:ea typeface="Helvetica Neue"/>
                <a:cs typeface="Helvetica Neue"/>
              </a:rPr>
              <a:t>QUESTION 5 — SUGGESTED RESPONSE</a:t>
            </a:r>
          </a:p>
        </p:txBody>
      </p:sp>
      <p:sp>
        <p:nvSpPr>
          <p:cNvPr id="7" name="title-13">
            <a:extLst>
              <a:ext uri="{FF2B5EF4-FFF2-40B4-BE49-F238E27FC236}">
                <a16:creationId xmlns:a16="http://schemas.microsoft.com/office/drawing/2014/main" id="{B3D7C53F-8938-4480-9EB2-A7F9C2277966}"/>
              </a:ext>
            </a:extLst>
          </p:cNvPr>
          <p:cNvSpPr>
            <a:spLocks noGrp="1"/>
          </p:cNvSpPr>
          <p:nvPr/>
        </p:nvSpPr>
        <p:spPr>
          <a:xfrm>
            <a:off x="552450" y="704850"/>
            <a:ext cx="10810875" cy="914400"/>
          </a:xfrm>
          <a:prstGeom prst="rect">
            <a:avLst/>
          </a:prstGeom>
          <a:noFill/>
          <a:ln w="0">
            <a:noFill/>
            <a:prstDash val="solid"/>
          </a:ln>
        </p:spPr>
        <p:txBody>
          <a:bodyPr wrap="square" lIns="57150" tIns="38100" rIns="57150" bIns="38100" anchor="t">
            <a:normAutofit fontScale="91667"/>
          </a:bodyPr>
          <a:lstStyle/>
          <a:p>
            <a:pPr algn="l">
              <a:defRPr sz="3000" b="1">
                <a:solidFill>
                  <a:srgbClr val="17212B"/>
                </a:solidFill>
                <a:latin typeface="Helvetica Neue"/>
                <a:ea typeface="Helvetica Neue"/>
                <a:cs typeface="Helvetica Neue"/>
              </a:defRPr>
            </a:pPr>
            <a:r>
              <a:rPr sz="3000" b="1">
                <a:solidFill>
                  <a:srgbClr val="17212B"/>
                </a:solidFill>
                <a:latin typeface="Helvetica Neue"/>
                <a:ea typeface="Helvetica Neue"/>
                <a:cs typeface="Helvetica Neue"/>
              </a:rPr>
              <a:t>Why was it necessary for Jesus to stop giving direct instructions to His disciples and ascend to be with His Father?</a:t>
            </a:r>
          </a:p>
        </p:txBody>
      </p:sp>
      <p:sp>
        <p:nvSpPr>
          <p:cNvPr id="8" name="rule-13">
            <a:extLst>
              <a:ext uri="{FF2B5EF4-FFF2-40B4-BE49-F238E27FC236}">
                <a16:creationId xmlns:a16="http://schemas.microsoft.com/office/drawing/2014/main" id="{B1C2FD19-1302-4465-932B-FE3514D80522}"/>
              </a:ext>
            </a:extLst>
          </p:cNvPr>
          <p:cNvSpPr>
            <a:spLocks noGrp="1"/>
          </p:cNvSpPr>
          <p:nvPr/>
        </p:nvSpPr>
        <p:spPr>
          <a:xfrm>
            <a:off x="552450" y="1657350"/>
            <a:ext cx="10810875" cy="28575"/>
          </a:xfrm>
          <a:prstGeom prst="rect">
            <a:avLst/>
          </a:prstGeom>
          <a:solidFill>
            <a:srgbClr val="C99535"/>
          </a:solidFill>
          <a:ln w="0">
            <a:noFill/>
            <a:prstDash val="solid"/>
          </a:ln>
        </p:spPr>
        <p:txBody>
          <a:bodyPr/>
          <a:lstStyle/>
          <a:p>
            <a:endParaRPr lang="en-US"/>
          </a:p>
        </p:txBody>
      </p:sp>
      <p:sp>
        <p:nvSpPr>
          <p:cNvPr id="9" name="number-13">
            <a:extLst>
              <a:ext uri="{FF2B5EF4-FFF2-40B4-BE49-F238E27FC236}">
                <a16:creationId xmlns:a16="http://schemas.microsoft.com/office/drawing/2014/main" id="{19811259-522D-46E3-B59F-05C1D19E0F65}"/>
              </a:ext>
            </a:extLst>
          </p:cNvPr>
          <p:cNvSpPr>
            <a:spLocks noGrp="1"/>
          </p:cNvSpPr>
          <p:nvPr/>
        </p:nvSpPr>
        <p:spPr>
          <a:xfrm>
            <a:off x="10858500" y="6305550"/>
            <a:ext cx="514350" cy="247650"/>
          </a:xfrm>
          <a:prstGeom prst="rect">
            <a:avLst/>
          </a:prstGeom>
          <a:noFill/>
          <a:ln w="0">
            <a:noFill/>
            <a:prstDash val="solid"/>
          </a:ln>
        </p:spPr>
        <p:txBody>
          <a:bodyPr wrap="square" lIns="57150" tIns="38100" rIns="57150" bIns="38100" anchor="t">
            <a:normAutofit/>
          </a:bodyPr>
          <a:lstStyle/>
          <a:p>
            <a:pPr algn="r">
              <a:defRPr sz="1050" b="0">
                <a:solidFill>
                  <a:srgbClr val="536170"/>
                </a:solidFill>
                <a:latin typeface="Helvetica Neue"/>
                <a:ea typeface="Helvetica Neue"/>
                <a:cs typeface="Helvetica Neue"/>
              </a:defRPr>
            </a:pPr>
            <a:r>
              <a:rPr sz="1050" b="0">
                <a:solidFill>
                  <a:srgbClr val="536170"/>
                </a:solidFill>
                <a:latin typeface="Helvetica Neue"/>
                <a:ea typeface="Helvetica Neue"/>
                <a:cs typeface="Helvetica Neue"/>
              </a:rPr>
              <a:t>13</a:t>
            </a:r>
          </a:p>
        </p:txBody>
      </p:sp>
    </p:spTree>
    <p:extLst>
      <p:ext uri="{BB962C8B-B14F-4D97-AF65-F5344CB8AC3E}">
        <p14:creationId xmlns:p14="http://schemas.microsoft.com/office/powerpoint/2010/main" val="5651327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eyebrow-14">
            <a:extLst>
              <a:ext uri="{FF2B5EF4-FFF2-40B4-BE49-F238E27FC236}">
                <a16:creationId xmlns:a16="http://schemas.microsoft.com/office/drawing/2014/main" id="{2F968ACA-B64E-46DA-A393-DF8860D38BAE}"/>
              </a:ext>
            </a:extLst>
          </p:cNvPr>
          <p:cNvSpPr>
            <a:spLocks noGrp="1"/>
          </p:cNvSpPr>
          <p:nvPr/>
        </p:nvSpPr>
        <p:spPr>
          <a:xfrm>
            <a:off x="552450" y="323850"/>
            <a:ext cx="3238500" cy="285750"/>
          </a:xfrm>
          <a:prstGeom prst="rect">
            <a:avLst/>
          </a:prstGeom>
          <a:noFill/>
          <a:ln w="0">
            <a:noFill/>
            <a:prstDash val="solid"/>
          </a:ln>
        </p:spPr>
        <p:txBody>
          <a:bodyPr wrap="square" lIns="57150" tIns="38100" rIns="57150" bIns="38100" anchor="t">
            <a:normAutofit/>
          </a:bodyPr>
          <a:lstStyle/>
          <a:p>
            <a:pPr algn="l">
              <a:defRPr sz="1125" b="1">
                <a:solidFill>
                  <a:srgbClr val="236AA3"/>
                </a:solidFill>
                <a:latin typeface="Helvetica Neue"/>
                <a:ea typeface="Helvetica Neue"/>
                <a:cs typeface="Helvetica Neue"/>
              </a:defRPr>
            </a:pPr>
            <a:r>
              <a:rPr sz="1125" b="1">
                <a:solidFill>
                  <a:srgbClr val="236AA3"/>
                </a:solidFill>
                <a:latin typeface="Helvetica Neue"/>
                <a:ea typeface="Helvetica Neue"/>
                <a:cs typeface="Helvetica Neue"/>
              </a:rPr>
              <a:t>QUESTION 6</a:t>
            </a:r>
          </a:p>
        </p:txBody>
      </p:sp>
      <p:sp>
        <p:nvSpPr>
          <p:cNvPr id="2" name="title-14">
            <a:extLst>
              <a:ext uri="{FF2B5EF4-FFF2-40B4-BE49-F238E27FC236}">
                <a16:creationId xmlns:a16="http://schemas.microsoft.com/office/drawing/2014/main" id="{20230D58-9EF1-4AFA-8D22-E96512EDDA70}"/>
              </a:ext>
            </a:extLst>
          </p:cNvPr>
          <p:cNvSpPr>
            <a:spLocks noGrp="1"/>
          </p:cNvSpPr>
          <p:nvPr/>
        </p:nvSpPr>
        <p:spPr>
          <a:xfrm>
            <a:off x="552450" y="704850"/>
            <a:ext cx="10810875" cy="914400"/>
          </a:xfrm>
          <a:prstGeom prst="rect">
            <a:avLst/>
          </a:prstGeom>
          <a:noFill/>
          <a:ln w="0">
            <a:noFill/>
            <a:prstDash val="solid"/>
          </a:ln>
        </p:spPr>
        <p:txBody>
          <a:bodyPr wrap="square" lIns="57150" tIns="38100" rIns="57150" bIns="38100" anchor="t">
            <a:normAutofit fontScale="91667"/>
          </a:bodyPr>
          <a:lstStyle/>
          <a:p>
            <a:pPr algn="l">
              <a:defRPr sz="3000" b="1">
                <a:solidFill>
                  <a:srgbClr val="17212B"/>
                </a:solidFill>
                <a:latin typeface="Helvetica Neue"/>
                <a:ea typeface="Helvetica Neue"/>
                <a:cs typeface="Helvetica Neue"/>
              </a:defRPr>
            </a:pPr>
            <a:r>
              <a:rPr sz="3000" b="1">
                <a:solidFill>
                  <a:srgbClr val="17212B"/>
                </a:solidFill>
                <a:latin typeface="Helvetica Neue"/>
                <a:ea typeface="Helvetica Neue"/>
                <a:cs typeface="Helvetica Neue"/>
              </a:rPr>
              <a:t>a. What sustained the apostles while Jesus was absent?</a:t>
            </a:r>
          </a:p>
          <a:p>
            <a:pPr algn="l">
              <a:defRPr sz="3000" b="1">
                <a:solidFill>
                  <a:srgbClr val="17212B"/>
                </a:solidFill>
                <a:latin typeface="Helvetica Neue"/>
                <a:ea typeface="Helvetica Neue"/>
                <a:cs typeface="Helvetica Neue"/>
              </a:defRPr>
            </a:pPr>
            <a:r>
              <a:rPr sz="3000" b="1">
                <a:solidFill>
                  <a:srgbClr val="17212B"/>
                </a:solidFill>
                <a:latin typeface="Helvetica Neue"/>
                <a:ea typeface="Helvetica Neue"/>
                <a:cs typeface="Helvetica Neue"/>
              </a:rPr>
              <a:t>b. Why was this encouraging?</a:t>
            </a:r>
          </a:p>
        </p:txBody>
      </p:sp>
      <p:sp>
        <p:nvSpPr>
          <p:cNvPr id="3" name="rule-14">
            <a:extLst>
              <a:ext uri="{FF2B5EF4-FFF2-40B4-BE49-F238E27FC236}">
                <a16:creationId xmlns:a16="http://schemas.microsoft.com/office/drawing/2014/main" id="{3719E7AB-9AEE-40E5-82A5-AF99BAF09581}"/>
              </a:ext>
            </a:extLst>
          </p:cNvPr>
          <p:cNvSpPr>
            <a:spLocks noGrp="1"/>
          </p:cNvSpPr>
          <p:nvPr/>
        </p:nvSpPr>
        <p:spPr>
          <a:xfrm>
            <a:off x="552450" y="1657350"/>
            <a:ext cx="10810875" cy="28575"/>
          </a:xfrm>
          <a:prstGeom prst="rect">
            <a:avLst/>
          </a:prstGeom>
          <a:solidFill>
            <a:srgbClr val="236AA3"/>
          </a:solidFill>
          <a:ln w="0">
            <a:noFill/>
            <a:prstDash val="solid"/>
          </a:ln>
        </p:spPr>
        <p:txBody>
          <a:bodyPr/>
          <a:lstStyle/>
          <a:p>
            <a:endParaRPr lang="en-US"/>
          </a:p>
        </p:txBody>
      </p:sp>
      <p:sp>
        <p:nvSpPr>
          <p:cNvPr id="4" name="number-14">
            <a:extLst>
              <a:ext uri="{FF2B5EF4-FFF2-40B4-BE49-F238E27FC236}">
                <a16:creationId xmlns:a16="http://schemas.microsoft.com/office/drawing/2014/main" id="{B04AE616-C9DB-46EF-9FE2-C3A86D7B1BDF}"/>
              </a:ext>
            </a:extLst>
          </p:cNvPr>
          <p:cNvSpPr>
            <a:spLocks noGrp="1"/>
          </p:cNvSpPr>
          <p:nvPr/>
        </p:nvSpPr>
        <p:spPr>
          <a:xfrm>
            <a:off x="10858500" y="6305550"/>
            <a:ext cx="514350" cy="247650"/>
          </a:xfrm>
          <a:prstGeom prst="rect">
            <a:avLst/>
          </a:prstGeom>
          <a:noFill/>
          <a:ln w="0">
            <a:noFill/>
            <a:prstDash val="solid"/>
          </a:ln>
        </p:spPr>
        <p:txBody>
          <a:bodyPr wrap="square" lIns="57150" tIns="38100" rIns="57150" bIns="38100" anchor="t">
            <a:normAutofit/>
          </a:bodyPr>
          <a:lstStyle/>
          <a:p>
            <a:pPr algn="r">
              <a:defRPr sz="1050" b="0">
                <a:solidFill>
                  <a:srgbClr val="536170"/>
                </a:solidFill>
                <a:latin typeface="Helvetica Neue"/>
                <a:ea typeface="Helvetica Neue"/>
                <a:cs typeface="Helvetica Neue"/>
              </a:defRPr>
            </a:pPr>
            <a:r>
              <a:rPr sz="1050" b="0">
                <a:solidFill>
                  <a:srgbClr val="536170"/>
                </a:solidFill>
                <a:latin typeface="Helvetica Neue"/>
                <a:ea typeface="Helvetica Neue"/>
                <a:cs typeface="Helvetica Neue"/>
              </a:rPr>
              <a:t>14</a:t>
            </a:r>
          </a:p>
        </p:txBody>
      </p:sp>
      <p:sp>
        <p:nvSpPr>
          <p:cNvPr id="5" name="q6-context-panel">
            <a:extLst>
              <a:ext uri="{FF2B5EF4-FFF2-40B4-BE49-F238E27FC236}">
                <a16:creationId xmlns:a16="http://schemas.microsoft.com/office/drawing/2014/main" id="{C1D44801-11AD-40AB-B132-F30A59679DE7}"/>
              </a:ext>
            </a:extLst>
          </p:cNvPr>
          <p:cNvSpPr>
            <a:spLocks noGrp="1"/>
          </p:cNvSpPr>
          <p:nvPr/>
        </p:nvSpPr>
        <p:spPr>
          <a:xfrm>
            <a:off x="685800" y="2381250"/>
            <a:ext cx="10820400" cy="2590800"/>
          </a:xfrm>
          <a:prstGeom prst="roundRect">
            <a:avLst>
              <a:gd name="adj" fmla="val 2941"/>
            </a:avLst>
          </a:prstGeom>
          <a:solidFill>
            <a:srgbClr val="F4F7F9"/>
          </a:solidFill>
          <a:ln w="9525">
            <a:solidFill>
              <a:srgbClr val="B9C7D1"/>
            </a:solidFill>
            <a:prstDash val="solid"/>
          </a:ln>
        </p:spPr>
        <p:txBody>
          <a:bodyPr/>
          <a:lstStyle/>
          <a:p>
            <a:endParaRPr lang="en-US"/>
          </a:p>
        </p:txBody>
      </p:sp>
      <p:sp>
        <p:nvSpPr>
          <p:cNvPr id="6" name="q6-context-label">
            <a:extLst>
              <a:ext uri="{FF2B5EF4-FFF2-40B4-BE49-F238E27FC236}">
                <a16:creationId xmlns:a16="http://schemas.microsoft.com/office/drawing/2014/main" id="{7DCF1EFB-20A6-4AEE-9EA2-59DE4AA9FA53}"/>
              </a:ext>
            </a:extLst>
          </p:cNvPr>
          <p:cNvSpPr>
            <a:spLocks noGrp="1"/>
          </p:cNvSpPr>
          <p:nvPr/>
        </p:nvSpPr>
        <p:spPr>
          <a:xfrm>
            <a:off x="952500" y="2609850"/>
            <a:ext cx="2857500" cy="342900"/>
          </a:xfrm>
          <a:prstGeom prst="rect">
            <a:avLst/>
          </a:prstGeom>
          <a:noFill/>
          <a:ln w="0">
            <a:noFill/>
            <a:prstDash val="solid"/>
          </a:ln>
        </p:spPr>
        <p:txBody>
          <a:bodyPr wrap="square" lIns="57150" tIns="38100" rIns="57150" bIns="38100" anchor="t">
            <a:normAutofit/>
          </a:bodyPr>
          <a:lstStyle/>
          <a:p>
            <a:pPr algn="l">
              <a:defRPr sz="1500" b="1">
                <a:solidFill>
                  <a:srgbClr val="236AA3"/>
                </a:solidFill>
                <a:latin typeface="Helvetica Neue"/>
                <a:ea typeface="Helvetica Neue"/>
                <a:cs typeface="Helvetica Neue"/>
              </a:defRPr>
            </a:pPr>
            <a:r>
              <a:rPr sz="1500" b="1">
                <a:solidFill>
                  <a:srgbClr val="236AA3"/>
                </a:solidFill>
                <a:latin typeface="Helvetica Neue"/>
                <a:ea typeface="Helvetica Neue"/>
                <a:cs typeface="Helvetica Neue"/>
              </a:rPr>
              <a:t>Helpful context</a:t>
            </a:r>
          </a:p>
        </p:txBody>
      </p:sp>
      <p:sp>
        <p:nvSpPr>
          <p:cNvPr id="7" name="q6-bullet-0">
            <a:extLst>
              <a:ext uri="{FF2B5EF4-FFF2-40B4-BE49-F238E27FC236}">
                <a16:creationId xmlns:a16="http://schemas.microsoft.com/office/drawing/2014/main" id="{6DFF5459-24A2-4910-8D35-3579E026152E}"/>
              </a:ext>
            </a:extLst>
          </p:cNvPr>
          <p:cNvSpPr>
            <a:spLocks noGrp="1"/>
          </p:cNvSpPr>
          <p:nvPr/>
        </p:nvSpPr>
        <p:spPr>
          <a:xfrm>
            <a:off x="1028700" y="3162300"/>
            <a:ext cx="9696450" cy="400050"/>
          </a:xfrm>
          <a:prstGeom prst="rect">
            <a:avLst/>
          </a:prstGeom>
          <a:noFill/>
          <a:ln w="0">
            <a:noFill/>
            <a:prstDash val="solid"/>
          </a:ln>
        </p:spPr>
        <p:txBody>
          <a:bodyPr wrap="square" lIns="57150" tIns="38100" rIns="57150" bIns="38100" anchor="t">
            <a:normAutofit/>
          </a:bodyPr>
          <a:lstStyle/>
          <a:p>
            <a:pPr algn="l">
              <a:defRPr sz="1875" b="0">
                <a:solidFill>
                  <a:srgbClr val="17212B"/>
                </a:solidFill>
                <a:latin typeface="Helvetica Neue"/>
                <a:ea typeface="Helvetica Neue"/>
                <a:cs typeface="Helvetica Neue"/>
              </a:defRPr>
            </a:pPr>
            <a:r>
              <a:rPr sz="1875" b="0">
                <a:solidFill>
                  <a:srgbClr val="17212B"/>
                </a:solidFill>
                <a:latin typeface="Helvetica Neue"/>
                <a:ea typeface="Helvetica Neue"/>
                <a:cs typeface="Helvetica Neue"/>
              </a:rPr>
              <a:t>•  Acts 1:11</a:t>
            </a:r>
          </a:p>
        </p:txBody>
      </p:sp>
      <p:sp>
        <p:nvSpPr>
          <p:cNvPr id="8" name="q6-bullet-1">
            <a:extLst>
              <a:ext uri="{FF2B5EF4-FFF2-40B4-BE49-F238E27FC236}">
                <a16:creationId xmlns:a16="http://schemas.microsoft.com/office/drawing/2014/main" id="{72CE8B14-41CE-4657-88CF-CC99F4EBF07A}"/>
              </a:ext>
            </a:extLst>
          </p:cNvPr>
          <p:cNvSpPr>
            <a:spLocks noGrp="1"/>
          </p:cNvSpPr>
          <p:nvPr/>
        </p:nvSpPr>
        <p:spPr>
          <a:xfrm>
            <a:off x="1028700" y="3714750"/>
            <a:ext cx="9696450" cy="400050"/>
          </a:xfrm>
          <a:prstGeom prst="rect">
            <a:avLst/>
          </a:prstGeom>
          <a:noFill/>
          <a:ln w="0">
            <a:noFill/>
            <a:prstDash val="solid"/>
          </a:ln>
        </p:spPr>
        <p:txBody>
          <a:bodyPr wrap="square" lIns="57150" tIns="38100" rIns="57150" bIns="38100" anchor="t">
            <a:normAutofit/>
          </a:bodyPr>
          <a:lstStyle/>
          <a:p>
            <a:pPr algn="l">
              <a:defRPr sz="1875" b="0">
                <a:solidFill>
                  <a:srgbClr val="17212B"/>
                </a:solidFill>
                <a:latin typeface="Helvetica Neue"/>
                <a:ea typeface="Helvetica Neue"/>
                <a:cs typeface="Helvetica Neue"/>
              </a:defRPr>
            </a:pPr>
            <a:r>
              <a:rPr sz="1875" b="0">
                <a:solidFill>
                  <a:srgbClr val="17212B"/>
                </a:solidFill>
                <a:latin typeface="Helvetica Neue"/>
                <a:ea typeface="Helvetica Neue"/>
                <a:cs typeface="Helvetica Neue"/>
              </a:rPr>
              <a:t>•  Jesus will return</a:t>
            </a:r>
          </a:p>
        </p:txBody>
      </p:sp>
      <p:sp>
        <p:nvSpPr>
          <p:cNvPr id="9" name="q6-bullet-2">
            <a:extLst>
              <a:ext uri="{FF2B5EF4-FFF2-40B4-BE49-F238E27FC236}">
                <a16:creationId xmlns:a16="http://schemas.microsoft.com/office/drawing/2014/main" id="{221875D0-9478-4729-9C7F-7973A1F7B287}"/>
              </a:ext>
            </a:extLst>
          </p:cNvPr>
          <p:cNvSpPr>
            <a:spLocks noGrp="1"/>
          </p:cNvSpPr>
          <p:nvPr/>
        </p:nvSpPr>
        <p:spPr>
          <a:xfrm>
            <a:off x="1028700" y="4267200"/>
            <a:ext cx="9696450" cy="400050"/>
          </a:xfrm>
          <a:prstGeom prst="rect">
            <a:avLst/>
          </a:prstGeom>
          <a:noFill/>
          <a:ln w="0">
            <a:noFill/>
            <a:prstDash val="solid"/>
          </a:ln>
        </p:spPr>
        <p:txBody>
          <a:bodyPr wrap="square" lIns="57150" tIns="38100" rIns="57150" bIns="38100" anchor="t">
            <a:normAutofit/>
          </a:bodyPr>
          <a:lstStyle/>
          <a:p>
            <a:pPr algn="l">
              <a:defRPr sz="1875" b="0">
                <a:solidFill>
                  <a:srgbClr val="17212B"/>
                </a:solidFill>
                <a:latin typeface="Helvetica Neue"/>
                <a:ea typeface="Helvetica Neue"/>
                <a:cs typeface="Helvetica Neue"/>
              </a:defRPr>
            </a:pPr>
            <a:r>
              <a:rPr sz="1875" b="0">
                <a:solidFill>
                  <a:srgbClr val="17212B"/>
                </a:solidFill>
                <a:latin typeface="Helvetica Neue"/>
                <a:ea typeface="Helvetica Neue"/>
                <a:cs typeface="Helvetica Neue"/>
              </a:rPr>
              <a:t>•  His absence is temporary</a:t>
            </a:r>
          </a:p>
        </p:txBody>
      </p:sp>
      <p:sp>
        <p:nvSpPr>
          <p:cNvPr id="10" name="q6-discussion">
            <a:extLst>
              <a:ext uri="{FF2B5EF4-FFF2-40B4-BE49-F238E27FC236}">
                <a16:creationId xmlns:a16="http://schemas.microsoft.com/office/drawing/2014/main" id="{BE42BD58-94A8-4C10-A793-EFC51DC07B47}"/>
              </a:ext>
            </a:extLst>
          </p:cNvPr>
          <p:cNvSpPr>
            <a:spLocks noGrp="1"/>
          </p:cNvSpPr>
          <p:nvPr/>
        </p:nvSpPr>
        <p:spPr>
          <a:xfrm>
            <a:off x="723900" y="5476875"/>
            <a:ext cx="8572500" cy="361950"/>
          </a:xfrm>
          <a:prstGeom prst="rect">
            <a:avLst/>
          </a:prstGeom>
          <a:noFill/>
          <a:ln w="0">
            <a:noFill/>
            <a:prstDash val="solid"/>
          </a:ln>
        </p:spPr>
        <p:txBody>
          <a:bodyPr wrap="square" lIns="57150" tIns="38100" rIns="57150" bIns="38100" anchor="t">
            <a:normAutofit/>
          </a:bodyPr>
          <a:lstStyle/>
          <a:p>
            <a:pPr algn="l">
              <a:defRPr sz="1350" b="0">
                <a:solidFill>
                  <a:srgbClr val="536170"/>
                </a:solidFill>
                <a:latin typeface="Helvetica Neue"/>
                <a:ea typeface="Helvetica Neue"/>
                <a:cs typeface="Helvetica Neue"/>
              </a:defRPr>
            </a:pPr>
            <a:r>
              <a:rPr sz="1350" b="0">
                <a:solidFill>
                  <a:srgbClr val="536170"/>
                </a:solidFill>
                <a:latin typeface="Helvetica Neue"/>
                <a:ea typeface="Helvetica Neue"/>
                <a:cs typeface="Helvetica Neue"/>
              </a:rPr>
              <a:t>Discuss before revealing the suggested response</a:t>
            </a:r>
          </a:p>
        </p:txBody>
      </p:sp>
    </p:spTree>
    <p:extLst>
      <p:ext uri="{BB962C8B-B14F-4D97-AF65-F5344CB8AC3E}">
        <p14:creationId xmlns:p14="http://schemas.microsoft.com/office/powerpoint/2010/main" val="19613060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q6-answer-panel">
            <a:extLst>
              <a:ext uri="{FF2B5EF4-FFF2-40B4-BE49-F238E27FC236}">
                <a16:creationId xmlns:a16="http://schemas.microsoft.com/office/drawing/2014/main" id="{C7222EE3-AEF3-4AC6-B6BF-75DB389749F1}"/>
              </a:ext>
            </a:extLst>
          </p:cNvPr>
          <p:cNvSpPr>
            <a:spLocks noGrp="1"/>
          </p:cNvSpPr>
          <p:nvPr/>
        </p:nvSpPr>
        <p:spPr>
          <a:xfrm>
            <a:off x="685800" y="2209800"/>
            <a:ext cx="10820400" cy="3333750"/>
          </a:xfrm>
          <a:prstGeom prst="roundRect">
            <a:avLst>
              <a:gd name="adj" fmla="val 2286"/>
            </a:avLst>
          </a:prstGeom>
          <a:solidFill>
            <a:srgbClr val="EAF3F9"/>
          </a:solidFill>
          <a:ln w="9525">
            <a:solidFill>
              <a:srgbClr val="B9C7D1"/>
            </a:solidFill>
            <a:prstDash val="solid"/>
          </a:ln>
        </p:spPr>
        <p:txBody>
          <a:bodyPr/>
          <a:lstStyle/>
          <a:p>
            <a:endParaRPr lang="en-US"/>
          </a:p>
        </p:txBody>
      </p:sp>
      <p:sp>
        <p:nvSpPr>
          <p:cNvPr id="2" name="q6-answer-label">
            <a:extLst>
              <a:ext uri="{FF2B5EF4-FFF2-40B4-BE49-F238E27FC236}">
                <a16:creationId xmlns:a16="http://schemas.microsoft.com/office/drawing/2014/main" id="{50B1B34D-D3CE-47B0-9C7B-2A41204BCC2A}"/>
              </a:ext>
            </a:extLst>
          </p:cNvPr>
          <p:cNvSpPr>
            <a:spLocks noGrp="1"/>
          </p:cNvSpPr>
          <p:nvPr/>
        </p:nvSpPr>
        <p:spPr>
          <a:xfrm>
            <a:off x="971550" y="2438400"/>
            <a:ext cx="3429000" cy="381000"/>
          </a:xfrm>
          <a:prstGeom prst="rect">
            <a:avLst/>
          </a:prstGeom>
          <a:noFill/>
          <a:ln w="0">
            <a:noFill/>
            <a:prstDash val="solid"/>
          </a:ln>
        </p:spPr>
        <p:txBody>
          <a:bodyPr wrap="square" lIns="57150" tIns="38100" rIns="57150" bIns="38100" anchor="t">
            <a:normAutofit/>
          </a:bodyPr>
          <a:lstStyle/>
          <a:p>
            <a:pPr algn="l">
              <a:defRPr sz="1650" b="1">
                <a:solidFill>
                  <a:srgbClr val="236AA3"/>
                </a:solidFill>
                <a:latin typeface="Helvetica Neue"/>
                <a:ea typeface="Helvetica Neue"/>
                <a:cs typeface="Helvetica Neue"/>
              </a:defRPr>
            </a:pPr>
            <a:r>
              <a:rPr sz="1650" b="1">
                <a:solidFill>
                  <a:srgbClr val="236AA3"/>
                </a:solidFill>
                <a:latin typeface="Helvetica Neue"/>
                <a:ea typeface="Helvetica Neue"/>
                <a:cs typeface="Helvetica Neue"/>
              </a:rPr>
              <a:t>Suggested response</a:t>
            </a:r>
          </a:p>
        </p:txBody>
      </p:sp>
      <p:sp>
        <p:nvSpPr>
          <p:cNvPr id="3" name="q6-answer-0">
            <a:extLst>
              <a:ext uri="{FF2B5EF4-FFF2-40B4-BE49-F238E27FC236}">
                <a16:creationId xmlns:a16="http://schemas.microsoft.com/office/drawing/2014/main" id="{88931ABF-C065-4A1C-8416-63D2FF80BC19}"/>
              </a:ext>
            </a:extLst>
          </p:cNvPr>
          <p:cNvSpPr>
            <a:spLocks noGrp="1"/>
          </p:cNvSpPr>
          <p:nvPr/>
        </p:nvSpPr>
        <p:spPr>
          <a:xfrm>
            <a:off x="1047750" y="3048000"/>
            <a:ext cx="9810750" cy="552450"/>
          </a:xfrm>
          <a:prstGeom prst="rect">
            <a:avLst/>
          </a:prstGeom>
          <a:noFill/>
          <a:ln w="0">
            <a:noFill/>
            <a:prstDash val="solid"/>
          </a:ln>
        </p:spPr>
        <p:txBody>
          <a:bodyPr wrap="square" lIns="57150" tIns="38100" rIns="57150" bIns="38100" anchor="t">
            <a:normAutofit/>
          </a:bodyPr>
          <a:lstStyle/>
          <a:p>
            <a:pPr algn="l">
              <a:defRPr sz="1875" b="0">
                <a:solidFill>
                  <a:srgbClr val="17212B"/>
                </a:solidFill>
                <a:latin typeface="Helvetica Neue"/>
                <a:ea typeface="Helvetica Neue"/>
                <a:cs typeface="Helvetica Neue"/>
              </a:defRPr>
            </a:pPr>
            <a:r>
              <a:rPr sz="1875" b="0">
                <a:solidFill>
                  <a:srgbClr val="17212B"/>
                </a:solidFill>
                <a:latin typeface="Helvetica Neue"/>
                <a:ea typeface="Helvetica Neue"/>
                <a:cs typeface="Helvetica Neue"/>
              </a:rPr>
              <a:t>•  a. The risen and ascended Jesus would return</a:t>
            </a:r>
          </a:p>
        </p:txBody>
      </p:sp>
      <p:sp>
        <p:nvSpPr>
          <p:cNvPr id="4" name="q6-answer-1">
            <a:extLst>
              <a:ext uri="{FF2B5EF4-FFF2-40B4-BE49-F238E27FC236}">
                <a16:creationId xmlns:a16="http://schemas.microsoft.com/office/drawing/2014/main" id="{ACF3C0A3-5379-4480-AB04-F3AE5D3DD45A}"/>
              </a:ext>
            </a:extLst>
          </p:cNvPr>
          <p:cNvSpPr>
            <a:spLocks noGrp="1"/>
          </p:cNvSpPr>
          <p:nvPr/>
        </p:nvSpPr>
        <p:spPr>
          <a:xfrm>
            <a:off x="1047750" y="3771900"/>
            <a:ext cx="9810750" cy="552450"/>
          </a:xfrm>
          <a:prstGeom prst="rect">
            <a:avLst/>
          </a:prstGeom>
          <a:noFill/>
          <a:ln w="0">
            <a:noFill/>
            <a:prstDash val="solid"/>
          </a:ln>
        </p:spPr>
        <p:txBody>
          <a:bodyPr wrap="square" lIns="57150" tIns="38100" rIns="57150" bIns="38100" anchor="t">
            <a:normAutofit/>
          </a:bodyPr>
          <a:lstStyle/>
          <a:p>
            <a:pPr algn="l">
              <a:defRPr sz="1875" b="0">
                <a:solidFill>
                  <a:srgbClr val="17212B"/>
                </a:solidFill>
                <a:latin typeface="Helvetica Neue"/>
                <a:ea typeface="Helvetica Neue"/>
                <a:cs typeface="Helvetica Neue"/>
              </a:defRPr>
            </a:pPr>
            <a:r>
              <a:rPr sz="1875" b="0">
                <a:solidFill>
                  <a:srgbClr val="17212B"/>
                </a:solidFill>
                <a:latin typeface="Helvetica Neue"/>
                <a:ea typeface="Helvetica Neue"/>
                <a:cs typeface="Helvetica Neue"/>
              </a:rPr>
              <a:t>•  b. Their mission rested on His victory and promised return</a:t>
            </a:r>
          </a:p>
        </p:txBody>
      </p:sp>
      <p:sp>
        <p:nvSpPr>
          <p:cNvPr id="5" name="q6-answer-2">
            <a:extLst>
              <a:ext uri="{FF2B5EF4-FFF2-40B4-BE49-F238E27FC236}">
                <a16:creationId xmlns:a16="http://schemas.microsoft.com/office/drawing/2014/main" id="{98E64DEA-AB20-47FF-935C-DAB6F248D495}"/>
              </a:ext>
            </a:extLst>
          </p:cNvPr>
          <p:cNvSpPr>
            <a:spLocks noGrp="1"/>
          </p:cNvSpPr>
          <p:nvPr/>
        </p:nvSpPr>
        <p:spPr>
          <a:xfrm>
            <a:off x="1047750" y="4495800"/>
            <a:ext cx="9810750" cy="552450"/>
          </a:xfrm>
          <a:prstGeom prst="rect">
            <a:avLst/>
          </a:prstGeom>
          <a:noFill/>
          <a:ln w="0">
            <a:noFill/>
            <a:prstDash val="solid"/>
          </a:ln>
        </p:spPr>
        <p:txBody>
          <a:bodyPr wrap="square" lIns="57150" tIns="38100" rIns="57150" bIns="38100" anchor="t">
            <a:normAutofit/>
          </a:bodyPr>
          <a:lstStyle/>
          <a:p>
            <a:pPr algn="l">
              <a:defRPr sz="1875" b="0">
                <a:solidFill>
                  <a:srgbClr val="17212B"/>
                </a:solidFill>
                <a:latin typeface="Helvetica Neue"/>
                <a:ea typeface="Helvetica Neue"/>
                <a:cs typeface="Helvetica Neue"/>
              </a:defRPr>
            </a:pPr>
            <a:r>
              <a:rPr sz="1875" b="0">
                <a:solidFill>
                  <a:srgbClr val="17212B"/>
                </a:solidFill>
                <a:latin typeface="Helvetica Neue"/>
                <a:ea typeface="Helvetica Neue"/>
                <a:cs typeface="Helvetica Neue"/>
              </a:rPr>
              <a:t>•  b. Their labor and suffering were therefore not pointless</a:t>
            </a:r>
          </a:p>
        </p:txBody>
      </p:sp>
      <p:sp>
        <p:nvSpPr>
          <p:cNvPr id="6" name="eyebrow-15">
            <a:extLst>
              <a:ext uri="{FF2B5EF4-FFF2-40B4-BE49-F238E27FC236}">
                <a16:creationId xmlns:a16="http://schemas.microsoft.com/office/drawing/2014/main" id="{44AD315C-9A71-4207-8CD0-927998A885C0}"/>
              </a:ext>
            </a:extLst>
          </p:cNvPr>
          <p:cNvSpPr>
            <a:spLocks noGrp="1"/>
          </p:cNvSpPr>
          <p:nvPr/>
        </p:nvSpPr>
        <p:spPr>
          <a:xfrm>
            <a:off x="552450" y="323850"/>
            <a:ext cx="3238500" cy="285750"/>
          </a:xfrm>
          <a:prstGeom prst="rect">
            <a:avLst/>
          </a:prstGeom>
          <a:noFill/>
          <a:ln w="0">
            <a:noFill/>
            <a:prstDash val="solid"/>
          </a:ln>
        </p:spPr>
        <p:txBody>
          <a:bodyPr wrap="square" lIns="57150" tIns="38100" rIns="57150" bIns="38100" anchor="t">
            <a:normAutofit/>
          </a:bodyPr>
          <a:lstStyle/>
          <a:p>
            <a:pPr algn="l">
              <a:defRPr sz="1125" b="1">
                <a:solidFill>
                  <a:srgbClr val="C99535"/>
                </a:solidFill>
                <a:latin typeface="Helvetica Neue"/>
                <a:ea typeface="Helvetica Neue"/>
                <a:cs typeface="Helvetica Neue"/>
              </a:defRPr>
            </a:pPr>
            <a:r>
              <a:rPr sz="1125" b="1">
                <a:solidFill>
                  <a:srgbClr val="C99535"/>
                </a:solidFill>
                <a:latin typeface="Helvetica Neue"/>
                <a:ea typeface="Helvetica Neue"/>
                <a:cs typeface="Helvetica Neue"/>
              </a:rPr>
              <a:t>QUESTION 6 — SUGGESTED RESPONSE</a:t>
            </a:r>
          </a:p>
        </p:txBody>
      </p:sp>
      <p:sp>
        <p:nvSpPr>
          <p:cNvPr id="7" name="title-15">
            <a:extLst>
              <a:ext uri="{FF2B5EF4-FFF2-40B4-BE49-F238E27FC236}">
                <a16:creationId xmlns:a16="http://schemas.microsoft.com/office/drawing/2014/main" id="{1AB7E529-5EBF-4BA1-8FC9-D819B0551F53}"/>
              </a:ext>
            </a:extLst>
          </p:cNvPr>
          <p:cNvSpPr>
            <a:spLocks noGrp="1"/>
          </p:cNvSpPr>
          <p:nvPr/>
        </p:nvSpPr>
        <p:spPr>
          <a:xfrm>
            <a:off x="552450" y="704850"/>
            <a:ext cx="10810875" cy="914400"/>
          </a:xfrm>
          <a:prstGeom prst="rect">
            <a:avLst/>
          </a:prstGeom>
          <a:noFill/>
          <a:ln w="0">
            <a:noFill/>
            <a:prstDash val="solid"/>
          </a:ln>
        </p:spPr>
        <p:txBody>
          <a:bodyPr wrap="square" lIns="57150" tIns="38100" rIns="57150" bIns="38100" anchor="t">
            <a:normAutofit fontScale="91667"/>
          </a:bodyPr>
          <a:lstStyle/>
          <a:p>
            <a:pPr algn="l">
              <a:defRPr sz="3000" b="1">
                <a:solidFill>
                  <a:srgbClr val="17212B"/>
                </a:solidFill>
                <a:latin typeface="Helvetica Neue"/>
                <a:ea typeface="Helvetica Neue"/>
                <a:cs typeface="Helvetica Neue"/>
              </a:defRPr>
            </a:pPr>
            <a:r>
              <a:rPr sz="3000" b="1">
                <a:solidFill>
                  <a:srgbClr val="17212B"/>
                </a:solidFill>
                <a:latin typeface="Helvetica Neue"/>
                <a:ea typeface="Helvetica Neue"/>
                <a:cs typeface="Helvetica Neue"/>
              </a:rPr>
              <a:t>a. What sustained the apostles while Jesus was absent?</a:t>
            </a:r>
          </a:p>
          <a:p>
            <a:pPr algn="l">
              <a:defRPr sz="3000" b="1">
                <a:solidFill>
                  <a:srgbClr val="17212B"/>
                </a:solidFill>
                <a:latin typeface="Helvetica Neue"/>
                <a:ea typeface="Helvetica Neue"/>
                <a:cs typeface="Helvetica Neue"/>
              </a:defRPr>
            </a:pPr>
            <a:r>
              <a:rPr sz="3000" b="1">
                <a:solidFill>
                  <a:srgbClr val="17212B"/>
                </a:solidFill>
                <a:latin typeface="Helvetica Neue"/>
                <a:ea typeface="Helvetica Neue"/>
                <a:cs typeface="Helvetica Neue"/>
              </a:rPr>
              <a:t>b. Why was this encouraging?</a:t>
            </a:r>
          </a:p>
        </p:txBody>
      </p:sp>
      <p:sp>
        <p:nvSpPr>
          <p:cNvPr id="8" name="rule-15">
            <a:extLst>
              <a:ext uri="{FF2B5EF4-FFF2-40B4-BE49-F238E27FC236}">
                <a16:creationId xmlns:a16="http://schemas.microsoft.com/office/drawing/2014/main" id="{AB50E441-CEC0-4730-826B-1C99FC7D2B0A}"/>
              </a:ext>
            </a:extLst>
          </p:cNvPr>
          <p:cNvSpPr>
            <a:spLocks noGrp="1"/>
          </p:cNvSpPr>
          <p:nvPr/>
        </p:nvSpPr>
        <p:spPr>
          <a:xfrm>
            <a:off x="552450" y="1657350"/>
            <a:ext cx="10810875" cy="28575"/>
          </a:xfrm>
          <a:prstGeom prst="rect">
            <a:avLst/>
          </a:prstGeom>
          <a:solidFill>
            <a:srgbClr val="C99535"/>
          </a:solidFill>
          <a:ln w="0">
            <a:noFill/>
            <a:prstDash val="solid"/>
          </a:ln>
        </p:spPr>
        <p:txBody>
          <a:bodyPr/>
          <a:lstStyle/>
          <a:p>
            <a:endParaRPr lang="en-US"/>
          </a:p>
        </p:txBody>
      </p:sp>
      <p:sp>
        <p:nvSpPr>
          <p:cNvPr id="9" name="number-15">
            <a:extLst>
              <a:ext uri="{FF2B5EF4-FFF2-40B4-BE49-F238E27FC236}">
                <a16:creationId xmlns:a16="http://schemas.microsoft.com/office/drawing/2014/main" id="{A5EB1CF3-A7F3-45F8-8A7C-E8DE8A28AF4B}"/>
              </a:ext>
            </a:extLst>
          </p:cNvPr>
          <p:cNvSpPr>
            <a:spLocks noGrp="1"/>
          </p:cNvSpPr>
          <p:nvPr/>
        </p:nvSpPr>
        <p:spPr>
          <a:xfrm>
            <a:off x="10858500" y="6305550"/>
            <a:ext cx="514350" cy="247650"/>
          </a:xfrm>
          <a:prstGeom prst="rect">
            <a:avLst/>
          </a:prstGeom>
          <a:noFill/>
          <a:ln w="0">
            <a:noFill/>
            <a:prstDash val="solid"/>
          </a:ln>
        </p:spPr>
        <p:txBody>
          <a:bodyPr wrap="square" lIns="57150" tIns="38100" rIns="57150" bIns="38100" anchor="t">
            <a:normAutofit/>
          </a:bodyPr>
          <a:lstStyle/>
          <a:p>
            <a:pPr algn="r">
              <a:defRPr sz="1050" b="0">
                <a:solidFill>
                  <a:srgbClr val="536170"/>
                </a:solidFill>
                <a:latin typeface="Helvetica Neue"/>
                <a:ea typeface="Helvetica Neue"/>
                <a:cs typeface="Helvetica Neue"/>
              </a:defRPr>
            </a:pPr>
            <a:r>
              <a:rPr sz="1050" b="0">
                <a:solidFill>
                  <a:srgbClr val="536170"/>
                </a:solidFill>
                <a:latin typeface="Helvetica Neue"/>
                <a:ea typeface="Helvetica Neue"/>
                <a:cs typeface="Helvetica Neue"/>
              </a:rPr>
              <a:t>15</a:t>
            </a:r>
          </a:p>
        </p:txBody>
      </p:sp>
    </p:spTree>
    <p:extLst>
      <p:ext uri="{BB962C8B-B14F-4D97-AF65-F5344CB8AC3E}">
        <p14:creationId xmlns:p14="http://schemas.microsoft.com/office/powerpoint/2010/main" val="14201244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eyebrow-16">
            <a:extLst>
              <a:ext uri="{FF2B5EF4-FFF2-40B4-BE49-F238E27FC236}">
                <a16:creationId xmlns:a16="http://schemas.microsoft.com/office/drawing/2014/main" id="{ABD2D655-4C95-45F2-85AA-88BDD871047D}"/>
              </a:ext>
            </a:extLst>
          </p:cNvPr>
          <p:cNvSpPr>
            <a:spLocks noGrp="1"/>
          </p:cNvSpPr>
          <p:nvPr/>
        </p:nvSpPr>
        <p:spPr>
          <a:xfrm>
            <a:off x="552450" y="323850"/>
            <a:ext cx="3238500" cy="285750"/>
          </a:xfrm>
          <a:prstGeom prst="rect">
            <a:avLst/>
          </a:prstGeom>
          <a:noFill/>
          <a:ln w="0">
            <a:noFill/>
            <a:prstDash val="solid"/>
          </a:ln>
        </p:spPr>
        <p:txBody>
          <a:bodyPr wrap="square" lIns="57150" tIns="38100" rIns="57150" bIns="38100" anchor="t">
            <a:normAutofit/>
          </a:bodyPr>
          <a:lstStyle/>
          <a:p>
            <a:pPr algn="l">
              <a:defRPr sz="1125" b="1">
                <a:solidFill>
                  <a:srgbClr val="236AA3"/>
                </a:solidFill>
                <a:latin typeface="Helvetica Neue"/>
                <a:ea typeface="Helvetica Neue"/>
                <a:cs typeface="Helvetica Neue"/>
              </a:defRPr>
            </a:pPr>
            <a:r>
              <a:rPr sz="1125" b="1">
                <a:solidFill>
                  <a:srgbClr val="236AA3"/>
                </a:solidFill>
                <a:latin typeface="Helvetica Neue"/>
                <a:ea typeface="Helvetica Neue"/>
                <a:cs typeface="Helvetica Neue"/>
              </a:rPr>
              <a:t>QUESTION 7</a:t>
            </a:r>
          </a:p>
        </p:txBody>
      </p:sp>
      <p:sp>
        <p:nvSpPr>
          <p:cNvPr id="2" name="title-16">
            <a:extLst>
              <a:ext uri="{FF2B5EF4-FFF2-40B4-BE49-F238E27FC236}">
                <a16:creationId xmlns:a16="http://schemas.microsoft.com/office/drawing/2014/main" id="{FBE91337-65CE-40F7-91B3-B953AF7D93A7}"/>
              </a:ext>
            </a:extLst>
          </p:cNvPr>
          <p:cNvSpPr>
            <a:spLocks noGrp="1"/>
          </p:cNvSpPr>
          <p:nvPr/>
        </p:nvSpPr>
        <p:spPr>
          <a:xfrm>
            <a:off x="552450" y="704850"/>
            <a:ext cx="10810875" cy="914400"/>
          </a:xfrm>
          <a:prstGeom prst="rect">
            <a:avLst/>
          </a:prstGeom>
          <a:noFill/>
          <a:ln w="0">
            <a:noFill/>
            <a:prstDash val="solid"/>
          </a:ln>
        </p:spPr>
        <p:txBody>
          <a:bodyPr wrap="square" lIns="57150" tIns="38100" rIns="57150" bIns="38100" anchor="t">
            <a:normAutofit fontScale="91667"/>
          </a:bodyPr>
          <a:lstStyle/>
          <a:p>
            <a:pPr algn="l">
              <a:defRPr sz="3000" b="1">
                <a:solidFill>
                  <a:srgbClr val="17212B"/>
                </a:solidFill>
                <a:latin typeface="Helvetica Neue"/>
                <a:ea typeface="Helvetica Neue"/>
                <a:cs typeface="Helvetica Neue"/>
              </a:defRPr>
            </a:pPr>
            <a:r>
              <a:rPr sz="3000" b="1">
                <a:solidFill>
                  <a:srgbClr val="17212B"/>
                </a:solidFill>
                <a:latin typeface="Helvetica Neue"/>
                <a:ea typeface="Helvetica Neue"/>
                <a:cs typeface="Helvetica Neue"/>
              </a:rPr>
              <a:t>How did Peter describe the chief function of an apostle? What were the qualifications of such a person?</a:t>
            </a:r>
          </a:p>
        </p:txBody>
      </p:sp>
      <p:sp>
        <p:nvSpPr>
          <p:cNvPr id="3" name="rule-16">
            <a:extLst>
              <a:ext uri="{FF2B5EF4-FFF2-40B4-BE49-F238E27FC236}">
                <a16:creationId xmlns:a16="http://schemas.microsoft.com/office/drawing/2014/main" id="{CD4F513C-77A6-4645-AA0C-E2E96D9CA9B1}"/>
              </a:ext>
            </a:extLst>
          </p:cNvPr>
          <p:cNvSpPr>
            <a:spLocks noGrp="1"/>
          </p:cNvSpPr>
          <p:nvPr/>
        </p:nvSpPr>
        <p:spPr>
          <a:xfrm>
            <a:off x="552450" y="1657350"/>
            <a:ext cx="10810875" cy="28575"/>
          </a:xfrm>
          <a:prstGeom prst="rect">
            <a:avLst/>
          </a:prstGeom>
          <a:solidFill>
            <a:srgbClr val="236AA3"/>
          </a:solidFill>
          <a:ln w="0">
            <a:noFill/>
            <a:prstDash val="solid"/>
          </a:ln>
        </p:spPr>
        <p:txBody>
          <a:bodyPr/>
          <a:lstStyle/>
          <a:p>
            <a:endParaRPr lang="en-US"/>
          </a:p>
        </p:txBody>
      </p:sp>
      <p:sp>
        <p:nvSpPr>
          <p:cNvPr id="4" name="number-16">
            <a:extLst>
              <a:ext uri="{FF2B5EF4-FFF2-40B4-BE49-F238E27FC236}">
                <a16:creationId xmlns:a16="http://schemas.microsoft.com/office/drawing/2014/main" id="{2C561A5A-2A7E-4BC8-8544-DEC46E238E16}"/>
              </a:ext>
            </a:extLst>
          </p:cNvPr>
          <p:cNvSpPr>
            <a:spLocks noGrp="1"/>
          </p:cNvSpPr>
          <p:nvPr/>
        </p:nvSpPr>
        <p:spPr>
          <a:xfrm>
            <a:off x="10858500" y="6305550"/>
            <a:ext cx="514350" cy="247650"/>
          </a:xfrm>
          <a:prstGeom prst="rect">
            <a:avLst/>
          </a:prstGeom>
          <a:noFill/>
          <a:ln w="0">
            <a:noFill/>
            <a:prstDash val="solid"/>
          </a:ln>
        </p:spPr>
        <p:txBody>
          <a:bodyPr wrap="square" lIns="57150" tIns="38100" rIns="57150" bIns="38100" anchor="t">
            <a:normAutofit/>
          </a:bodyPr>
          <a:lstStyle/>
          <a:p>
            <a:pPr algn="r">
              <a:defRPr sz="1050" b="0">
                <a:solidFill>
                  <a:srgbClr val="536170"/>
                </a:solidFill>
                <a:latin typeface="Helvetica Neue"/>
                <a:ea typeface="Helvetica Neue"/>
                <a:cs typeface="Helvetica Neue"/>
              </a:defRPr>
            </a:pPr>
            <a:r>
              <a:rPr sz="1050" b="0">
                <a:solidFill>
                  <a:srgbClr val="536170"/>
                </a:solidFill>
                <a:latin typeface="Helvetica Neue"/>
                <a:ea typeface="Helvetica Neue"/>
                <a:cs typeface="Helvetica Neue"/>
              </a:rPr>
              <a:t>16</a:t>
            </a:r>
          </a:p>
        </p:txBody>
      </p:sp>
      <p:sp>
        <p:nvSpPr>
          <p:cNvPr id="5" name="q7-context-panel">
            <a:extLst>
              <a:ext uri="{FF2B5EF4-FFF2-40B4-BE49-F238E27FC236}">
                <a16:creationId xmlns:a16="http://schemas.microsoft.com/office/drawing/2014/main" id="{EF52FA10-AB99-4823-9D53-27574D464B06}"/>
              </a:ext>
            </a:extLst>
          </p:cNvPr>
          <p:cNvSpPr>
            <a:spLocks noGrp="1"/>
          </p:cNvSpPr>
          <p:nvPr/>
        </p:nvSpPr>
        <p:spPr>
          <a:xfrm>
            <a:off x="685800" y="2381250"/>
            <a:ext cx="10820400" cy="2590800"/>
          </a:xfrm>
          <a:prstGeom prst="roundRect">
            <a:avLst>
              <a:gd name="adj" fmla="val 2941"/>
            </a:avLst>
          </a:prstGeom>
          <a:solidFill>
            <a:srgbClr val="F4F7F9"/>
          </a:solidFill>
          <a:ln w="9525">
            <a:solidFill>
              <a:srgbClr val="B9C7D1"/>
            </a:solidFill>
            <a:prstDash val="solid"/>
          </a:ln>
        </p:spPr>
        <p:txBody>
          <a:bodyPr/>
          <a:lstStyle/>
          <a:p>
            <a:endParaRPr lang="en-US"/>
          </a:p>
        </p:txBody>
      </p:sp>
      <p:sp>
        <p:nvSpPr>
          <p:cNvPr id="6" name="q7-context-label">
            <a:extLst>
              <a:ext uri="{FF2B5EF4-FFF2-40B4-BE49-F238E27FC236}">
                <a16:creationId xmlns:a16="http://schemas.microsoft.com/office/drawing/2014/main" id="{90A3CC2D-B176-4A33-8B24-7B32CF8FCD93}"/>
              </a:ext>
            </a:extLst>
          </p:cNvPr>
          <p:cNvSpPr>
            <a:spLocks noGrp="1"/>
          </p:cNvSpPr>
          <p:nvPr/>
        </p:nvSpPr>
        <p:spPr>
          <a:xfrm>
            <a:off x="952500" y="2609850"/>
            <a:ext cx="2857500" cy="342900"/>
          </a:xfrm>
          <a:prstGeom prst="rect">
            <a:avLst/>
          </a:prstGeom>
          <a:noFill/>
          <a:ln w="0">
            <a:noFill/>
            <a:prstDash val="solid"/>
          </a:ln>
        </p:spPr>
        <p:txBody>
          <a:bodyPr wrap="square" lIns="57150" tIns="38100" rIns="57150" bIns="38100" anchor="t">
            <a:normAutofit/>
          </a:bodyPr>
          <a:lstStyle/>
          <a:p>
            <a:pPr algn="l">
              <a:defRPr sz="1500" b="1">
                <a:solidFill>
                  <a:srgbClr val="236AA3"/>
                </a:solidFill>
                <a:latin typeface="Helvetica Neue"/>
                <a:ea typeface="Helvetica Neue"/>
                <a:cs typeface="Helvetica Neue"/>
              </a:defRPr>
            </a:pPr>
            <a:r>
              <a:rPr sz="1500" b="1">
                <a:solidFill>
                  <a:srgbClr val="236AA3"/>
                </a:solidFill>
                <a:latin typeface="Helvetica Neue"/>
                <a:ea typeface="Helvetica Neue"/>
                <a:cs typeface="Helvetica Neue"/>
              </a:rPr>
              <a:t>Helpful context</a:t>
            </a:r>
          </a:p>
        </p:txBody>
      </p:sp>
      <p:sp>
        <p:nvSpPr>
          <p:cNvPr id="7" name="q7-bullet-0">
            <a:extLst>
              <a:ext uri="{FF2B5EF4-FFF2-40B4-BE49-F238E27FC236}">
                <a16:creationId xmlns:a16="http://schemas.microsoft.com/office/drawing/2014/main" id="{01FBF200-1A6B-466D-9ACE-DC741BB52099}"/>
              </a:ext>
            </a:extLst>
          </p:cNvPr>
          <p:cNvSpPr>
            <a:spLocks noGrp="1"/>
          </p:cNvSpPr>
          <p:nvPr/>
        </p:nvSpPr>
        <p:spPr>
          <a:xfrm>
            <a:off x="1028700" y="3162300"/>
            <a:ext cx="9696450" cy="400050"/>
          </a:xfrm>
          <a:prstGeom prst="rect">
            <a:avLst/>
          </a:prstGeom>
          <a:noFill/>
          <a:ln w="0">
            <a:noFill/>
            <a:prstDash val="solid"/>
          </a:ln>
        </p:spPr>
        <p:txBody>
          <a:bodyPr wrap="square" lIns="57150" tIns="38100" rIns="57150" bIns="38100" anchor="t">
            <a:normAutofit/>
          </a:bodyPr>
          <a:lstStyle/>
          <a:p>
            <a:pPr algn="l">
              <a:defRPr sz="1875" b="0">
                <a:solidFill>
                  <a:srgbClr val="17212B"/>
                </a:solidFill>
                <a:latin typeface="Helvetica Neue"/>
                <a:ea typeface="Helvetica Neue"/>
                <a:cs typeface="Helvetica Neue"/>
              </a:defRPr>
            </a:pPr>
            <a:r>
              <a:rPr sz="1875" b="0">
                <a:solidFill>
                  <a:srgbClr val="17212B"/>
                </a:solidFill>
                <a:latin typeface="Helvetica Neue"/>
                <a:ea typeface="Helvetica Neue"/>
                <a:cs typeface="Helvetica Neue"/>
              </a:rPr>
              <a:t>•  Acts 1:21–22</a:t>
            </a:r>
          </a:p>
        </p:txBody>
      </p:sp>
      <p:sp>
        <p:nvSpPr>
          <p:cNvPr id="8" name="q7-bullet-1">
            <a:extLst>
              <a:ext uri="{FF2B5EF4-FFF2-40B4-BE49-F238E27FC236}">
                <a16:creationId xmlns:a16="http://schemas.microsoft.com/office/drawing/2014/main" id="{5E682842-023E-4532-AEEE-581EE01B48A1}"/>
              </a:ext>
            </a:extLst>
          </p:cNvPr>
          <p:cNvSpPr>
            <a:spLocks noGrp="1"/>
          </p:cNvSpPr>
          <p:nvPr/>
        </p:nvSpPr>
        <p:spPr>
          <a:xfrm>
            <a:off x="1028700" y="3714750"/>
            <a:ext cx="9696450" cy="400050"/>
          </a:xfrm>
          <a:prstGeom prst="rect">
            <a:avLst/>
          </a:prstGeom>
          <a:noFill/>
          <a:ln w="0">
            <a:noFill/>
            <a:prstDash val="solid"/>
          </a:ln>
        </p:spPr>
        <p:txBody>
          <a:bodyPr wrap="square" lIns="57150" tIns="38100" rIns="57150" bIns="38100" anchor="t">
            <a:normAutofit/>
          </a:bodyPr>
          <a:lstStyle/>
          <a:p>
            <a:pPr algn="l">
              <a:defRPr sz="1875" b="0">
                <a:solidFill>
                  <a:srgbClr val="17212B"/>
                </a:solidFill>
                <a:latin typeface="Helvetica Neue"/>
                <a:ea typeface="Helvetica Neue"/>
                <a:cs typeface="Helvetica Neue"/>
              </a:defRPr>
            </a:pPr>
            <a:r>
              <a:rPr sz="1875" b="0">
                <a:solidFill>
                  <a:srgbClr val="17212B"/>
                </a:solidFill>
                <a:latin typeface="Helvetica Neue"/>
                <a:ea typeface="Helvetica Neue"/>
                <a:cs typeface="Helvetica Neue"/>
              </a:rPr>
              <a:t>•  A witness to the Resurrection</a:t>
            </a:r>
          </a:p>
        </p:txBody>
      </p:sp>
      <p:sp>
        <p:nvSpPr>
          <p:cNvPr id="9" name="q7-bullet-2">
            <a:extLst>
              <a:ext uri="{FF2B5EF4-FFF2-40B4-BE49-F238E27FC236}">
                <a16:creationId xmlns:a16="http://schemas.microsoft.com/office/drawing/2014/main" id="{B9A7CBB7-EC3D-4DDA-B79C-6764E456C726}"/>
              </a:ext>
            </a:extLst>
          </p:cNvPr>
          <p:cNvSpPr>
            <a:spLocks noGrp="1"/>
          </p:cNvSpPr>
          <p:nvPr/>
        </p:nvSpPr>
        <p:spPr>
          <a:xfrm>
            <a:off x="1028700" y="4267200"/>
            <a:ext cx="9696450" cy="400050"/>
          </a:xfrm>
          <a:prstGeom prst="rect">
            <a:avLst/>
          </a:prstGeom>
          <a:noFill/>
          <a:ln w="0">
            <a:noFill/>
            <a:prstDash val="solid"/>
          </a:ln>
        </p:spPr>
        <p:txBody>
          <a:bodyPr wrap="square" lIns="57150" tIns="38100" rIns="57150" bIns="38100" anchor="t">
            <a:normAutofit/>
          </a:bodyPr>
          <a:lstStyle/>
          <a:p>
            <a:pPr algn="l">
              <a:defRPr sz="1875" b="0">
                <a:solidFill>
                  <a:srgbClr val="17212B"/>
                </a:solidFill>
                <a:latin typeface="Helvetica Neue"/>
                <a:ea typeface="Helvetica Neue"/>
                <a:cs typeface="Helvetica Neue"/>
              </a:defRPr>
            </a:pPr>
            <a:r>
              <a:rPr sz="1875" b="0">
                <a:solidFill>
                  <a:srgbClr val="17212B"/>
                </a:solidFill>
                <a:latin typeface="Helvetica Neue"/>
                <a:ea typeface="Helvetica Neue"/>
                <a:cs typeface="Helvetica Neue"/>
              </a:rPr>
              <a:t>•  Continuity with Jesus’ ministry</a:t>
            </a:r>
          </a:p>
        </p:txBody>
      </p:sp>
      <p:sp>
        <p:nvSpPr>
          <p:cNvPr id="10" name="q7-discussion">
            <a:extLst>
              <a:ext uri="{FF2B5EF4-FFF2-40B4-BE49-F238E27FC236}">
                <a16:creationId xmlns:a16="http://schemas.microsoft.com/office/drawing/2014/main" id="{11887488-F6B4-4FEF-93A6-BD8A2505E6AC}"/>
              </a:ext>
            </a:extLst>
          </p:cNvPr>
          <p:cNvSpPr>
            <a:spLocks noGrp="1"/>
          </p:cNvSpPr>
          <p:nvPr/>
        </p:nvSpPr>
        <p:spPr>
          <a:xfrm>
            <a:off x="723900" y="5476875"/>
            <a:ext cx="8572500" cy="361950"/>
          </a:xfrm>
          <a:prstGeom prst="rect">
            <a:avLst/>
          </a:prstGeom>
          <a:noFill/>
          <a:ln w="0">
            <a:noFill/>
            <a:prstDash val="solid"/>
          </a:ln>
        </p:spPr>
        <p:txBody>
          <a:bodyPr wrap="square" lIns="57150" tIns="38100" rIns="57150" bIns="38100" anchor="t">
            <a:normAutofit/>
          </a:bodyPr>
          <a:lstStyle/>
          <a:p>
            <a:pPr algn="l">
              <a:defRPr sz="1350" b="0">
                <a:solidFill>
                  <a:srgbClr val="536170"/>
                </a:solidFill>
                <a:latin typeface="Helvetica Neue"/>
                <a:ea typeface="Helvetica Neue"/>
                <a:cs typeface="Helvetica Neue"/>
              </a:defRPr>
            </a:pPr>
            <a:r>
              <a:rPr sz="1350" b="0">
                <a:solidFill>
                  <a:srgbClr val="536170"/>
                </a:solidFill>
                <a:latin typeface="Helvetica Neue"/>
                <a:ea typeface="Helvetica Neue"/>
                <a:cs typeface="Helvetica Neue"/>
              </a:rPr>
              <a:t>Discuss before revealing the suggested response</a:t>
            </a:r>
          </a:p>
        </p:txBody>
      </p:sp>
    </p:spTree>
    <p:extLst>
      <p:ext uri="{BB962C8B-B14F-4D97-AF65-F5344CB8AC3E}">
        <p14:creationId xmlns:p14="http://schemas.microsoft.com/office/powerpoint/2010/main" val="7666976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eyebrow-17">
            <a:extLst>
              <a:ext uri="{FF2B5EF4-FFF2-40B4-BE49-F238E27FC236}">
                <a16:creationId xmlns:a16="http://schemas.microsoft.com/office/drawing/2014/main" id="{3CE48085-8101-4C30-BEA4-F8F48C38BE87}"/>
              </a:ext>
            </a:extLst>
          </p:cNvPr>
          <p:cNvSpPr>
            <a:spLocks noGrp="1"/>
          </p:cNvSpPr>
          <p:nvPr/>
        </p:nvSpPr>
        <p:spPr>
          <a:xfrm>
            <a:off x="552450" y="323850"/>
            <a:ext cx="3238500" cy="285750"/>
          </a:xfrm>
          <a:prstGeom prst="rect">
            <a:avLst/>
          </a:prstGeom>
          <a:noFill/>
          <a:ln w="0">
            <a:noFill/>
            <a:prstDash val="solid"/>
          </a:ln>
        </p:spPr>
        <p:txBody>
          <a:bodyPr wrap="square" lIns="57150" tIns="38100" rIns="57150" bIns="38100" anchor="t">
            <a:normAutofit/>
          </a:bodyPr>
          <a:lstStyle/>
          <a:p>
            <a:pPr algn="l">
              <a:defRPr sz="1125" b="1">
                <a:solidFill>
                  <a:srgbClr val="C99535"/>
                </a:solidFill>
                <a:latin typeface="Helvetica Neue"/>
                <a:ea typeface="Helvetica Neue"/>
                <a:cs typeface="Helvetica Neue"/>
              </a:defRPr>
            </a:pPr>
            <a:r>
              <a:rPr sz="1125" b="1">
                <a:solidFill>
                  <a:srgbClr val="C99535"/>
                </a:solidFill>
                <a:latin typeface="Helvetica Neue"/>
                <a:ea typeface="Helvetica Neue"/>
                <a:cs typeface="Helvetica Neue"/>
              </a:rPr>
              <a:t>QUESTION 7 RABBIT HOLE</a:t>
            </a:r>
          </a:p>
        </p:txBody>
      </p:sp>
      <p:sp>
        <p:nvSpPr>
          <p:cNvPr id="2" name="title-17">
            <a:extLst>
              <a:ext uri="{FF2B5EF4-FFF2-40B4-BE49-F238E27FC236}">
                <a16:creationId xmlns:a16="http://schemas.microsoft.com/office/drawing/2014/main" id="{28E7CB1D-68F8-4C3C-9E4B-4746E0C11225}"/>
              </a:ext>
            </a:extLst>
          </p:cNvPr>
          <p:cNvSpPr>
            <a:spLocks noGrp="1"/>
          </p:cNvSpPr>
          <p:nvPr/>
        </p:nvSpPr>
        <p:spPr>
          <a:xfrm>
            <a:off x="552450" y="704850"/>
            <a:ext cx="10810875" cy="914400"/>
          </a:xfrm>
          <a:prstGeom prst="rect">
            <a:avLst/>
          </a:prstGeom>
          <a:noFill/>
          <a:ln w="0">
            <a:noFill/>
            <a:prstDash val="solid"/>
          </a:ln>
        </p:spPr>
        <p:txBody>
          <a:bodyPr wrap="square" lIns="57150" tIns="38100" rIns="57150" bIns="38100" anchor="t">
            <a:normAutofit/>
          </a:bodyPr>
          <a:lstStyle/>
          <a:p>
            <a:pPr algn="l">
              <a:defRPr sz="3000" b="1">
                <a:solidFill>
                  <a:srgbClr val="17212B"/>
                </a:solidFill>
                <a:latin typeface="Helvetica Neue"/>
                <a:ea typeface="Helvetica Neue"/>
                <a:cs typeface="Helvetica Neue"/>
              </a:defRPr>
            </a:pPr>
            <a:r>
              <a:rPr sz="3000" b="1">
                <a:solidFill>
                  <a:srgbClr val="17212B"/>
                </a:solidFill>
                <a:latin typeface="Helvetica Neue"/>
                <a:ea typeface="Helvetica Neue"/>
                <a:cs typeface="Helvetica Neue"/>
              </a:rPr>
              <a:t>Are there apostles today?</a:t>
            </a:r>
          </a:p>
        </p:txBody>
      </p:sp>
      <p:sp>
        <p:nvSpPr>
          <p:cNvPr id="3" name="rule-17">
            <a:extLst>
              <a:ext uri="{FF2B5EF4-FFF2-40B4-BE49-F238E27FC236}">
                <a16:creationId xmlns:a16="http://schemas.microsoft.com/office/drawing/2014/main" id="{268C80A6-C2AE-428F-8AAD-395CBA9A440E}"/>
              </a:ext>
            </a:extLst>
          </p:cNvPr>
          <p:cNvSpPr>
            <a:spLocks noGrp="1"/>
          </p:cNvSpPr>
          <p:nvPr/>
        </p:nvSpPr>
        <p:spPr>
          <a:xfrm>
            <a:off x="552450" y="1657350"/>
            <a:ext cx="10810875" cy="28575"/>
          </a:xfrm>
          <a:prstGeom prst="rect">
            <a:avLst/>
          </a:prstGeom>
          <a:solidFill>
            <a:srgbClr val="C99535"/>
          </a:solidFill>
          <a:ln w="0">
            <a:noFill/>
            <a:prstDash val="solid"/>
          </a:ln>
        </p:spPr>
        <p:txBody>
          <a:bodyPr/>
          <a:lstStyle/>
          <a:p>
            <a:endParaRPr lang="en-US"/>
          </a:p>
        </p:txBody>
      </p:sp>
      <p:sp>
        <p:nvSpPr>
          <p:cNvPr id="4" name="number-17">
            <a:extLst>
              <a:ext uri="{FF2B5EF4-FFF2-40B4-BE49-F238E27FC236}">
                <a16:creationId xmlns:a16="http://schemas.microsoft.com/office/drawing/2014/main" id="{156CCC84-E8C1-40DA-8F52-8EC06075EE5D}"/>
              </a:ext>
            </a:extLst>
          </p:cNvPr>
          <p:cNvSpPr>
            <a:spLocks noGrp="1"/>
          </p:cNvSpPr>
          <p:nvPr/>
        </p:nvSpPr>
        <p:spPr>
          <a:xfrm>
            <a:off x="10858500" y="6305550"/>
            <a:ext cx="514350" cy="247650"/>
          </a:xfrm>
          <a:prstGeom prst="rect">
            <a:avLst/>
          </a:prstGeom>
          <a:noFill/>
          <a:ln w="0">
            <a:noFill/>
            <a:prstDash val="solid"/>
          </a:ln>
        </p:spPr>
        <p:txBody>
          <a:bodyPr wrap="square" lIns="57150" tIns="38100" rIns="57150" bIns="38100" anchor="t">
            <a:normAutofit/>
          </a:bodyPr>
          <a:lstStyle/>
          <a:p>
            <a:pPr algn="r">
              <a:defRPr sz="1050" b="0">
                <a:solidFill>
                  <a:srgbClr val="536170"/>
                </a:solidFill>
                <a:latin typeface="Helvetica Neue"/>
                <a:ea typeface="Helvetica Neue"/>
                <a:cs typeface="Helvetica Neue"/>
              </a:defRPr>
            </a:pPr>
            <a:r>
              <a:rPr sz="1050" b="0">
                <a:solidFill>
                  <a:srgbClr val="536170"/>
                </a:solidFill>
                <a:latin typeface="Helvetica Neue"/>
                <a:ea typeface="Helvetica Neue"/>
                <a:cs typeface="Helvetica Neue"/>
              </a:rPr>
              <a:t>17</a:t>
            </a:r>
          </a:p>
        </p:txBody>
      </p:sp>
      <p:sp>
        <p:nvSpPr>
          <p:cNvPr id="5" name="rabbit7-context">
            <a:extLst>
              <a:ext uri="{FF2B5EF4-FFF2-40B4-BE49-F238E27FC236}">
                <a16:creationId xmlns:a16="http://schemas.microsoft.com/office/drawing/2014/main" id="{797BA20A-9211-422F-87BA-915F49226D44}"/>
              </a:ext>
            </a:extLst>
          </p:cNvPr>
          <p:cNvSpPr>
            <a:spLocks noGrp="1"/>
          </p:cNvSpPr>
          <p:nvPr/>
        </p:nvSpPr>
        <p:spPr>
          <a:xfrm>
            <a:off x="685800" y="1981200"/>
            <a:ext cx="10820400" cy="819150"/>
          </a:xfrm>
          <a:prstGeom prst="rect">
            <a:avLst/>
          </a:prstGeom>
          <a:noFill/>
          <a:ln w="0">
            <a:noFill/>
            <a:prstDash val="solid"/>
          </a:ln>
        </p:spPr>
        <p:txBody>
          <a:bodyPr wrap="square" lIns="57150" tIns="38100" rIns="57150" bIns="38100" anchor="t">
            <a:normAutofit/>
          </a:bodyPr>
          <a:lstStyle/>
          <a:p>
            <a:pPr algn="l">
              <a:defRPr sz="1800" b="0">
                <a:solidFill>
                  <a:srgbClr val="17212B"/>
                </a:solidFill>
                <a:latin typeface="Helvetica Neue"/>
                <a:ea typeface="Helvetica Neue"/>
                <a:cs typeface="Helvetica Neue"/>
              </a:defRPr>
            </a:pPr>
            <a:r>
              <a:rPr sz="1800" b="0">
                <a:solidFill>
                  <a:srgbClr val="17212B"/>
                </a:solidFill>
                <a:latin typeface="Helvetica Neue"/>
                <a:ea typeface="Helvetica Neue"/>
                <a:cs typeface="Helvetica Neue"/>
              </a:rPr>
              <a:t>Acts uses “apostle” in more than one sense, but the Twelve held a distinctive role as eyewitnesses and foundational witnesses.</a:t>
            </a:r>
          </a:p>
        </p:txBody>
      </p:sp>
      <p:sp>
        <p:nvSpPr>
          <p:cNvPr id="6" name="rabbit7-panel-0">
            <a:extLst>
              <a:ext uri="{FF2B5EF4-FFF2-40B4-BE49-F238E27FC236}">
                <a16:creationId xmlns:a16="http://schemas.microsoft.com/office/drawing/2014/main" id="{DAAFF525-ED35-49DC-AA83-0B0CB19EC6B9}"/>
              </a:ext>
            </a:extLst>
          </p:cNvPr>
          <p:cNvSpPr>
            <a:spLocks noGrp="1"/>
          </p:cNvSpPr>
          <p:nvPr/>
        </p:nvSpPr>
        <p:spPr>
          <a:xfrm>
            <a:off x="685800" y="3105150"/>
            <a:ext cx="10820400" cy="685800"/>
          </a:xfrm>
          <a:prstGeom prst="roundRect">
            <a:avLst>
              <a:gd name="adj" fmla="val 11111"/>
            </a:avLst>
          </a:prstGeom>
          <a:solidFill>
            <a:srgbClr val="F4F7F9"/>
          </a:solidFill>
          <a:ln w="9525">
            <a:solidFill>
              <a:srgbClr val="B9C7D1"/>
            </a:solidFill>
            <a:prstDash val="solid"/>
          </a:ln>
        </p:spPr>
        <p:txBody>
          <a:bodyPr/>
          <a:lstStyle/>
          <a:p>
            <a:endParaRPr lang="en-US"/>
          </a:p>
        </p:txBody>
      </p:sp>
      <p:sp>
        <p:nvSpPr>
          <p:cNvPr id="7" name="rabbit7-prompt-0">
            <a:extLst>
              <a:ext uri="{FF2B5EF4-FFF2-40B4-BE49-F238E27FC236}">
                <a16:creationId xmlns:a16="http://schemas.microsoft.com/office/drawing/2014/main" id="{C123B491-964C-4C9C-8F23-8F08BAD9D6D6}"/>
              </a:ext>
            </a:extLst>
          </p:cNvPr>
          <p:cNvSpPr>
            <a:spLocks noGrp="1"/>
          </p:cNvSpPr>
          <p:nvPr/>
        </p:nvSpPr>
        <p:spPr>
          <a:xfrm>
            <a:off x="895350" y="3238500"/>
            <a:ext cx="10382250" cy="438150"/>
          </a:xfrm>
          <a:prstGeom prst="rect">
            <a:avLst/>
          </a:prstGeom>
          <a:noFill/>
          <a:ln w="0">
            <a:noFill/>
            <a:prstDash val="solid"/>
          </a:ln>
        </p:spPr>
        <p:txBody>
          <a:bodyPr wrap="square" lIns="57150" tIns="38100" rIns="57150" bIns="38100" anchor="t">
            <a:normAutofit/>
          </a:bodyPr>
          <a:lstStyle/>
          <a:p>
            <a:pPr algn="l">
              <a:defRPr sz="1650" b="0">
                <a:solidFill>
                  <a:srgbClr val="17212B"/>
                </a:solidFill>
                <a:latin typeface="Helvetica Neue"/>
                <a:ea typeface="Helvetica Neue"/>
                <a:cs typeface="Helvetica Neue"/>
              </a:defRPr>
            </a:pPr>
            <a:r>
              <a:rPr sz="1650" b="0">
                <a:solidFill>
                  <a:srgbClr val="17212B"/>
                </a:solidFill>
                <a:latin typeface="Helvetica Neue"/>
                <a:ea typeface="Helvetica Neue"/>
                <a:cs typeface="Helvetica Neue"/>
              </a:rPr>
              <a:t>1. Which qualifications in Acts 1:21–22 could be repeated today—and which could not?</a:t>
            </a:r>
          </a:p>
        </p:txBody>
      </p:sp>
      <p:sp>
        <p:nvSpPr>
          <p:cNvPr id="8" name="rabbit7-panel-1">
            <a:extLst>
              <a:ext uri="{FF2B5EF4-FFF2-40B4-BE49-F238E27FC236}">
                <a16:creationId xmlns:a16="http://schemas.microsoft.com/office/drawing/2014/main" id="{9EAA3470-875D-4B0A-A6DD-98BF4DACE9E5}"/>
              </a:ext>
            </a:extLst>
          </p:cNvPr>
          <p:cNvSpPr>
            <a:spLocks noGrp="1"/>
          </p:cNvSpPr>
          <p:nvPr/>
        </p:nvSpPr>
        <p:spPr>
          <a:xfrm>
            <a:off x="685800" y="3981450"/>
            <a:ext cx="10820400" cy="685800"/>
          </a:xfrm>
          <a:prstGeom prst="roundRect">
            <a:avLst>
              <a:gd name="adj" fmla="val 11111"/>
            </a:avLst>
          </a:prstGeom>
          <a:solidFill>
            <a:srgbClr val="EAF3F9"/>
          </a:solidFill>
          <a:ln w="9525">
            <a:solidFill>
              <a:srgbClr val="B9C7D1"/>
            </a:solidFill>
            <a:prstDash val="solid"/>
          </a:ln>
        </p:spPr>
        <p:txBody>
          <a:bodyPr/>
          <a:lstStyle/>
          <a:p>
            <a:endParaRPr lang="en-US"/>
          </a:p>
        </p:txBody>
      </p:sp>
      <p:sp>
        <p:nvSpPr>
          <p:cNvPr id="9" name="rabbit7-prompt-1">
            <a:extLst>
              <a:ext uri="{FF2B5EF4-FFF2-40B4-BE49-F238E27FC236}">
                <a16:creationId xmlns:a16="http://schemas.microsoft.com/office/drawing/2014/main" id="{15FA07ED-FB27-4BD4-80F5-1A51011B0221}"/>
              </a:ext>
            </a:extLst>
          </p:cNvPr>
          <p:cNvSpPr>
            <a:spLocks noGrp="1"/>
          </p:cNvSpPr>
          <p:nvPr/>
        </p:nvSpPr>
        <p:spPr>
          <a:xfrm>
            <a:off x="895350" y="4114800"/>
            <a:ext cx="10382250" cy="438150"/>
          </a:xfrm>
          <a:prstGeom prst="rect">
            <a:avLst/>
          </a:prstGeom>
          <a:noFill/>
          <a:ln w="0">
            <a:noFill/>
            <a:prstDash val="solid"/>
          </a:ln>
        </p:spPr>
        <p:txBody>
          <a:bodyPr wrap="square" lIns="57150" tIns="38100" rIns="57150" bIns="38100" anchor="t">
            <a:normAutofit/>
          </a:bodyPr>
          <a:lstStyle/>
          <a:p>
            <a:pPr algn="l">
              <a:defRPr sz="1650" b="0">
                <a:solidFill>
                  <a:srgbClr val="17212B"/>
                </a:solidFill>
                <a:latin typeface="Helvetica Neue"/>
                <a:ea typeface="Helvetica Neue"/>
                <a:cs typeface="Helvetica Neue"/>
              </a:defRPr>
            </a:pPr>
            <a:r>
              <a:rPr sz="1650" b="0">
                <a:solidFill>
                  <a:srgbClr val="17212B"/>
                </a:solidFill>
                <a:latin typeface="Helvetica Neue"/>
                <a:ea typeface="Helvetica Neue"/>
                <a:cs typeface="Helvetica Neue"/>
              </a:rPr>
              <a:t>2. How should we distinguish the Twelve from other people described as “sent ones”?</a:t>
            </a:r>
          </a:p>
        </p:txBody>
      </p:sp>
      <p:sp>
        <p:nvSpPr>
          <p:cNvPr id="10" name="rabbit7-panel-2">
            <a:extLst>
              <a:ext uri="{FF2B5EF4-FFF2-40B4-BE49-F238E27FC236}">
                <a16:creationId xmlns:a16="http://schemas.microsoft.com/office/drawing/2014/main" id="{78905E87-DE2B-465A-B012-FDB761D44E2F}"/>
              </a:ext>
            </a:extLst>
          </p:cNvPr>
          <p:cNvSpPr>
            <a:spLocks noGrp="1"/>
          </p:cNvSpPr>
          <p:nvPr/>
        </p:nvSpPr>
        <p:spPr>
          <a:xfrm>
            <a:off x="685800" y="4857750"/>
            <a:ext cx="10820400" cy="685800"/>
          </a:xfrm>
          <a:prstGeom prst="roundRect">
            <a:avLst>
              <a:gd name="adj" fmla="val 11111"/>
            </a:avLst>
          </a:prstGeom>
          <a:solidFill>
            <a:srgbClr val="F4F7F9"/>
          </a:solidFill>
          <a:ln w="9525">
            <a:solidFill>
              <a:srgbClr val="B9C7D1"/>
            </a:solidFill>
            <a:prstDash val="solid"/>
          </a:ln>
        </p:spPr>
        <p:txBody>
          <a:bodyPr/>
          <a:lstStyle/>
          <a:p>
            <a:endParaRPr lang="en-US"/>
          </a:p>
        </p:txBody>
      </p:sp>
      <p:sp>
        <p:nvSpPr>
          <p:cNvPr id="11" name="rabbit7-prompt-2">
            <a:extLst>
              <a:ext uri="{FF2B5EF4-FFF2-40B4-BE49-F238E27FC236}">
                <a16:creationId xmlns:a16="http://schemas.microsoft.com/office/drawing/2014/main" id="{9C56364C-2D4B-4143-BD4A-B0C1B432BB04}"/>
              </a:ext>
            </a:extLst>
          </p:cNvPr>
          <p:cNvSpPr>
            <a:spLocks noGrp="1"/>
          </p:cNvSpPr>
          <p:nvPr/>
        </p:nvSpPr>
        <p:spPr>
          <a:xfrm>
            <a:off x="895350" y="4991100"/>
            <a:ext cx="10382250" cy="438150"/>
          </a:xfrm>
          <a:prstGeom prst="rect">
            <a:avLst/>
          </a:prstGeom>
          <a:noFill/>
          <a:ln w="0">
            <a:noFill/>
            <a:prstDash val="solid"/>
          </a:ln>
        </p:spPr>
        <p:txBody>
          <a:bodyPr wrap="square" lIns="57150" tIns="38100" rIns="57150" bIns="38100" anchor="t">
            <a:normAutofit/>
          </a:bodyPr>
          <a:lstStyle/>
          <a:p>
            <a:pPr algn="l">
              <a:defRPr sz="1650" b="0">
                <a:solidFill>
                  <a:srgbClr val="17212B"/>
                </a:solidFill>
                <a:latin typeface="Helvetica Neue"/>
                <a:ea typeface="Helvetica Neue"/>
                <a:cs typeface="Helvetica Neue"/>
              </a:defRPr>
            </a:pPr>
            <a:r>
              <a:rPr sz="1650" b="0">
                <a:solidFill>
                  <a:srgbClr val="17212B"/>
                </a:solidFill>
                <a:latin typeface="Helvetica Neue"/>
                <a:ea typeface="Helvetica Neue"/>
                <a:cs typeface="Helvetica Neue"/>
              </a:rPr>
              <a:t>3. What authority should a modern person be allowed to claim by using the title apostle?</a:t>
            </a:r>
          </a:p>
        </p:txBody>
      </p:sp>
    </p:spTree>
    <p:extLst>
      <p:ext uri="{BB962C8B-B14F-4D97-AF65-F5344CB8AC3E}">
        <p14:creationId xmlns:p14="http://schemas.microsoft.com/office/powerpoint/2010/main" val="6133090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q7-answer-panel">
            <a:extLst>
              <a:ext uri="{FF2B5EF4-FFF2-40B4-BE49-F238E27FC236}">
                <a16:creationId xmlns:a16="http://schemas.microsoft.com/office/drawing/2014/main" id="{A43D4A39-7C42-4EAF-9404-D28149B8E1AD}"/>
              </a:ext>
            </a:extLst>
          </p:cNvPr>
          <p:cNvSpPr>
            <a:spLocks noGrp="1"/>
          </p:cNvSpPr>
          <p:nvPr/>
        </p:nvSpPr>
        <p:spPr>
          <a:xfrm>
            <a:off x="685800" y="2209800"/>
            <a:ext cx="10820400" cy="3333750"/>
          </a:xfrm>
          <a:prstGeom prst="roundRect">
            <a:avLst>
              <a:gd name="adj" fmla="val 2286"/>
            </a:avLst>
          </a:prstGeom>
          <a:solidFill>
            <a:srgbClr val="EAF3F9"/>
          </a:solidFill>
          <a:ln w="9525">
            <a:solidFill>
              <a:srgbClr val="B9C7D1"/>
            </a:solidFill>
            <a:prstDash val="solid"/>
          </a:ln>
        </p:spPr>
        <p:txBody>
          <a:bodyPr/>
          <a:lstStyle/>
          <a:p>
            <a:endParaRPr lang="en-US"/>
          </a:p>
        </p:txBody>
      </p:sp>
      <p:sp>
        <p:nvSpPr>
          <p:cNvPr id="2" name="q7-answer-label">
            <a:extLst>
              <a:ext uri="{FF2B5EF4-FFF2-40B4-BE49-F238E27FC236}">
                <a16:creationId xmlns:a16="http://schemas.microsoft.com/office/drawing/2014/main" id="{1F281CEF-38B8-4D0F-8503-44E63DFBF8C7}"/>
              </a:ext>
            </a:extLst>
          </p:cNvPr>
          <p:cNvSpPr>
            <a:spLocks noGrp="1"/>
          </p:cNvSpPr>
          <p:nvPr/>
        </p:nvSpPr>
        <p:spPr>
          <a:xfrm>
            <a:off x="971550" y="2438400"/>
            <a:ext cx="3429000" cy="381000"/>
          </a:xfrm>
          <a:prstGeom prst="rect">
            <a:avLst/>
          </a:prstGeom>
          <a:noFill/>
          <a:ln w="0">
            <a:noFill/>
            <a:prstDash val="solid"/>
          </a:ln>
        </p:spPr>
        <p:txBody>
          <a:bodyPr wrap="square" lIns="57150" tIns="38100" rIns="57150" bIns="38100" anchor="t">
            <a:normAutofit/>
          </a:bodyPr>
          <a:lstStyle/>
          <a:p>
            <a:pPr algn="l">
              <a:defRPr sz="1650" b="1">
                <a:solidFill>
                  <a:srgbClr val="236AA3"/>
                </a:solidFill>
                <a:latin typeface="Helvetica Neue"/>
                <a:ea typeface="Helvetica Neue"/>
                <a:cs typeface="Helvetica Neue"/>
              </a:defRPr>
            </a:pPr>
            <a:r>
              <a:rPr sz="1650" b="1">
                <a:solidFill>
                  <a:srgbClr val="236AA3"/>
                </a:solidFill>
                <a:latin typeface="Helvetica Neue"/>
                <a:ea typeface="Helvetica Neue"/>
                <a:cs typeface="Helvetica Neue"/>
              </a:rPr>
              <a:t>Suggested response</a:t>
            </a:r>
          </a:p>
        </p:txBody>
      </p:sp>
      <p:sp>
        <p:nvSpPr>
          <p:cNvPr id="3" name="q7-answer-0">
            <a:extLst>
              <a:ext uri="{FF2B5EF4-FFF2-40B4-BE49-F238E27FC236}">
                <a16:creationId xmlns:a16="http://schemas.microsoft.com/office/drawing/2014/main" id="{C1CE4D32-8070-4F84-AE74-934E753C9015}"/>
              </a:ext>
            </a:extLst>
          </p:cNvPr>
          <p:cNvSpPr>
            <a:spLocks noGrp="1"/>
          </p:cNvSpPr>
          <p:nvPr/>
        </p:nvSpPr>
        <p:spPr>
          <a:xfrm>
            <a:off x="1047750" y="3048000"/>
            <a:ext cx="9810750" cy="552450"/>
          </a:xfrm>
          <a:prstGeom prst="rect">
            <a:avLst/>
          </a:prstGeom>
          <a:noFill/>
          <a:ln w="0">
            <a:noFill/>
            <a:prstDash val="solid"/>
          </a:ln>
        </p:spPr>
        <p:txBody>
          <a:bodyPr wrap="square" lIns="57150" tIns="38100" rIns="57150" bIns="38100" anchor="t">
            <a:normAutofit/>
          </a:bodyPr>
          <a:lstStyle/>
          <a:p>
            <a:pPr algn="l">
              <a:defRPr sz="1875" b="0">
                <a:solidFill>
                  <a:srgbClr val="17212B"/>
                </a:solidFill>
                <a:latin typeface="Helvetica Neue"/>
                <a:ea typeface="Helvetica Neue"/>
                <a:cs typeface="Helvetica Neue"/>
              </a:defRPr>
            </a:pPr>
            <a:r>
              <a:rPr sz="1875" b="0">
                <a:solidFill>
                  <a:srgbClr val="17212B"/>
                </a:solidFill>
                <a:latin typeface="Helvetica Neue"/>
                <a:ea typeface="Helvetica Neue"/>
                <a:cs typeface="Helvetica Neue"/>
              </a:rPr>
              <a:t>•  Chief function: testify to Jesus’ Resurrection</a:t>
            </a:r>
          </a:p>
        </p:txBody>
      </p:sp>
      <p:sp>
        <p:nvSpPr>
          <p:cNvPr id="4" name="q7-answer-1">
            <a:extLst>
              <a:ext uri="{FF2B5EF4-FFF2-40B4-BE49-F238E27FC236}">
                <a16:creationId xmlns:a16="http://schemas.microsoft.com/office/drawing/2014/main" id="{D8CEC5E0-2DA4-4606-A804-5C71862D6832}"/>
              </a:ext>
            </a:extLst>
          </p:cNvPr>
          <p:cNvSpPr>
            <a:spLocks noGrp="1"/>
          </p:cNvSpPr>
          <p:nvPr/>
        </p:nvSpPr>
        <p:spPr>
          <a:xfrm>
            <a:off x="1047750" y="3771900"/>
            <a:ext cx="9810750" cy="552450"/>
          </a:xfrm>
          <a:prstGeom prst="rect">
            <a:avLst/>
          </a:prstGeom>
          <a:noFill/>
          <a:ln w="0">
            <a:noFill/>
            <a:prstDash val="solid"/>
          </a:ln>
        </p:spPr>
        <p:txBody>
          <a:bodyPr wrap="square" lIns="57150" tIns="38100" rIns="57150" bIns="38100" anchor="t">
            <a:normAutofit/>
          </a:bodyPr>
          <a:lstStyle/>
          <a:p>
            <a:pPr algn="l">
              <a:defRPr sz="1875" b="0">
                <a:solidFill>
                  <a:srgbClr val="17212B"/>
                </a:solidFill>
                <a:latin typeface="Helvetica Neue"/>
                <a:ea typeface="Helvetica Neue"/>
                <a:cs typeface="Helvetica Neue"/>
              </a:defRPr>
            </a:pPr>
            <a:r>
              <a:rPr sz="1875" b="0">
                <a:solidFill>
                  <a:srgbClr val="17212B"/>
                </a:solidFill>
                <a:latin typeface="Helvetica Neue"/>
                <a:ea typeface="Helvetica Neue"/>
                <a:cs typeface="Helvetica Neue"/>
              </a:rPr>
              <a:t>•  Qualified by accompanying Jesus’ followers from John’s baptism through the Ascension</a:t>
            </a:r>
          </a:p>
        </p:txBody>
      </p:sp>
      <p:sp>
        <p:nvSpPr>
          <p:cNvPr id="5" name="q7-answer-2">
            <a:extLst>
              <a:ext uri="{FF2B5EF4-FFF2-40B4-BE49-F238E27FC236}">
                <a16:creationId xmlns:a16="http://schemas.microsoft.com/office/drawing/2014/main" id="{F0922F7B-BC61-4D5E-9D6F-FE82EC586010}"/>
              </a:ext>
            </a:extLst>
          </p:cNvPr>
          <p:cNvSpPr>
            <a:spLocks noGrp="1"/>
          </p:cNvSpPr>
          <p:nvPr/>
        </p:nvSpPr>
        <p:spPr>
          <a:xfrm>
            <a:off x="1047750" y="4495800"/>
            <a:ext cx="9810750" cy="552450"/>
          </a:xfrm>
          <a:prstGeom prst="rect">
            <a:avLst/>
          </a:prstGeom>
          <a:noFill/>
          <a:ln w="0">
            <a:noFill/>
            <a:prstDash val="solid"/>
          </a:ln>
        </p:spPr>
        <p:txBody>
          <a:bodyPr wrap="square" lIns="57150" tIns="38100" rIns="57150" bIns="38100" anchor="t">
            <a:normAutofit/>
          </a:bodyPr>
          <a:lstStyle/>
          <a:p>
            <a:pPr algn="l">
              <a:defRPr sz="1875" b="0">
                <a:solidFill>
                  <a:srgbClr val="17212B"/>
                </a:solidFill>
                <a:latin typeface="Helvetica Neue"/>
                <a:ea typeface="Helvetica Neue"/>
                <a:cs typeface="Helvetica Neue"/>
              </a:defRPr>
            </a:pPr>
            <a:r>
              <a:rPr sz="1875" b="0">
                <a:solidFill>
                  <a:srgbClr val="17212B"/>
                </a:solidFill>
                <a:latin typeface="Helvetica Neue"/>
                <a:ea typeface="Helvetica Neue"/>
                <a:cs typeface="Helvetica Neue"/>
              </a:rPr>
              <a:t>•  Chosen to join the Eleven as an authoritative witness</a:t>
            </a:r>
          </a:p>
        </p:txBody>
      </p:sp>
      <p:sp>
        <p:nvSpPr>
          <p:cNvPr id="6" name="eyebrow-18">
            <a:extLst>
              <a:ext uri="{FF2B5EF4-FFF2-40B4-BE49-F238E27FC236}">
                <a16:creationId xmlns:a16="http://schemas.microsoft.com/office/drawing/2014/main" id="{B2C8A530-EBAC-466E-96E0-68D4E565D0F5}"/>
              </a:ext>
            </a:extLst>
          </p:cNvPr>
          <p:cNvSpPr>
            <a:spLocks noGrp="1"/>
          </p:cNvSpPr>
          <p:nvPr/>
        </p:nvSpPr>
        <p:spPr>
          <a:xfrm>
            <a:off x="552450" y="323850"/>
            <a:ext cx="3238500" cy="285750"/>
          </a:xfrm>
          <a:prstGeom prst="rect">
            <a:avLst/>
          </a:prstGeom>
          <a:noFill/>
          <a:ln w="0">
            <a:noFill/>
            <a:prstDash val="solid"/>
          </a:ln>
        </p:spPr>
        <p:txBody>
          <a:bodyPr wrap="square" lIns="57150" tIns="38100" rIns="57150" bIns="38100" anchor="t">
            <a:normAutofit/>
          </a:bodyPr>
          <a:lstStyle/>
          <a:p>
            <a:pPr algn="l">
              <a:defRPr sz="1125" b="1">
                <a:solidFill>
                  <a:srgbClr val="C99535"/>
                </a:solidFill>
                <a:latin typeface="Helvetica Neue"/>
                <a:ea typeface="Helvetica Neue"/>
                <a:cs typeface="Helvetica Neue"/>
              </a:defRPr>
            </a:pPr>
            <a:r>
              <a:rPr sz="1125" b="1">
                <a:solidFill>
                  <a:srgbClr val="C99535"/>
                </a:solidFill>
                <a:latin typeface="Helvetica Neue"/>
                <a:ea typeface="Helvetica Neue"/>
                <a:cs typeface="Helvetica Neue"/>
              </a:rPr>
              <a:t>QUESTION 7 — SUGGESTED RESPONSE</a:t>
            </a:r>
          </a:p>
        </p:txBody>
      </p:sp>
      <p:sp>
        <p:nvSpPr>
          <p:cNvPr id="7" name="title-18">
            <a:extLst>
              <a:ext uri="{FF2B5EF4-FFF2-40B4-BE49-F238E27FC236}">
                <a16:creationId xmlns:a16="http://schemas.microsoft.com/office/drawing/2014/main" id="{965AA1D9-2419-4315-97DC-056336D3F8C0}"/>
              </a:ext>
            </a:extLst>
          </p:cNvPr>
          <p:cNvSpPr>
            <a:spLocks noGrp="1"/>
          </p:cNvSpPr>
          <p:nvPr/>
        </p:nvSpPr>
        <p:spPr>
          <a:xfrm>
            <a:off x="552450" y="704850"/>
            <a:ext cx="10810875" cy="914400"/>
          </a:xfrm>
          <a:prstGeom prst="rect">
            <a:avLst/>
          </a:prstGeom>
          <a:noFill/>
          <a:ln w="0">
            <a:noFill/>
            <a:prstDash val="solid"/>
          </a:ln>
        </p:spPr>
        <p:txBody>
          <a:bodyPr wrap="square" lIns="57150" tIns="38100" rIns="57150" bIns="38100" anchor="t">
            <a:normAutofit fontScale="91667"/>
          </a:bodyPr>
          <a:lstStyle/>
          <a:p>
            <a:pPr algn="l">
              <a:defRPr sz="3000" b="1">
                <a:solidFill>
                  <a:srgbClr val="17212B"/>
                </a:solidFill>
                <a:latin typeface="Helvetica Neue"/>
                <a:ea typeface="Helvetica Neue"/>
                <a:cs typeface="Helvetica Neue"/>
              </a:defRPr>
            </a:pPr>
            <a:r>
              <a:rPr sz="3000" b="1">
                <a:solidFill>
                  <a:srgbClr val="17212B"/>
                </a:solidFill>
                <a:latin typeface="Helvetica Neue"/>
                <a:ea typeface="Helvetica Neue"/>
                <a:cs typeface="Helvetica Neue"/>
              </a:rPr>
              <a:t>How did Peter describe the chief function of an apostle? What were the qualifications of such a person?</a:t>
            </a:r>
          </a:p>
        </p:txBody>
      </p:sp>
      <p:sp>
        <p:nvSpPr>
          <p:cNvPr id="8" name="rule-18">
            <a:extLst>
              <a:ext uri="{FF2B5EF4-FFF2-40B4-BE49-F238E27FC236}">
                <a16:creationId xmlns:a16="http://schemas.microsoft.com/office/drawing/2014/main" id="{0AD926A3-ABBD-4BDC-AF13-32590F85048E}"/>
              </a:ext>
            </a:extLst>
          </p:cNvPr>
          <p:cNvSpPr>
            <a:spLocks noGrp="1"/>
          </p:cNvSpPr>
          <p:nvPr/>
        </p:nvSpPr>
        <p:spPr>
          <a:xfrm>
            <a:off x="552450" y="1657350"/>
            <a:ext cx="10810875" cy="28575"/>
          </a:xfrm>
          <a:prstGeom prst="rect">
            <a:avLst/>
          </a:prstGeom>
          <a:solidFill>
            <a:srgbClr val="C99535"/>
          </a:solidFill>
          <a:ln w="0">
            <a:noFill/>
            <a:prstDash val="solid"/>
          </a:ln>
        </p:spPr>
        <p:txBody>
          <a:bodyPr/>
          <a:lstStyle/>
          <a:p>
            <a:endParaRPr lang="en-US"/>
          </a:p>
        </p:txBody>
      </p:sp>
      <p:sp>
        <p:nvSpPr>
          <p:cNvPr id="9" name="number-18">
            <a:extLst>
              <a:ext uri="{FF2B5EF4-FFF2-40B4-BE49-F238E27FC236}">
                <a16:creationId xmlns:a16="http://schemas.microsoft.com/office/drawing/2014/main" id="{462396C4-4BC3-4D1A-B1B8-8F6C1582E78B}"/>
              </a:ext>
            </a:extLst>
          </p:cNvPr>
          <p:cNvSpPr>
            <a:spLocks noGrp="1"/>
          </p:cNvSpPr>
          <p:nvPr/>
        </p:nvSpPr>
        <p:spPr>
          <a:xfrm>
            <a:off x="10858500" y="6305550"/>
            <a:ext cx="514350" cy="247650"/>
          </a:xfrm>
          <a:prstGeom prst="rect">
            <a:avLst/>
          </a:prstGeom>
          <a:noFill/>
          <a:ln w="0">
            <a:noFill/>
            <a:prstDash val="solid"/>
          </a:ln>
        </p:spPr>
        <p:txBody>
          <a:bodyPr wrap="square" lIns="57150" tIns="38100" rIns="57150" bIns="38100" anchor="t">
            <a:normAutofit/>
          </a:bodyPr>
          <a:lstStyle/>
          <a:p>
            <a:pPr algn="r">
              <a:defRPr sz="1050" b="0">
                <a:solidFill>
                  <a:srgbClr val="536170"/>
                </a:solidFill>
                <a:latin typeface="Helvetica Neue"/>
                <a:ea typeface="Helvetica Neue"/>
                <a:cs typeface="Helvetica Neue"/>
              </a:defRPr>
            </a:pPr>
            <a:r>
              <a:rPr sz="1050" b="0">
                <a:solidFill>
                  <a:srgbClr val="536170"/>
                </a:solidFill>
                <a:latin typeface="Helvetica Neue"/>
                <a:ea typeface="Helvetica Neue"/>
                <a:cs typeface="Helvetica Neue"/>
              </a:rPr>
              <a:t>18</a:t>
            </a:r>
          </a:p>
        </p:txBody>
      </p:sp>
    </p:spTree>
    <p:extLst>
      <p:ext uri="{BB962C8B-B14F-4D97-AF65-F5344CB8AC3E}">
        <p14:creationId xmlns:p14="http://schemas.microsoft.com/office/powerpoint/2010/main" val="24809222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eyebrow-19">
            <a:extLst>
              <a:ext uri="{FF2B5EF4-FFF2-40B4-BE49-F238E27FC236}">
                <a16:creationId xmlns:a16="http://schemas.microsoft.com/office/drawing/2014/main" id="{EBB753FA-0E21-477E-94EC-386A5673028D}"/>
              </a:ext>
            </a:extLst>
          </p:cNvPr>
          <p:cNvSpPr>
            <a:spLocks noGrp="1"/>
          </p:cNvSpPr>
          <p:nvPr/>
        </p:nvSpPr>
        <p:spPr>
          <a:xfrm>
            <a:off x="552450" y="323850"/>
            <a:ext cx="3238500" cy="285750"/>
          </a:xfrm>
          <a:prstGeom prst="rect">
            <a:avLst/>
          </a:prstGeom>
          <a:noFill/>
          <a:ln w="0">
            <a:noFill/>
            <a:prstDash val="solid"/>
          </a:ln>
        </p:spPr>
        <p:txBody>
          <a:bodyPr wrap="square" lIns="57150" tIns="38100" rIns="57150" bIns="38100" anchor="t">
            <a:normAutofit/>
          </a:bodyPr>
          <a:lstStyle/>
          <a:p>
            <a:pPr algn="l">
              <a:defRPr sz="1125" b="1">
                <a:solidFill>
                  <a:srgbClr val="236AA3"/>
                </a:solidFill>
                <a:latin typeface="Helvetica Neue"/>
                <a:ea typeface="Helvetica Neue"/>
                <a:cs typeface="Helvetica Neue"/>
              </a:defRPr>
            </a:pPr>
            <a:r>
              <a:rPr sz="1125" b="1">
                <a:solidFill>
                  <a:srgbClr val="236AA3"/>
                </a:solidFill>
                <a:latin typeface="Helvetica Neue"/>
                <a:ea typeface="Helvetica Neue"/>
                <a:cs typeface="Helvetica Neue"/>
              </a:rPr>
              <a:t>QUESTION 8</a:t>
            </a:r>
          </a:p>
        </p:txBody>
      </p:sp>
      <p:sp>
        <p:nvSpPr>
          <p:cNvPr id="2" name="title-19">
            <a:extLst>
              <a:ext uri="{FF2B5EF4-FFF2-40B4-BE49-F238E27FC236}">
                <a16:creationId xmlns:a16="http://schemas.microsoft.com/office/drawing/2014/main" id="{D99F9AB7-0DB1-4CF8-A640-7A952A21D96C}"/>
              </a:ext>
            </a:extLst>
          </p:cNvPr>
          <p:cNvSpPr>
            <a:spLocks noGrp="1"/>
          </p:cNvSpPr>
          <p:nvPr/>
        </p:nvSpPr>
        <p:spPr>
          <a:xfrm>
            <a:off x="552450" y="704850"/>
            <a:ext cx="10810875" cy="914400"/>
          </a:xfrm>
          <a:prstGeom prst="rect">
            <a:avLst/>
          </a:prstGeom>
          <a:noFill/>
          <a:ln w="0">
            <a:noFill/>
            <a:prstDash val="solid"/>
          </a:ln>
        </p:spPr>
        <p:txBody>
          <a:bodyPr wrap="square" lIns="57150" tIns="38100" rIns="57150" bIns="38100" anchor="t">
            <a:normAutofit fontScale="86531"/>
          </a:bodyPr>
          <a:lstStyle/>
          <a:p>
            <a:pPr algn="l">
              <a:defRPr sz="3000" b="1">
                <a:solidFill>
                  <a:srgbClr val="17212B"/>
                </a:solidFill>
                <a:latin typeface="Helvetica Neue"/>
                <a:ea typeface="Helvetica Neue"/>
                <a:cs typeface="Helvetica Neue"/>
              </a:defRPr>
            </a:pPr>
            <a:r>
              <a:rPr sz="3000" b="1">
                <a:solidFill>
                  <a:srgbClr val="17212B"/>
                </a:solidFill>
                <a:latin typeface="Helvetica Neue"/>
                <a:ea typeface="Helvetica Neue"/>
                <a:cs typeface="Helvetica Neue"/>
              </a:rPr>
              <a:t>a. What role did prayer have between the Ascension and Pentecost?</a:t>
            </a:r>
          </a:p>
          <a:p>
            <a:pPr algn="l">
              <a:defRPr sz="3000" b="1">
                <a:solidFill>
                  <a:srgbClr val="17212B"/>
                </a:solidFill>
                <a:latin typeface="Helvetica Neue"/>
                <a:ea typeface="Helvetica Neue"/>
                <a:cs typeface="Helvetica Neue"/>
              </a:defRPr>
            </a:pPr>
            <a:r>
              <a:rPr sz="3000" b="1">
                <a:solidFill>
                  <a:srgbClr val="17212B"/>
                </a:solidFill>
                <a:latin typeface="Helvetica Neue"/>
                <a:ea typeface="Helvetica Neue"/>
                <a:cs typeface="Helvetica Neue"/>
              </a:rPr>
              <a:t>b. How is this a model for us?</a:t>
            </a:r>
          </a:p>
        </p:txBody>
      </p:sp>
      <p:sp>
        <p:nvSpPr>
          <p:cNvPr id="3" name="rule-19">
            <a:extLst>
              <a:ext uri="{FF2B5EF4-FFF2-40B4-BE49-F238E27FC236}">
                <a16:creationId xmlns:a16="http://schemas.microsoft.com/office/drawing/2014/main" id="{4B1AE638-99FB-474B-A16A-675A30693384}"/>
              </a:ext>
            </a:extLst>
          </p:cNvPr>
          <p:cNvSpPr>
            <a:spLocks noGrp="1"/>
          </p:cNvSpPr>
          <p:nvPr/>
        </p:nvSpPr>
        <p:spPr>
          <a:xfrm>
            <a:off x="552450" y="1657350"/>
            <a:ext cx="10810875" cy="28575"/>
          </a:xfrm>
          <a:prstGeom prst="rect">
            <a:avLst/>
          </a:prstGeom>
          <a:solidFill>
            <a:srgbClr val="236AA3"/>
          </a:solidFill>
          <a:ln w="0">
            <a:noFill/>
            <a:prstDash val="solid"/>
          </a:ln>
        </p:spPr>
        <p:txBody>
          <a:bodyPr/>
          <a:lstStyle/>
          <a:p>
            <a:endParaRPr lang="en-US"/>
          </a:p>
        </p:txBody>
      </p:sp>
      <p:sp>
        <p:nvSpPr>
          <p:cNvPr id="4" name="number-19">
            <a:extLst>
              <a:ext uri="{FF2B5EF4-FFF2-40B4-BE49-F238E27FC236}">
                <a16:creationId xmlns:a16="http://schemas.microsoft.com/office/drawing/2014/main" id="{1A183653-E512-4092-AEC1-9353634AB4BA}"/>
              </a:ext>
            </a:extLst>
          </p:cNvPr>
          <p:cNvSpPr>
            <a:spLocks noGrp="1"/>
          </p:cNvSpPr>
          <p:nvPr/>
        </p:nvSpPr>
        <p:spPr>
          <a:xfrm>
            <a:off x="10858500" y="6305550"/>
            <a:ext cx="514350" cy="247650"/>
          </a:xfrm>
          <a:prstGeom prst="rect">
            <a:avLst/>
          </a:prstGeom>
          <a:noFill/>
          <a:ln w="0">
            <a:noFill/>
            <a:prstDash val="solid"/>
          </a:ln>
        </p:spPr>
        <p:txBody>
          <a:bodyPr wrap="square" lIns="57150" tIns="38100" rIns="57150" bIns="38100" anchor="t">
            <a:normAutofit/>
          </a:bodyPr>
          <a:lstStyle/>
          <a:p>
            <a:pPr algn="r">
              <a:defRPr sz="1050" b="0">
                <a:solidFill>
                  <a:srgbClr val="536170"/>
                </a:solidFill>
                <a:latin typeface="Helvetica Neue"/>
                <a:ea typeface="Helvetica Neue"/>
                <a:cs typeface="Helvetica Neue"/>
              </a:defRPr>
            </a:pPr>
            <a:r>
              <a:rPr sz="1050" b="0">
                <a:solidFill>
                  <a:srgbClr val="536170"/>
                </a:solidFill>
                <a:latin typeface="Helvetica Neue"/>
                <a:ea typeface="Helvetica Neue"/>
                <a:cs typeface="Helvetica Neue"/>
              </a:rPr>
              <a:t>19</a:t>
            </a:r>
          </a:p>
        </p:txBody>
      </p:sp>
      <p:sp>
        <p:nvSpPr>
          <p:cNvPr id="5" name="q8-context-panel">
            <a:extLst>
              <a:ext uri="{FF2B5EF4-FFF2-40B4-BE49-F238E27FC236}">
                <a16:creationId xmlns:a16="http://schemas.microsoft.com/office/drawing/2014/main" id="{42AEFA29-FF23-4802-B8A6-8DEE13390244}"/>
              </a:ext>
            </a:extLst>
          </p:cNvPr>
          <p:cNvSpPr>
            <a:spLocks noGrp="1"/>
          </p:cNvSpPr>
          <p:nvPr/>
        </p:nvSpPr>
        <p:spPr>
          <a:xfrm>
            <a:off x="685800" y="2381250"/>
            <a:ext cx="10820400" cy="2590800"/>
          </a:xfrm>
          <a:prstGeom prst="roundRect">
            <a:avLst>
              <a:gd name="adj" fmla="val 2941"/>
            </a:avLst>
          </a:prstGeom>
          <a:solidFill>
            <a:srgbClr val="F4F7F9"/>
          </a:solidFill>
          <a:ln w="9525">
            <a:solidFill>
              <a:srgbClr val="B9C7D1"/>
            </a:solidFill>
            <a:prstDash val="solid"/>
          </a:ln>
        </p:spPr>
        <p:txBody>
          <a:bodyPr/>
          <a:lstStyle/>
          <a:p>
            <a:endParaRPr lang="en-US"/>
          </a:p>
        </p:txBody>
      </p:sp>
      <p:sp>
        <p:nvSpPr>
          <p:cNvPr id="6" name="q8-context-label">
            <a:extLst>
              <a:ext uri="{FF2B5EF4-FFF2-40B4-BE49-F238E27FC236}">
                <a16:creationId xmlns:a16="http://schemas.microsoft.com/office/drawing/2014/main" id="{8B6E0B18-E101-4453-9398-FF6B4D99D492}"/>
              </a:ext>
            </a:extLst>
          </p:cNvPr>
          <p:cNvSpPr>
            <a:spLocks noGrp="1"/>
          </p:cNvSpPr>
          <p:nvPr/>
        </p:nvSpPr>
        <p:spPr>
          <a:xfrm>
            <a:off x="952500" y="2609850"/>
            <a:ext cx="2857500" cy="342900"/>
          </a:xfrm>
          <a:prstGeom prst="rect">
            <a:avLst/>
          </a:prstGeom>
          <a:noFill/>
          <a:ln w="0">
            <a:noFill/>
            <a:prstDash val="solid"/>
          </a:ln>
        </p:spPr>
        <p:txBody>
          <a:bodyPr wrap="square" lIns="57150" tIns="38100" rIns="57150" bIns="38100" anchor="t">
            <a:normAutofit/>
          </a:bodyPr>
          <a:lstStyle/>
          <a:p>
            <a:pPr algn="l">
              <a:defRPr sz="1500" b="1">
                <a:solidFill>
                  <a:srgbClr val="236AA3"/>
                </a:solidFill>
                <a:latin typeface="Helvetica Neue"/>
                <a:ea typeface="Helvetica Neue"/>
                <a:cs typeface="Helvetica Neue"/>
              </a:defRPr>
            </a:pPr>
            <a:r>
              <a:rPr sz="1500" b="1">
                <a:solidFill>
                  <a:srgbClr val="236AA3"/>
                </a:solidFill>
                <a:latin typeface="Helvetica Neue"/>
                <a:ea typeface="Helvetica Neue"/>
                <a:cs typeface="Helvetica Neue"/>
              </a:rPr>
              <a:t>Helpful context</a:t>
            </a:r>
          </a:p>
        </p:txBody>
      </p:sp>
      <p:sp>
        <p:nvSpPr>
          <p:cNvPr id="7" name="q8-bullet-0">
            <a:extLst>
              <a:ext uri="{FF2B5EF4-FFF2-40B4-BE49-F238E27FC236}">
                <a16:creationId xmlns:a16="http://schemas.microsoft.com/office/drawing/2014/main" id="{1F1BD189-79A5-4FE6-84D7-3F07C9C71E10}"/>
              </a:ext>
            </a:extLst>
          </p:cNvPr>
          <p:cNvSpPr>
            <a:spLocks noGrp="1"/>
          </p:cNvSpPr>
          <p:nvPr/>
        </p:nvSpPr>
        <p:spPr>
          <a:xfrm>
            <a:off x="1028700" y="3162300"/>
            <a:ext cx="9696450" cy="400050"/>
          </a:xfrm>
          <a:prstGeom prst="rect">
            <a:avLst/>
          </a:prstGeom>
          <a:noFill/>
          <a:ln w="0">
            <a:noFill/>
            <a:prstDash val="solid"/>
          </a:ln>
        </p:spPr>
        <p:txBody>
          <a:bodyPr wrap="square" lIns="57150" tIns="38100" rIns="57150" bIns="38100" anchor="t">
            <a:normAutofit/>
          </a:bodyPr>
          <a:lstStyle/>
          <a:p>
            <a:pPr algn="l">
              <a:defRPr sz="1875" b="0">
                <a:solidFill>
                  <a:srgbClr val="17212B"/>
                </a:solidFill>
                <a:latin typeface="Helvetica Neue"/>
                <a:ea typeface="Helvetica Neue"/>
                <a:cs typeface="Helvetica Neue"/>
              </a:defRPr>
            </a:pPr>
            <a:r>
              <a:rPr sz="1875" b="0">
                <a:solidFill>
                  <a:srgbClr val="17212B"/>
                </a:solidFill>
                <a:latin typeface="Helvetica Neue"/>
                <a:ea typeface="Helvetica Neue"/>
                <a:cs typeface="Helvetica Neue"/>
              </a:rPr>
              <a:t>•  Acts 1:14, 24–25</a:t>
            </a:r>
          </a:p>
        </p:txBody>
      </p:sp>
      <p:sp>
        <p:nvSpPr>
          <p:cNvPr id="8" name="q8-bullet-1">
            <a:extLst>
              <a:ext uri="{FF2B5EF4-FFF2-40B4-BE49-F238E27FC236}">
                <a16:creationId xmlns:a16="http://schemas.microsoft.com/office/drawing/2014/main" id="{40693C94-26D7-4FE0-A8F4-AD273194E370}"/>
              </a:ext>
            </a:extLst>
          </p:cNvPr>
          <p:cNvSpPr>
            <a:spLocks noGrp="1"/>
          </p:cNvSpPr>
          <p:nvPr/>
        </p:nvSpPr>
        <p:spPr>
          <a:xfrm>
            <a:off x="1028700" y="3714750"/>
            <a:ext cx="9696450" cy="400050"/>
          </a:xfrm>
          <a:prstGeom prst="rect">
            <a:avLst/>
          </a:prstGeom>
          <a:noFill/>
          <a:ln w="0">
            <a:noFill/>
            <a:prstDash val="solid"/>
          </a:ln>
        </p:spPr>
        <p:txBody>
          <a:bodyPr wrap="square" lIns="57150" tIns="38100" rIns="57150" bIns="38100" anchor="t">
            <a:normAutofit/>
          </a:bodyPr>
          <a:lstStyle/>
          <a:p>
            <a:pPr algn="l">
              <a:defRPr sz="1875" b="0">
                <a:solidFill>
                  <a:srgbClr val="17212B"/>
                </a:solidFill>
                <a:latin typeface="Helvetica Neue"/>
                <a:ea typeface="Helvetica Neue"/>
                <a:cs typeface="Helvetica Neue"/>
              </a:defRPr>
            </a:pPr>
            <a:r>
              <a:rPr sz="1875" b="0">
                <a:solidFill>
                  <a:srgbClr val="17212B"/>
                </a:solidFill>
                <a:latin typeface="Helvetica Neue"/>
                <a:ea typeface="Helvetica Neue"/>
                <a:cs typeface="Helvetica Neue"/>
              </a:rPr>
              <a:t>•  They prayed together continually</a:t>
            </a:r>
          </a:p>
        </p:txBody>
      </p:sp>
      <p:sp>
        <p:nvSpPr>
          <p:cNvPr id="9" name="q8-bullet-2">
            <a:extLst>
              <a:ext uri="{FF2B5EF4-FFF2-40B4-BE49-F238E27FC236}">
                <a16:creationId xmlns:a16="http://schemas.microsoft.com/office/drawing/2014/main" id="{F7460DCB-146B-4EFD-98F1-C7F606350788}"/>
              </a:ext>
            </a:extLst>
          </p:cNvPr>
          <p:cNvSpPr>
            <a:spLocks noGrp="1"/>
          </p:cNvSpPr>
          <p:nvPr/>
        </p:nvSpPr>
        <p:spPr>
          <a:xfrm>
            <a:off x="1028700" y="4267200"/>
            <a:ext cx="9696450" cy="400050"/>
          </a:xfrm>
          <a:prstGeom prst="rect">
            <a:avLst/>
          </a:prstGeom>
          <a:noFill/>
          <a:ln w="0">
            <a:noFill/>
            <a:prstDash val="solid"/>
          </a:ln>
        </p:spPr>
        <p:txBody>
          <a:bodyPr wrap="square" lIns="57150" tIns="38100" rIns="57150" bIns="38100" anchor="t">
            <a:normAutofit/>
          </a:bodyPr>
          <a:lstStyle/>
          <a:p>
            <a:pPr algn="l">
              <a:defRPr sz="1875" b="0">
                <a:solidFill>
                  <a:srgbClr val="17212B"/>
                </a:solidFill>
                <a:latin typeface="Helvetica Neue"/>
                <a:ea typeface="Helvetica Neue"/>
                <a:cs typeface="Helvetica Neue"/>
              </a:defRPr>
            </a:pPr>
            <a:r>
              <a:rPr sz="1875" b="0">
                <a:solidFill>
                  <a:srgbClr val="17212B"/>
                </a:solidFill>
                <a:latin typeface="Helvetica Neue"/>
                <a:ea typeface="Helvetica Neue"/>
                <a:cs typeface="Helvetica Neue"/>
              </a:rPr>
              <a:t>•  They sought God’s guidance</a:t>
            </a:r>
          </a:p>
        </p:txBody>
      </p:sp>
      <p:sp>
        <p:nvSpPr>
          <p:cNvPr id="10" name="q8-discussion">
            <a:extLst>
              <a:ext uri="{FF2B5EF4-FFF2-40B4-BE49-F238E27FC236}">
                <a16:creationId xmlns:a16="http://schemas.microsoft.com/office/drawing/2014/main" id="{3511C67A-C336-4FF5-9A9C-A708812A5726}"/>
              </a:ext>
            </a:extLst>
          </p:cNvPr>
          <p:cNvSpPr>
            <a:spLocks noGrp="1"/>
          </p:cNvSpPr>
          <p:nvPr/>
        </p:nvSpPr>
        <p:spPr>
          <a:xfrm>
            <a:off x="723900" y="5476875"/>
            <a:ext cx="8572500" cy="361950"/>
          </a:xfrm>
          <a:prstGeom prst="rect">
            <a:avLst/>
          </a:prstGeom>
          <a:noFill/>
          <a:ln w="0">
            <a:noFill/>
            <a:prstDash val="solid"/>
          </a:ln>
        </p:spPr>
        <p:txBody>
          <a:bodyPr wrap="square" lIns="57150" tIns="38100" rIns="57150" bIns="38100" anchor="t">
            <a:normAutofit/>
          </a:bodyPr>
          <a:lstStyle/>
          <a:p>
            <a:pPr algn="l">
              <a:defRPr sz="1350" b="0">
                <a:solidFill>
                  <a:srgbClr val="536170"/>
                </a:solidFill>
                <a:latin typeface="Helvetica Neue"/>
                <a:ea typeface="Helvetica Neue"/>
                <a:cs typeface="Helvetica Neue"/>
              </a:defRPr>
            </a:pPr>
            <a:r>
              <a:rPr sz="1350" b="0">
                <a:solidFill>
                  <a:srgbClr val="536170"/>
                </a:solidFill>
                <a:latin typeface="Helvetica Neue"/>
                <a:ea typeface="Helvetica Neue"/>
                <a:cs typeface="Helvetica Neue"/>
              </a:rPr>
              <a:t>Discuss before revealing the suggested response</a:t>
            </a:r>
          </a:p>
        </p:txBody>
      </p:sp>
    </p:spTree>
    <p:extLst>
      <p:ext uri="{BB962C8B-B14F-4D97-AF65-F5344CB8AC3E}">
        <p14:creationId xmlns:p14="http://schemas.microsoft.com/office/powerpoint/2010/main" val="13951002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eyebrow-20">
            <a:extLst>
              <a:ext uri="{FF2B5EF4-FFF2-40B4-BE49-F238E27FC236}">
                <a16:creationId xmlns:a16="http://schemas.microsoft.com/office/drawing/2014/main" id="{F42B1BEA-ED44-4F99-BA3F-80012E8FC01E}"/>
              </a:ext>
            </a:extLst>
          </p:cNvPr>
          <p:cNvSpPr>
            <a:spLocks noGrp="1"/>
          </p:cNvSpPr>
          <p:nvPr/>
        </p:nvSpPr>
        <p:spPr>
          <a:xfrm>
            <a:off x="552450" y="323850"/>
            <a:ext cx="3238500" cy="285750"/>
          </a:xfrm>
          <a:prstGeom prst="rect">
            <a:avLst/>
          </a:prstGeom>
          <a:noFill/>
          <a:ln w="0">
            <a:noFill/>
            <a:prstDash val="solid"/>
          </a:ln>
        </p:spPr>
        <p:txBody>
          <a:bodyPr wrap="square" lIns="57150" tIns="38100" rIns="57150" bIns="38100" anchor="t">
            <a:normAutofit/>
          </a:bodyPr>
          <a:lstStyle/>
          <a:p>
            <a:pPr algn="l">
              <a:defRPr sz="1125" b="1">
                <a:solidFill>
                  <a:srgbClr val="C99535"/>
                </a:solidFill>
                <a:latin typeface="Helvetica Neue"/>
                <a:ea typeface="Helvetica Neue"/>
                <a:cs typeface="Helvetica Neue"/>
              </a:defRPr>
            </a:pPr>
            <a:r>
              <a:rPr sz="1125" b="1">
                <a:solidFill>
                  <a:srgbClr val="C99535"/>
                </a:solidFill>
                <a:latin typeface="Helvetica Neue"/>
                <a:ea typeface="Helvetica Neue"/>
                <a:cs typeface="Helvetica Neue"/>
              </a:rPr>
              <a:t>QUESTION 8 RABBIT HOLE</a:t>
            </a:r>
          </a:p>
        </p:txBody>
      </p:sp>
      <p:sp>
        <p:nvSpPr>
          <p:cNvPr id="2" name="title-20">
            <a:extLst>
              <a:ext uri="{FF2B5EF4-FFF2-40B4-BE49-F238E27FC236}">
                <a16:creationId xmlns:a16="http://schemas.microsoft.com/office/drawing/2014/main" id="{DA639C77-85B9-484B-91D5-FB74413E4F0E}"/>
              </a:ext>
            </a:extLst>
          </p:cNvPr>
          <p:cNvSpPr>
            <a:spLocks noGrp="1"/>
          </p:cNvSpPr>
          <p:nvPr/>
        </p:nvSpPr>
        <p:spPr>
          <a:xfrm>
            <a:off x="552450" y="704850"/>
            <a:ext cx="10810875" cy="914400"/>
          </a:xfrm>
          <a:prstGeom prst="rect">
            <a:avLst/>
          </a:prstGeom>
          <a:noFill/>
          <a:ln w="0">
            <a:noFill/>
            <a:prstDash val="solid"/>
          </a:ln>
        </p:spPr>
        <p:txBody>
          <a:bodyPr wrap="square" lIns="57150" tIns="38100" rIns="57150" bIns="38100" anchor="t">
            <a:normAutofit/>
          </a:bodyPr>
          <a:lstStyle/>
          <a:p>
            <a:pPr algn="l">
              <a:defRPr sz="3000" b="1">
                <a:solidFill>
                  <a:srgbClr val="17212B"/>
                </a:solidFill>
                <a:latin typeface="Helvetica Neue"/>
                <a:ea typeface="Helvetica Neue"/>
                <a:cs typeface="Helvetica Neue"/>
              </a:defRPr>
            </a:pPr>
            <a:r>
              <a:rPr sz="3000" b="1">
                <a:solidFill>
                  <a:srgbClr val="17212B"/>
                </a:solidFill>
                <a:latin typeface="Helvetica Neue"/>
                <a:ea typeface="Helvetica Neue"/>
                <a:cs typeface="Helvetica Neue"/>
              </a:rPr>
              <a:t>Should Christians use lots to discern God’s will?</a:t>
            </a:r>
          </a:p>
        </p:txBody>
      </p:sp>
      <p:sp>
        <p:nvSpPr>
          <p:cNvPr id="3" name="rule-20">
            <a:extLst>
              <a:ext uri="{FF2B5EF4-FFF2-40B4-BE49-F238E27FC236}">
                <a16:creationId xmlns:a16="http://schemas.microsoft.com/office/drawing/2014/main" id="{AB86B092-0C7B-460E-B210-A081C6BDEB34}"/>
              </a:ext>
            </a:extLst>
          </p:cNvPr>
          <p:cNvSpPr>
            <a:spLocks noGrp="1"/>
          </p:cNvSpPr>
          <p:nvPr/>
        </p:nvSpPr>
        <p:spPr>
          <a:xfrm>
            <a:off x="552450" y="1657350"/>
            <a:ext cx="10810875" cy="28575"/>
          </a:xfrm>
          <a:prstGeom prst="rect">
            <a:avLst/>
          </a:prstGeom>
          <a:solidFill>
            <a:srgbClr val="C99535"/>
          </a:solidFill>
          <a:ln w="0">
            <a:noFill/>
            <a:prstDash val="solid"/>
          </a:ln>
        </p:spPr>
        <p:txBody>
          <a:bodyPr/>
          <a:lstStyle/>
          <a:p>
            <a:endParaRPr lang="en-US"/>
          </a:p>
        </p:txBody>
      </p:sp>
      <p:sp>
        <p:nvSpPr>
          <p:cNvPr id="4" name="number-20">
            <a:extLst>
              <a:ext uri="{FF2B5EF4-FFF2-40B4-BE49-F238E27FC236}">
                <a16:creationId xmlns:a16="http://schemas.microsoft.com/office/drawing/2014/main" id="{B77A3B2D-CA22-4942-9D13-BAE93C1BD3EC}"/>
              </a:ext>
            </a:extLst>
          </p:cNvPr>
          <p:cNvSpPr>
            <a:spLocks noGrp="1"/>
          </p:cNvSpPr>
          <p:nvPr/>
        </p:nvSpPr>
        <p:spPr>
          <a:xfrm>
            <a:off x="10858500" y="6305550"/>
            <a:ext cx="514350" cy="247650"/>
          </a:xfrm>
          <a:prstGeom prst="rect">
            <a:avLst/>
          </a:prstGeom>
          <a:noFill/>
          <a:ln w="0">
            <a:noFill/>
            <a:prstDash val="solid"/>
          </a:ln>
        </p:spPr>
        <p:txBody>
          <a:bodyPr wrap="square" lIns="57150" tIns="38100" rIns="57150" bIns="38100" anchor="t">
            <a:normAutofit/>
          </a:bodyPr>
          <a:lstStyle/>
          <a:p>
            <a:pPr algn="r">
              <a:defRPr sz="1050" b="0">
                <a:solidFill>
                  <a:srgbClr val="536170"/>
                </a:solidFill>
                <a:latin typeface="Helvetica Neue"/>
                <a:ea typeface="Helvetica Neue"/>
                <a:cs typeface="Helvetica Neue"/>
              </a:defRPr>
            </a:pPr>
            <a:r>
              <a:rPr sz="1050" b="0">
                <a:solidFill>
                  <a:srgbClr val="536170"/>
                </a:solidFill>
                <a:latin typeface="Helvetica Neue"/>
                <a:ea typeface="Helvetica Neue"/>
                <a:cs typeface="Helvetica Neue"/>
              </a:rPr>
              <a:t>20</a:t>
            </a:r>
          </a:p>
        </p:txBody>
      </p:sp>
      <p:sp>
        <p:nvSpPr>
          <p:cNvPr id="5" name="rabbit8-context">
            <a:extLst>
              <a:ext uri="{FF2B5EF4-FFF2-40B4-BE49-F238E27FC236}">
                <a16:creationId xmlns:a16="http://schemas.microsoft.com/office/drawing/2014/main" id="{BEEDDF27-F3F4-480C-9523-76AFCBE5828E}"/>
              </a:ext>
            </a:extLst>
          </p:cNvPr>
          <p:cNvSpPr>
            <a:spLocks noGrp="1"/>
          </p:cNvSpPr>
          <p:nvPr/>
        </p:nvSpPr>
        <p:spPr>
          <a:xfrm>
            <a:off x="685800" y="1981200"/>
            <a:ext cx="10820400" cy="819150"/>
          </a:xfrm>
          <a:prstGeom prst="rect">
            <a:avLst/>
          </a:prstGeom>
          <a:noFill/>
          <a:ln w="0">
            <a:noFill/>
            <a:prstDash val="solid"/>
          </a:ln>
        </p:spPr>
        <p:txBody>
          <a:bodyPr wrap="square" lIns="57150" tIns="38100" rIns="57150" bIns="38100" anchor="t">
            <a:normAutofit/>
          </a:bodyPr>
          <a:lstStyle/>
          <a:p>
            <a:pPr algn="l">
              <a:defRPr sz="1800" b="0">
                <a:solidFill>
                  <a:srgbClr val="17212B"/>
                </a:solidFill>
                <a:latin typeface="Helvetica Neue"/>
                <a:ea typeface="Helvetica Neue"/>
                <a:cs typeface="Helvetica Neue"/>
              </a:defRPr>
            </a:pPr>
            <a:r>
              <a:rPr sz="1800" b="0">
                <a:solidFill>
                  <a:srgbClr val="17212B"/>
                </a:solidFill>
                <a:latin typeface="Helvetica Neue"/>
                <a:ea typeface="Helvetica Neue"/>
                <a:cs typeface="Helvetica Neue"/>
              </a:rPr>
              <a:t>Acts 1:26 records the only explicit Christian use of lots in Scripture—and it occurs before Pentecost.</a:t>
            </a:r>
          </a:p>
        </p:txBody>
      </p:sp>
      <p:sp>
        <p:nvSpPr>
          <p:cNvPr id="6" name="rabbit8-panel-0">
            <a:extLst>
              <a:ext uri="{FF2B5EF4-FFF2-40B4-BE49-F238E27FC236}">
                <a16:creationId xmlns:a16="http://schemas.microsoft.com/office/drawing/2014/main" id="{16FAF801-D61F-4E9C-BF23-ED66DD6E166F}"/>
              </a:ext>
            </a:extLst>
          </p:cNvPr>
          <p:cNvSpPr>
            <a:spLocks noGrp="1"/>
          </p:cNvSpPr>
          <p:nvPr/>
        </p:nvSpPr>
        <p:spPr>
          <a:xfrm>
            <a:off x="685800" y="3105150"/>
            <a:ext cx="10820400" cy="685800"/>
          </a:xfrm>
          <a:prstGeom prst="roundRect">
            <a:avLst>
              <a:gd name="adj" fmla="val 11111"/>
            </a:avLst>
          </a:prstGeom>
          <a:solidFill>
            <a:srgbClr val="F4F7F9"/>
          </a:solidFill>
          <a:ln w="9525">
            <a:solidFill>
              <a:srgbClr val="B9C7D1"/>
            </a:solidFill>
            <a:prstDash val="solid"/>
          </a:ln>
        </p:spPr>
        <p:txBody>
          <a:bodyPr/>
          <a:lstStyle/>
          <a:p>
            <a:endParaRPr lang="en-US"/>
          </a:p>
        </p:txBody>
      </p:sp>
      <p:sp>
        <p:nvSpPr>
          <p:cNvPr id="7" name="rabbit8-prompt-0">
            <a:extLst>
              <a:ext uri="{FF2B5EF4-FFF2-40B4-BE49-F238E27FC236}">
                <a16:creationId xmlns:a16="http://schemas.microsoft.com/office/drawing/2014/main" id="{6948B6B0-57DF-413F-A88B-A8F551DC44E5}"/>
              </a:ext>
            </a:extLst>
          </p:cNvPr>
          <p:cNvSpPr>
            <a:spLocks noGrp="1"/>
          </p:cNvSpPr>
          <p:nvPr/>
        </p:nvSpPr>
        <p:spPr>
          <a:xfrm>
            <a:off x="895350" y="3238500"/>
            <a:ext cx="10382250" cy="438150"/>
          </a:xfrm>
          <a:prstGeom prst="rect">
            <a:avLst/>
          </a:prstGeom>
          <a:noFill/>
          <a:ln w="0">
            <a:noFill/>
            <a:prstDash val="solid"/>
          </a:ln>
        </p:spPr>
        <p:txBody>
          <a:bodyPr wrap="square" lIns="57150" tIns="38100" rIns="57150" bIns="38100" anchor="t">
            <a:normAutofit/>
          </a:bodyPr>
          <a:lstStyle/>
          <a:p>
            <a:pPr algn="l">
              <a:defRPr sz="1650" b="0">
                <a:solidFill>
                  <a:srgbClr val="17212B"/>
                </a:solidFill>
                <a:latin typeface="Helvetica Neue"/>
                <a:ea typeface="Helvetica Neue"/>
                <a:cs typeface="Helvetica Neue"/>
              </a:defRPr>
            </a:pPr>
            <a:r>
              <a:rPr sz="1650" b="0">
                <a:solidFill>
                  <a:srgbClr val="17212B"/>
                </a:solidFill>
                <a:latin typeface="Helvetica Neue"/>
                <a:ea typeface="Helvetica Neue"/>
                <a:cs typeface="Helvetica Neue"/>
              </a:rPr>
              <a:t>1. Was casting lots a timeless method, or a unique bridge between the Old Covenant and Pentecost?</a:t>
            </a:r>
          </a:p>
        </p:txBody>
      </p:sp>
      <p:sp>
        <p:nvSpPr>
          <p:cNvPr id="8" name="rabbit8-panel-1">
            <a:extLst>
              <a:ext uri="{FF2B5EF4-FFF2-40B4-BE49-F238E27FC236}">
                <a16:creationId xmlns:a16="http://schemas.microsoft.com/office/drawing/2014/main" id="{E0971BA3-0A4B-49AA-9F78-9B43660F4C50}"/>
              </a:ext>
            </a:extLst>
          </p:cNvPr>
          <p:cNvSpPr>
            <a:spLocks noGrp="1"/>
          </p:cNvSpPr>
          <p:nvPr/>
        </p:nvSpPr>
        <p:spPr>
          <a:xfrm>
            <a:off x="685800" y="3981450"/>
            <a:ext cx="10820400" cy="685800"/>
          </a:xfrm>
          <a:prstGeom prst="roundRect">
            <a:avLst>
              <a:gd name="adj" fmla="val 11111"/>
            </a:avLst>
          </a:prstGeom>
          <a:solidFill>
            <a:srgbClr val="EAF3F9"/>
          </a:solidFill>
          <a:ln w="9525">
            <a:solidFill>
              <a:srgbClr val="B9C7D1"/>
            </a:solidFill>
            <a:prstDash val="solid"/>
          </a:ln>
        </p:spPr>
        <p:txBody>
          <a:bodyPr/>
          <a:lstStyle/>
          <a:p>
            <a:endParaRPr lang="en-US"/>
          </a:p>
        </p:txBody>
      </p:sp>
      <p:sp>
        <p:nvSpPr>
          <p:cNvPr id="9" name="rabbit8-prompt-1">
            <a:extLst>
              <a:ext uri="{FF2B5EF4-FFF2-40B4-BE49-F238E27FC236}">
                <a16:creationId xmlns:a16="http://schemas.microsoft.com/office/drawing/2014/main" id="{7306506A-1588-4E2B-B3DD-60D471DDEEE1}"/>
              </a:ext>
            </a:extLst>
          </p:cNvPr>
          <p:cNvSpPr>
            <a:spLocks noGrp="1"/>
          </p:cNvSpPr>
          <p:nvPr/>
        </p:nvSpPr>
        <p:spPr>
          <a:xfrm>
            <a:off x="895350" y="4114800"/>
            <a:ext cx="10382250" cy="438150"/>
          </a:xfrm>
          <a:prstGeom prst="rect">
            <a:avLst/>
          </a:prstGeom>
          <a:noFill/>
          <a:ln w="0">
            <a:noFill/>
            <a:prstDash val="solid"/>
          </a:ln>
        </p:spPr>
        <p:txBody>
          <a:bodyPr wrap="square" lIns="57150" tIns="38100" rIns="57150" bIns="38100" anchor="t">
            <a:normAutofit/>
          </a:bodyPr>
          <a:lstStyle/>
          <a:p>
            <a:pPr algn="l">
              <a:defRPr sz="1650" b="0">
                <a:solidFill>
                  <a:srgbClr val="17212B"/>
                </a:solidFill>
                <a:latin typeface="Helvetica Neue"/>
                <a:ea typeface="Helvetica Neue"/>
                <a:cs typeface="Helvetica Neue"/>
              </a:defRPr>
            </a:pPr>
            <a:r>
              <a:rPr sz="1650" b="0">
                <a:solidFill>
                  <a:srgbClr val="17212B"/>
                </a:solidFill>
                <a:latin typeface="Helvetica Neue"/>
                <a:ea typeface="Helvetica Neue"/>
                <a:cs typeface="Helvetica Neue"/>
              </a:rPr>
              <a:t>2. What changes after the Holy Spirit is poured out in Acts 2?</a:t>
            </a:r>
          </a:p>
        </p:txBody>
      </p:sp>
      <p:sp>
        <p:nvSpPr>
          <p:cNvPr id="10" name="rabbit8-panel-2">
            <a:extLst>
              <a:ext uri="{FF2B5EF4-FFF2-40B4-BE49-F238E27FC236}">
                <a16:creationId xmlns:a16="http://schemas.microsoft.com/office/drawing/2014/main" id="{6B95DEAD-4A65-4A3E-97FD-DC8B45EE1D5C}"/>
              </a:ext>
            </a:extLst>
          </p:cNvPr>
          <p:cNvSpPr>
            <a:spLocks noGrp="1"/>
          </p:cNvSpPr>
          <p:nvPr/>
        </p:nvSpPr>
        <p:spPr>
          <a:xfrm>
            <a:off x="685800" y="4857750"/>
            <a:ext cx="10820400" cy="685800"/>
          </a:xfrm>
          <a:prstGeom prst="roundRect">
            <a:avLst>
              <a:gd name="adj" fmla="val 11111"/>
            </a:avLst>
          </a:prstGeom>
          <a:solidFill>
            <a:srgbClr val="F4F7F9"/>
          </a:solidFill>
          <a:ln w="9525">
            <a:solidFill>
              <a:srgbClr val="B9C7D1"/>
            </a:solidFill>
            <a:prstDash val="solid"/>
          </a:ln>
        </p:spPr>
        <p:txBody>
          <a:bodyPr/>
          <a:lstStyle/>
          <a:p>
            <a:endParaRPr lang="en-US"/>
          </a:p>
        </p:txBody>
      </p:sp>
      <p:sp>
        <p:nvSpPr>
          <p:cNvPr id="11" name="rabbit8-prompt-2">
            <a:extLst>
              <a:ext uri="{FF2B5EF4-FFF2-40B4-BE49-F238E27FC236}">
                <a16:creationId xmlns:a16="http://schemas.microsoft.com/office/drawing/2014/main" id="{E831AF99-AB97-49C3-91FD-DF9EDA43D6B8}"/>
              </a:ext>
            </a:extLst>
          </p:cNvPr>
          <p:cNvSpPr>
            <a:spLocks noGrp="1"/>
          </p:cNvSpPr>
          <p:nvPr/>
        </p:nvSpPr>
        <p:spPr>
          <a:xfrm>
            <a:off x="895350" y="4991100"/>
            <a:ext cx="10382250" cy="438150"/>
          </a:xfrm>
          <a:prstGeom prst="rect">
            <a:avLst/>
          </a:prstGeom>
          <a:noFill/>
          <a:ln w="0">
            <a:noFill/>
            <a:prstDash val="solid"/>
          </a:ln>
        </p:spPr>
        <p:txBody>
          <a:bodyPr wrap="square" lIns="57150" tIns="38100" rIns="57150" bIns="38100" anchor="t">
            <a:normAutofit/>
          </a:bodyPr>
          <a:lstStyle/>
          <a:p>
            <a:pPr algn="l">
              <a:defRPr sz="1650" b="0">
                <a:solidFill>
                  <a:srgbClr val="17212B"/>
                </a:solidFill>
                <a:latin typeface="Helvetica Neue"/>
                <a:ea typeface="Helvetica Neue"/>
                <a:cs typeface="Helvetica Neue"/>
              </a:defRPr>
            </a:pPr>
            <a:r>
              <a:rPr sz="1650" b="0">
                <a:solidFill>
                  <a:srgbClr val="17212B"/>
                </a:solidFill>
                <a:latin typeface="Helvetica Neue"/>
                <a:ea typeface="Helvetica Neue"/>
                <a:cs typeface="Helvetica Neue"/>
              </a:rPr>
              <a:t>3. How should prayer, Scripture, wisdom, community, and circumstances shape decisions today?</a:t>
            </a:r>
          </a:p>
        </p:txBody>
      </p:sp>
    </p:spTree>
    <p:extLst>
      <p:ext uri="{BB962C8B-B14F-4D97-AF65-F5344CB8AC3E}">
        <p14:creationId xmlns:p14="http://schemas.microsoft.com/office/powerpoint/2010/main" val="9928369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q8-answer-panel">
            <a:extLst>
              <a:ext uri="{FF2B5EF4-FFF2-40B4-BE49-F238E27FC236}">
                <a16:creationId xmlns:a16="http://schemas.microsoft.com/office/drawing/2014/main" id="{C71EE189-7564-4403-861B-FB0789B4FA01}"/>
              </a:ext>
            </a:extLst>
          </p:cNvPr>
          <p:cNvSpPr>
            <a:spLocks noGrp="1"/>
          </p:cNvSpPr>
          <p:nvPr/>
        </p:nvSpPr>
        <p:spPr>
          <a:xfrm>
            <a:off x="685800" y="2209800"/>
            <a:ext cx="10820400" cy="3333750"/>
          </a:xfrm>
          <a:prstGeom prst="roundRect">
            <a:avLst>
              <a:gd name="adj" fmla="val 2286"/>
            </a:avLst>
          </a:prstGeom>
          <a:solidFill>
            <a:srgbClr val="EAF3F9"/>
          </a:solidFill>
          <a:ln w="9525">
            <a:solidFill>
              <a:srgbClr val="B9C7D1"/>
            </a:solidFill>
            <a:prstDash val="solid"/>
          </a:ln>
        </p:spPr>
        <p:txBody>
          <a:bodyPr/>
          <a:lstStyle/>
          <a:p>
            <a:endParaRPr lang="en-US"/>
          </a:p>
        </p:txBody>
      </p:sp>
      <p:sp>
        <p:nvSpPr>
          <p:cNvPr id="2" name="q8-answer-label">
            <a:extLst>
              <a:ext uri="{FF2B5EF4-FFF2-40B4-BE49-F238E27FC236}">
                <a16:creationId xmlns:a16="http://schemas.microsoft.com/office/drawing/2014/main" id="{758D9506-60C7-4C3E-9622-E99C4C5B1693}"/>
              </a:ext>
            </a:extLst>
          </p:cNvPr>
          <p:cNvSpPr>
            <a:spLocks noGrp="1"/>
          </p:cNvSpPr>
          <p:nvPr/>
        </p:nvSpPr>
        <p:spPr>
          <a:xfrm>
            <a:off x="971550" y="2438400"/>
            <a:ext cx="3429000" cy="381000"/>
          </a:xfrm>
          <a:prstGeom prst="rect">
            <a:avLst/>
          </a:prstGeom>
          <a:noFill/>
          <a:ln w="0">
            <a:noFill/>
            <a:prstDash val="solid"/>
          </a:ln>
        </p:spPr>
        <p:txBody>
          <a:bodyPr wrap="square" lIns="57150" tIns="38100" rIns="57150" bIns="38100" anchor="t">
            <a:normAutofit/>
          </a:bodyPr>
          <a:lstStyle/>
          <a:p>
            <a:pPr algn="l">
              <a:defRPr sz="1650" b="1">
                <a:solidFill>
                  <a:srgbClr val="236AA3"/>
                </a:solidFill>
                <a:latin typeface="Helvetica Neue"/>
                <a:ea typeface="Helvetica Neue"/>
                <a:cs typeface="Helvetica Neue"/>
              </a:defRPr>
            </a:pPr>
            <a:r>
              <a:rPr sz="1650" b="1">
                <a:solidFill>
                  <a:srgbClr val="236AA3"/>
                </a:solidFill>
                <a:latin typeface="Helvetica Neue"/>
                <a:ea typeface="Helvetica Neue"/>
                <a:cs typeface="Helvetica Neue"/>
              </a:rPr>
              <a:t>Suggested response</a:t>
            </a:r>
          </a:p>
        </p:txBody>
      </p:sp>
      <p:sp>
        <p:nvSpPr>
          <p:cNvPr id="3" name="q8-answer-0">
            <a:extLst>
              <a:ext uri="{FF2B5EF4-FFF2-40B4-BE49-F238E27FC236}">
                <a16:creationId xmlns:a16="http://schemas.microsoft.com/office/drawing/2014/main" id="{91B55964-6E97-406A-B0BE-D62E77E626EB}"/>
              </a:ext>
            </a:extLst>
          </p:cNvPr>
          <p:cNvSpPr>
            <a:spLocks noGrp="1"/>
          </p:cNvSpPr>
          <p:nvPr/>
        </p:nvSpPr>
        <p:spPr>
          <a:xfrm>
            <a:off x="1047750" y="3048000"/>
            <a:ext cx="9810750" cy="552450"/>
          </a:xfrm>
          <a:prstGeom prst="rect">
            <a:avLst/>
          </a:prstGeom>
          <a:noFill/>
          <a:ln w="0">
            <a:noFill/>
            <a:prstDash val="solid"/>
          </a:ln>
        </p:spPr>
        <p:txBody>
          <a:bodyPr wrap="square" lIns="57150" tIns="38100" rIns="57150" bIns="38100" anchor="t">
            <a:normAutofit/>
          </a:bodyPr>
          <a:lstStyle/>
          <a:p>
            <a:pPr algn="l">
              <a:defRPr sz="1875" b="0">
                <a:solidFill>
                  <a:srgbClr val="17212B"/>
                </a:solidFill>
                <a:latin typeface="Helvetica Neue"/>
                <a:ea typeface="Helvetica Neue"/>
                <a:cs typeface="Helvetica Neue"/>
              </a:defRPr>
            </a:pPr>
            <a:r>
              <a:rPr sz="1875" b="0">
                <a:solidFill>
                  <a:srgbClr val="17212B"/>
                </a:solidFill>
                <a:latin typeface="Helvetica Neue"/>
                <a:ea typeface="Helvetica Neue"/>
                <a:cs typeface="Helvetica Neue"/>
              </a:rPr>
              <a:t>•  a. Prayer united the believers as they waited</a:t>
            </a:r>
          </a:p>
        </p:txBody>
      </p:sp>
      <p:sp>
        <p:nvSpPr>
          <p:cNvPr id="4" name="q8-answer-1">
            <a:extLst>
              <a:ext uri="{FF2B5EF4-FFF2-40B4-BE49-F238E27FC236}">
                <a16:creationId xmlns:a16="http://schemas.microsoft.com/office/drawing/2014/main" id="{009E3792-55E0-44EA-ABB4-94C36C00A46F}"/>
              </a:ext>
            </a:extLst>
          </p:cNvPr>
          <p:cNvSpPr>
            <a:spLocks noGrp="1"/>
          </p:cNvSpPr>
          <p:nvPr/>
        </p:nvSpPr>
        <p:spPr>
          <a:xfrm>
            <a:off x="1047750" y="3771900"/>
            <a:ext cx="9810750" cy="552450"/>
          </a:xfrm>
          <a:prstGeom prst="rect">
            <a:avLst/>
          </a:prstGeom>
          <a:noFill/>
          <a:ln w="0">
            <a:noFill/>
            <a:prstDash val="solid"/>
          </a:ln>
        </p:spPr>
        <p:txBody>
          <a:bodyPr wrap="square" lIns="57150" tIns="38100" rIns="57150" bIns="38100" anchor="t">
            <a:normAutofit/>
          </a:bodyPr>
          <a:lstStyle/>
          <a:p>
            <a:pPr algn="l">
              <a:defRPr sz="1875" b="0">
                <a:solidFill>
                  <a:srgbClr val="17212B"/>
                </a:solidFill>
                <a:latin typeface="Helvetica Neue"/>
                <a:ea typeface="Helvetica Neue"/>
                <a:cs typeface="Helvetica Neue"/>
              </a:defRPr>
            </a:pPr>
            <a:r>
              <a:rPr sz="1875" b="0">
                <a:solidFill>
                  <a:srgbClr val="17212B"/>
                </a:solidFill>
                <a:latin typeface="Helvetica Neue"/>
                <a:ea typeface="Helvetica Neue"/>
                <a:cs typeface="Helvetica Neue"/>
              </a:rPr>
              <a:t>•  a. Prayer framed their decision about Matthias</a:t>
            </a:r>
          </a:p>
        </p:txBody>
      </p:sp>
      <p:sp>
        <p:nvSpPr>
          <p:cNvPr id="5" name="q8-answer-2">
            <a:extLst>
              <a:ext uri="{FF2B5EF4-FFF2-40B4-BE49-F238E27FC236}">
                <a16:creationId xmlns:a16="http://schemas.microsoft.com/office/drawing/2014/main" id="{8189C256-0E12-4D66-B69E-CAB70EB7DCC9}"/>
              </a:ext>
            </a:extLst>
          </p:cNvPr>
          <p:cNvSpPr>
            <a:spLocks noGrp="1"/>
          </p:cNvSpPr>
          <p:nvPr/>
        </p:nvSpPr>
        <p:spPr>
          <a:xfrm>
            <a:off x="1047750" y="4495800"/>
            <a:ext cx="9810750" cy="552450"/>
          </a:xfrm>
          <a:prstGeom prst="rect">
            <a:avLst/>
          </a:prstGeom>
          <a:noFill/>
          <a:ln w="0">
            <a:noFill/>
            <a:prstDash val="solid"/>
          </a:ln>
        </p:spPr>
        <p:txBody>
          <a:bodyPr wrap="square" lIns="57150" tIns="38100" rIns="57150" bIns="38100" anchor="t">
            <a:normAutofit/>
          </a:bodyPr>
          <a:lstStyle/>
          <a:p>
            <a:pPr algn="l">
              <a:defRPr sz="1875" b="0">
                <a:solidFill>
                  <a:srgbClr val="17212B"/>
                </a:solidFill>
                <a:latin typeface="Helvetica Neue"/>
                <a:ea typeface="Helvetica Neue"/>
                <a:cs typeface="Helvetica Neue"/>
              </a:defRPr>
            </a:pPr>
            <a:r>
              <a:rPr sz="1875" b="0">
                <a:solidFill>
                  <a:srgbClr val="17212B"/>
                </a:solidFill>
                <a:latin typeface="Helvetica Neue"/>
                <a:ea typeface="Helvetica Neue"/>
                <a:cs typeface="Helvetica Neue"/>
              </a:rPr>
              <a:t>•  b. We should seek God together, especially while waiting or deciding</a:t>
            </a:r>
          </a:p>
        </p:txBody>
      </p:sp>
      <p:sp>
        <p:nvSpPr>
          <p:cNvPr id="6" name="eyebrow-21">
            <a:extLst>
              <a:ext uri="{FF2B5EF4-FFF2-40B4-BE49-F238E27FC236}">
                <a16:creationId xmlns:a16="http://schemas.microsoft.com/office/drawing/2014/main" id="{DC16C98D-879E-436C-9FB5-6253EF836DCE}"/>
              </a:ext>
            </a:extLst>
          </p:cNvPr>
          <p:cNvSpPr>
            <a:spLocks noGrp="1"/>
          </p:cNvSpPr>
          <p:nvPr/>
        </p:nvSpPr>
        <p:spPr>
          <a:xfrm>
            <a:off x="552450" y="323850"/>
            <a:ext cx="3238500" cy="285750"/>
          </a:xfrm>
          <a:prstGeom prst="rect">
            <a:avLst/>
          </a:prstGeom>
          <a:noFill/>
          <a:ln w="0">
            <a:noFill/>
            <a:prstDash val="solid"/>
          </a:ln>
        </p:spPr>
        <p:txBody>
          <a:bodyPr wrap="square" lIns="57150" tIns="38100" rIns="57150" bIns="38100" anchor="t">
            <a:normAutofit/>
          </a:bodyPr>
          <a:lstStyle/>
          <a:p>
            <a:pPr algn="l">
              <a:defRPr sz="1125" b="1">
                <a:solidFill>
                  <a:srgbClr val="C99535"/>
                </a:solidFill>
                <a:latin typeface="Helvetica Neue"/>
                <a:ea typeface="Helvetica Neue"/>
                <a:cs typeface="Helvetica Neue"/>
              </a:defRPr>
            </a:pPr>
            <a:r>
              <a:rPr sz="1125" b="1">
                <a:solidFill>
                  <a:srgbClr val="C99535"/>
                </a:solidFill>
                <a:latin typeface="Helvetica Neue"/>
                <a:ea typeface="Helvetica Neue"/>
                <a:cs typeface="Helvetica Neue"/>
              </a:rPr>
              <a:t>QUESTION 8 — SUGGESTED RESPONSE</a:t>
            </a:r>
          </a:p>
        </p:txBody>
      </p:sp>
      <p:sp>
        <p:nvSpPr>
          <p:cNvPr id="7" name="title-21">
            <a:extLst>
              <a:ext uri="{FF2B5EF4-FFF2-40B4-BE49-F238E27FC236}">
                <a16:creationId xmlns:a16="http://schemas.microsoft.com/office/drawing/2014/main" id="{1683F637-8E42-4515-9090-DCF6CE3EE7D5}"/>
              </a:ext>
            </a:extLst>
          </p:cNvPr>
          <p:cNvSpPr>
            <a:spLocks noGrp="1"/>
          </p:cNvSpPr>
          <p:nvPr/>
        </p:nvSpPr>
        <p:spPr>
          <a:xfrm>
            <a:off x="552450" y="704850"/>
            <a:ext cx="10810875" cy="914400"/>
          </a:xfrm>
          <a:prstGeom prst="rect">
            <a:avLst/>
          </a:prstGeom>
          <a:noFill/>
          <a:ln w="0">
            <a:noFill/>
            <a:prstDash val="solid"/>
          </a:ln>
        </p:spPr>
        <p:txBody>
          <a:bodyPr wrap="square" lIns="57150" tIns="38100" rIns="57150" bIns="38100" anchor="t">
            <a:normAutofit fontScale="86531"/>
          </a:bodyPr>
          <a:lstStyle/>
          <a:p>
            <a:pPr algn="l">
              <a:defRPr sz="3000" b="1">
                <a:solidFill>
                  <a:srgbClr val="17212B"/>
                </a:solidFill>
                <a:latin typeface="Helvetica Neue"/>
                <a:ea typeface="Helvetica Neue"/>
                <a:cs typeface="Helvetica Neue"/>
              </a:defRPr>
            </a:pPr>
            <a:r>
              <a:rPr sz="3000" b="1">
                <a:solidFill>
                  <a:srgbClr val="17212B"/>
                </a:solidFill>
                <a:latin typeface="Helvetica Neue"/>
                <a:ea typeface="Helvetica Neue"/>
                <a:cs typeface="Helvetica Neue"/>
              </a:rPr>
              <a:t>a. What role did prayer have between the Ascension and Pentecost?</a:t>
            </a:r>
          </a:p>
          <a:p>
            <a:pPr algn="l">
              <a:defRPr sz="3000" b="1">
                <a:solidFill>
                  <a:srgbClr val="17212B"/>
                </a:solidFill>
                <a:latin typeface="Helvetica Neue"/>
                <a:ea typeface="Helvetica Neue"/>
                <a:cs typeface="Helvetica Neue"/>
              </a:defRPr>
            </a:pPr>
            <a:r>
              <a:rPr sz="3000" b="1">
                <a:solidFill>
                  <a:srgbClr val="17212B"/>
                </a:solidFill>
                <a:latin typeface="Helvetica Neue"/>
                <a:ea typeface="Helvetica Neue"/>
                <a:cs typeface="Helvetica Neue"/>
              </a:rPr>
              <a:t>b. How is this a model for us?</a:t>
            </a:r>
          </a:p>
        </p:txBody>
      </p:sp>
      <p:sp>
        <p:nvSpPr>
          <p:cNvPr id="8" name="rule-21">
            <a:extLst>
              <a:ext uri="{FF2B5EF4-FFF2-40B4-BE49-F238E27FC236}">
                <a16:creationId xmlns:a16="http://schemas.microsoft.com/office/drawing/2014/main" id="{468B792C-37FB-4BFA-8498-8DAE80061A4E}"/>
              </a:ext>
            </a:extLst>
          </p:cNvPr>
          <p:cNvSpPr>
            <a:spLocks noGrp="1"/>
          </p:cNvSpPr>
          <p:nvPr/>
        </p:nvSpPr>
        <p:spPr>
          <a:xfrm>
            <a:off x="552450" y="1657350"/>
            <a:ext cx="10810875" cy="28575"/>
          </a:xfrm>
          <a:prstGeom prst="rect">
            <a:avLst/>
          </a:prstGeom>
          <a:solidFill>
            <a:srgbClr val="C99535"/>
          </a:solidFill>
          <a:ln w="0">
            <a:noFill/>
            <a:prstDash val="solid"/>
          </a:ln>
        </p:spPr>
        <p:txBody>
          <a:bodyPr/>
          <a:lstStyle/>
          <a:p>
            <a:endParaRPr lang="en-US"/>
          </a:p>
        </p:txBody>
      </p:sp>
      <p:sp>
        <p:nvSpPr>
          <p:cNvPr id="9" name="number-21">
            <a:extLst>
              <a:ext uri="{FF2B5EF4-FFF2-40B4-BE49-F238E27FC236}">
                <a16:creationId xmlns:a16="http://schemas.microsoft.com/office/drawing/2014/main" id="{ACB63FFF-972D-4948-9B27-062B4E8D6DE0}"/>
              </a:ext>
            </a:extLst>
          </p:cNvPr>
          <p:cNvSpPr>
            <a:spLocks noGrp="1"/>
          </p:cNvSpPr>
          <p:nvPr/>
        </p:nvSpPr>
        <p:spPr>
          <a:xfrm>
            <a:off x="10858500" y="6305550"/>
            <a:ext cx="514350" cy="247650"/>
          </a:xfrm>
          <a:prstGeom prst="rect">
            <a:avLst/>
          </a:prstGeom>
          <a:noFill/>
          <a:ln w="0">
            <a:noFill/>
            <a:prstDash val="solid"/>
          </a:ln>
        </p:spPr>
        <p:txBody>
          <a:bodyPr wrap="square" lIns="57150" tIns="38100" rIns="57150" bIns="38100" anchor="t">
            <a:normAutofit/>
          </a:bodyPr>
          <a:lstStyle/>
          <a:p>
            <a:pPr algn="r">
              <a:defRPr sz="1050" b="0">
                <a:solidFill>
                  <a:srgbClr val="536170"/>
                </a:solidFill>
                <a:latin typeface="Helvetica Neue"/>
                <a:ea typeface="Helvetica Neue"/>
                <a:cs typeface="Helvetica Neue"/>
              </a:defRPr>
            </a:pPr>
            <a:r>
              <a:rPr sz="1050" b="0">
                <a:solidFill>
                  <a:srgbClr val="536170"/>
                </a:solidFill>
                <a:latin typeface="Helvetica Neue"/>
                <a:ea typeface="Helvetica Neue"/>
                <a:cs typeface="Helvetica Neue"/>
              </a:rPr>
              <a:t>21</a:t>
            </a:r>
          </a:p>
        </p:txBody>
      </p:sp>
    </p:spTree>
    <p:extLst>
      <p:ext uri="{BB962C8B-B14F-4D97-AF65-F5344CB8AC3E}">
        <p14:creationId xmlns:p14="http://schemas.microsoft.com/office/powerpoint/2010/main" val="253974392"/>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2693</Words>
  <Application>Microsoft Macintosh PowerPoint</Application>
  <DocSecurity>0</DocSecurity>
  <PresentationFormat>Widescreen</PresentationFormat>
  <Paragraphs>250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Calibri</vt:lpstr>
      <vt:lpstr>Helvetica Neue</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Flynt Moreland</cp:lastModifiedBy>
  <cp:revision>1</cp:revision>
  <dcterms:created xsi:type="dcterms:W3CDTF">2026-08-21T18:50:50Z</dcterms:created>
  <dcterms:modified xsi:type="dcterms:W3CDTF">2026-08-21T22:22:14Z</dcterms:modified>
</cp:coreProperties>
</file>