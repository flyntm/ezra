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3973"/>
  </p:normalViewPr>
  <p:slideViewPr>
    <p:cSldViewPr snapToGrid="0">
      <p:cViewPr varScale="1">
        <p:scale>
          <a:sx n="106" d="100"/>
          <a:sy n="106" d="100"/>
        </p:scale>
        <p:origin x="133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Welcome to Lesson One, an overview of the book of Acts. Acts tells how the risen Jesus continues His work through the Holy Spirit and through His witnesses. The mission begins in Jerusalem, moves through Judea and Samaria, and keeps expanding toward the ends of the earth. As we study, watch for witness, Spirit-given power, the inclusion of Gentiles, perseverance through opposition, and God’s sovereign direction of the mission.</a:t>
            </a:r>
            <a:r>
              <a:rPr lang="en-US" dirty="0"/>
              <a:t> [Next Slide]</a:t>
            </a:r>
            <a:endParaRPr dirty="0"/>
          </a:p>
          <a:p>
            <a:endParaRPr dirty="0"/>
          </a:p>
          <a:p>
            <a:r>
              <a:rPr dirty="0"/>
              <a:t>[Sources]</a:t>
            </a:r>
          </a:p>
          <a:p>
            <a:r>
              <a:rPr dirty="0"/>
              <a:t>- User-provided Lesson One screenshots and the Scripture passages displayed on the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story of Acts covers roughly three decades, from the resurrection and Pentecost around 30 </a:t>
            </a:r>
            <a:r>
              <a:rPr lang="en-US" dirty="0"/>
              <a:t>A.D.  </a:t>
            </a:r>
            <a:r>
              <a:rPr dirty="0"/>
              <a:t>to Paul’s house arrest in Rome around 62</a:t>
            </a:r>
            <a:r>
              <a:rPr lang="en-US" dirty="0"/>
              <a:t> A.D. </a:t>
            </a:r>
            <a:r>
              <a:rPr dirty="0"/>
              <a:t> Acts moves quickly across these years. Stephen’s martyrdom and Paul’s conversion come early. Paul’s later journeys include church planting, opposition, imprisonment, and major decisions such as the Council of Jerusalem. The dates are approximate, but the timeline helps us appreciate the scale and persistence of the gospel’s expansion.</a:t>
            </a:r>
          </a:p>
          <a:p>
            <a:endParaRPr dirty="0"/>
          </a:p>
          <a:p>
            <a:r>
              <a:rPr dirty="0"/>
              <a:t>[Sources]</a:t>
            </a:r>
          </a:p>
          <a:p>
            <a:r>
              <a:rPr dirty="0"/>
              <a:t>- User-provided Timeline of Acts screenshot; F. F. Bruce, Paul: Apostle of the Heart Set Free, p. 475, as cited in the screenshot.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one asks us to examine Luke’s own introduction to Luke-Acts. Luke explains that he investigated the events carefully, drew on testimony handed down by eyewitnesses, and arranged an orderly account for Theophilus. As you consider the question, focus on the kind of work Luke says he is writing and on the confidence he wants his reader to have.</a:t>
            </a:r>
          </a:p>
          <a:p>
            <a:endParaRPr/>
          </a:p>
          <a:p>
            <a:r>
              <a:t>[Sources]</a:t>
            </a:r>
          </a:p>
          <a:p>
            <a:r>
              <a:t>- User-provided Lesson One screenshots and the Scripture passages displayed on the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Luke</a:t>
            </a:r>
            <a:r>
              <a:rPr lang="en-US" dirty="0"/>
              <a:t> - </a:t>
            </a:r>
            <a:r>
              <a:rPr dirty="0"/>
              <a:t>Acts is meant to be a carefully investigated and orderly account. Luke does not simply collect disconnected stories. He organizes reliable testimony so that Theophilus can know the certainty of what he has been taught. This purpose helps us read Luke and Acts together as a grounded two-volume account of Jesus’ ministry and the continuing mission that follows His resurrection and ascension.</a:t>
            </a:r>
          </a:p>
          <a:p>
            <a:endParaRPr dirty="0"/>
          </a:p>
          <a:p>
            <a:r>
              <a:rPr dirty="0"/>
              <a:t>[Sources]</a:t>
            </a:r>
          </a:p>
          <a:p>
            <a:r>
              <a:rPr dirty="0"/>
              <a:t>- User-provided Lesson One screenshots and the Scripture passages displayed on the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Question two draws attention to one important word: </a:t>
            </a:r>
            <a:r>
              <a:rPr lang="en-US" dirty="0"/>
              <a:t>[</a:t>
            </a:r>
            <a:r>
              <a:rPr lang="en-US" dirty="0" err="1"/>
              <a:t>Emph</a:t>
            </a:r>
            <a:r>
              <a:rPr lang="en-US" dirty="0"/>
              <a:t>]</a:t>
            </a:r>
            <a:r>
              <a:rPr dirty="0"/>
              <a:t>began</a:t>
            </a:r>
            <a:r>
              <a:rPr lang="en-US" dirty="0"/>
              <a:t>[/</a:t>
            </a:r>
            <a:r>
              <a:rPr lang="en-US" dirty="0" err="1"/>
              <a:t>Emph</a:t>
            </a:r>
            <a:r>
              <a:rPr lang="en-US" dirty="0"/>
              <a:t>]</a:t>
            </a:r>
            <a:r>
              <a:rPr dirty="0"/>
              <a:t>. Luke says his Gospel described what Jesus began to do and teach before His ascension. That wording invites us to ask what continues in Acts. The ascension does not mean that Jesus has stopped working. Consider how His ministry might continue when He is no longer physically traveling with the disciples.</a:t>
            </a:r>
            <a:r>
              <a:rPr lang="en-US" dirty="0"/>
              <a:t> Please discuss this.</a:t>
            </a:r>
            <a:endParaRPr dirty="0"/>
          </a:p>
          <a:p>
            <a:endParaRPr dirty="0"/>
          </a:p>
          <a:p>
            <a:r>
              <a:rPr dirty="0"/>
              <a:t>[Sources]</a:t>
            </a:r>
          </a:p>
          <a:p>
            <a:r>
              <a:rPr dirty="0"/>
              <a:t>- User-provided Lesson One screenshots and the Scripture passages displayed on the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Acts describes what the risen Jesus continues to do and teach through His people. The kingdom message moves forward, and the Holy Spirit gives ordinary believers power to witness in Jesus’ name. Peter, Stephen, Philip, Paul, and many others appear in the story, but the mission still belongs to Christ. Acts is therefore the continuing work of Jesus through the Spirit-empowered church.</a:t>
            </a:r>
          </a:p>
          <a:p>
            <a:endParaRPr/>
          </a:p>
          <a:p>
            <a:r>
              <a:t>[Sources]</a:t>
            </a:r>
          </a:p>
          <a:p>
            <a:r>
              <a:t>- User-provided Lesson One screenshots and the Scripture passages displayed on the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Question three directs us to Acts chapter one, verse eight. Jesus promises that the disciples will receive power when the Holy Spirit comes upon them, and that they will be His witnesses in Jerusalem, throughout Judea and Samaria, and to the ends of the earth. Consider how this promise explains both the purpose and the broad movement of the book.</a:t>
            </a:r>
          </a:p>
          <a:p>
            <a:endParaRPr dirty="0"/>
          </a:p>
          <a:p>
            <a:r>
              <a:rPr dirty="0"/>
              <a:t>[Sources]</a:t>
            </a:r>
          </a:p>
          <a:p>
            <a:r>
              <a:rPr dirty="0"/>
              <a:t>- User-provided Lesson One screenshots and the Scripture passages displayed on the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dirty="0"/>
              <a:t> verse provides a framework for the story. The witness begins in Jerusalem, crosses into Judea and Samaria, and then advances among the nations. The Holy Spirit supplies the power, and testimony about Jesus is the purpose. The sections overlap, but the general movement is clear: God propels the gospel from a local beginning toward a worldwide horizon.</a:t>
            </a:r>
          </a:p>
          <a:p>
            <a:endParaRPr dirty="0"/>
          </a:p>
          <a:p>
            <a:r>
              <a:rPr dirty="0"/>
              <a:t>[Sources]</a:t>
            </a:r>
          </a:p>
          <a:p>
            <a:r>
              <a:rPr dirty="0"/>
              <a:t>- User-provided Lesson One screenshots and the Scripture passages displayed on the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Question four asks us to compare a series of progress reports placed throughout Acts. Some verses describe increasing numbers of believers. Others say that the word of God grew, churches were strengthened, or the message continued unhindered. As you compare them, notice both what remains consistent and how the story progresses from Jerusalem toward Rome.</a:t>
            </a:r>
            <a:r>
              <a:rPr lang="en-US" dirty="0"/>
              <a:t> [Next Slide]</a:t>
            </a:r>
          </a:p>
          <a:p>
            <a:endParaRPr dirty="0"/>
          </a:p>
          <a:p>
            <a:endParaRPr dirty="0"/>
          </a:p>
          <a:p>
            <a:r>
              <a:rPr dirty="0"/>
              <a:t>[Sources]</a:t>
            </a:r>
          </a:p>
          <a:p>
            <a:r>
              <a:rPr dirty="0"/>
              <a:t>- User-provided Lesson One screenshots and the Scripture passages displayed on the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been told how this group likes [</a:t>
            </a:r>
            <a:r>
              <a:rPr lang="en-US" dirty="0" err="1"/>
              <a:t>Emph</a:t>
            </a:r>
            <a:r>
              <a:rPr lang="en-US" dirty="0"/>
              <a:t>] rabbit holes [/</a:t>
            </a:r>
            <a:r>
              <a:rPr lang="en-US" dirty="0" err="1"/>
              <a:t>Emph</a:t>
            </a:r>
            <a:r>
              <a:rPr lang="en-US" dirty="0"/>
              <a:t>]. </a:t>
            </a:r>
            <a:r>
              <a:rPr dirty="0"/>
              <a:t>Question four opens a useful rabbit hole: how should a church measure progress? Churches often count attendance, baptisms, giving, programs, or influence. Acts does mention increasing numbers, but it also emphasizes the growth of God’s word, strengthened disciples, bold witness, and perseverance through suffering. Visible growth may be genuine fruit, but numbers alone do not prove faithfulness. How should we </a:t>
            </a:r>
            <a:r>
              <a:rPr lang="en-US"/>
              <a:t>measure progress?</a:t>
            </a:r>
            <a:endParaRPr dirty="0"/>
          </a:p>
          <a:p>
            <a:endParaRPr dirty="0"/>
          </a:p>
          <a:p>
            <a:r>
              <a:rPr dirty="0"/>
              <a:t>[Sources]</a:t>
            </a:r>
          </a:p>
          <a:p>
            <a:r>
              <a:rPr dirty="0"/>
              <a:t>- Acts progress reports listed in Question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reports share a common pattern: God’s word keeps advancing and the community of believers keeps growing. The movement is numerical, spiritual, and geographical. A small group in Jerusalem becomes a multiplying church whose witness reaches Rome. Conflict, persecution, and internal challenges are real, but they do not finally stop God’s purpose. Luke measures progress by the spread of the word rather than by comfort or ease.</a:t>
            </a:r>
          </a:p>
          <a:p>
            <a:endParaRPr/>
          </a:p>
          <a:p>
            <a:r>
              <a:t>[Sources]</a:t>
            </a:r>
          </a:p>
          <a:p>
            <a:r>
              <a:t>- User-provided Lesson One screenshots and the Scripture passages displayed on the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six asks who dominates the whole story. The wording refers to the Holy Spirit. The listed passages show the Spirit empowering speech, directing travel, strengthening the church, guiding decisions, and sometimes preventing one route so that another opens. Consider not only who the dominant character is, but also the range of effects the Spirit produces throughout Acts.</a:t>
            </a:r>
          </a:p>
          <a:p>
            <a:endParaRPr/>
          </a:p>
          <a:p>
            <a:r>
              <a:t>[Sources]</a:t>
            </a:r>
          </a:p>
          <a:p>
            <a:r>
              <a:t>- User-provided Lesson One screenshots and the Scripture passages displayed on the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Holy Spirit drives the story. The Spirit gives power for bold, Christ-centered witness; directs workers and their plans; strengthens believers; and confirms that Gentiles receive the same gift and belong to God’s people. The church does not advance merely because its leaders are talented or determined. It advances because the Spirit is present, active, and sovereign.</a:t>
            </a:r>
          </a:p>
          <a:p>
            <a:endParaRPr/>
          </a:p>
          <a:p>
            <a:r>
              <a:t>[Sources]</a:t>
            </a:r>
          </a:p>
          <a:p>
            <a:r>
              <a:t>- User-provided Lesson One screenshots and the Scripture passages displayed on the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seven asks us to gather our observations into the central themes, messages, and purposes of Acts. Think beyond individual episodes. What ideas keep returning, and how do they fit together? Consider the mission of witness, the expansion of the gospel, the work of the Holy Spirit, the inclusion of Gentiles, opposition, perseverance, and God’s control of the unfolding story.</a:t>
            </a:r>
          </a:p>
          <a:p>
            <a:endParaRPr/>
          </a:p>
          <a:p>
            <a:r>
              <a:t>[Sources]</a:t>
            </a:r>
          </a:p>
          <a:p>
            <a:r>
              <a:t>- User-provided Lesson One screenshots and the Scripture passages displayed on the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themes of Acts form one connected picture. The Holy Spirit empowers witness. Witness carries the gospel across geographical and cultural boundaries. Gentiles are welcomed into God’s people. Expansion brings opposition, but believers persevere because God’s mission is sovereign. Acts shows God forming a witnessing community that speaks about Jesus, crosses boundaries, and continues faithfully through resistance.</a:t>
            </a:r>
          </a:p>
          <a:p>
            <a:endParaRPr/>
          </a:p>
          <a:p>
            <a:r>
              <a:t>[Sources]</a:t>
            </a:r>
          </a:p>
          <a:p>
            <a:r>
              <a:t>- User-provided Lesson One screenshots and the Scripture passages displayed on the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eight moves from observation to relevance. Acts describes the church’s first thirty years, but it also helps the church today understand its identity and calling. Consider why this history matters now. What can it teach us about mission, dependence on the Holy Spirit, courage, prayer, cultural boundaries, opposition, and confidence in God’s purpose?</a:t>
            </a:r>
          </a:p>
          <a:p>
            <a:endParaRPr/>
          </a:p>
          <a:p>
            <a:r>
              <a:t>[Sources]</a:t>
            </a:r>
          </a:p>
          <a:p>
            <a:r>
              <a:t>- User-provided Lesson One screenshots and the Scripture passages displayed on the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Acts matters because today’s church belongs to the same continuing mission of the risen Jesus. We still depend on the Holy Spirit for courage, direction, wisdom, and endurance. We are still called to bear witness and cross boundaries with the gospel. The setting has changed, but Acts helps us understand who the church is, why we witness, and whose power sustains the mission.</a:t>
            </a:r>
          </a:p>
          <a:p>
            <a:endParaRPr/>
          </a:p>
          <a:p>
            <a:r>
              <a:t>[Sources]</a:t>
            </a:r>
          </a:p>
          <a:p>
            <a:r>
              <a:t>- User-provided Lesson One screenshots and the Scripture passages displayed on the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8" name="top-rule">
            <a:extLst>
              <a:ext uri="{FF2B5EF4-FFF2-40B4-BE49-F238E27FC236}">
                <a16:creationId xmlns:a16="http://schemas.microsoft.com/office/drawing/2014/main" id="{48355F2B-AC58-4683-8B58-C364913FA7ED}"/>
              </a:ext>
            </a:extLst>
          </p:cNvPr>
          <p:cNvSpPr>
            <a:spLocks noGrp="1"/>
          </p:cNvSpPr>
          <p:nvPr/>
        </p:nvSpPr>
        <p:spPr>
          <a:xfrm>
            <a:off x="0" y="0"/>
            <a:ext cx="12192000" cy="114300"/>
          </a:xfrm>
          <a:prstGeom prst="rect">
            <a:avLst/>
          </a:prstGeom>
          <a:solidFill>
            <a:srgbClr val="C59A3D"/>
          </a:solidFill>
          <a:ln w="0">
            <a:noFill/>
            <a:prstDash val="solid"/>
          </a:ln>
        </p:spPr>
        <p:txBody>
          <a:bodyPr/>
          <a:lstStyle/>
          <a:p>
            <a:endParaRPr lang="en-US"/>
          </a:p>
        </p:txBody>
      </p:sp>
      <p:sp>
        <p:nvSpPr>
          <p:cNvPr id="2" name="section">
            <a:extLst>
              <a:ext uri="{FF2B5EF4-FFF2-40B4-BE49-F238E27FC236}">
                <a16:creationId xmlns:a16="http://schemas.microsoft.com/office/drawing/2014/main" id="{22A83624-E2E1-4C0E-8E37-C5FFC14C8842}"/>
              </a:ext>
            </a:extLst>
          </p:cNvPr>
          <p:cNvSpPr>
            <a:spLocks noGrp="1"/>
          </p:cNvSpPr>
          <p:nvPr/>
        </p:nvSpPr>
        <p:spPr>
          <a:xfrm>
            <a:off x="685800" y="266700"/>
            <a:ext cx="5715000" cy="28575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LESSON ONE</a:t>
            </a:r>
          </a:p>
        </p:txBody>
      </p:sp>
      <p:sp>
        <p:nvSpPr>
          <p:cNvPr id="3" name="slide-number">
            <a:extLst>
              <a:ext uri="{FF2B5EF4-FFF2-40B4-BE49-F238E27FC236}">
                <a16:creationId xmlns:a16="http://schemas.microsoft.com/office/drawing/2014/main" id="{B8445016-F5EA-40FD-BCFD-B85ED121888F}"/>
              </a:ext>
            </a:extLst>
          </p:cNvPr>
          <p:cNvSpPr>
            <a:spLocks noGrp="1"/>
          </p:cNvSpPr>
          <p:nvPr/>
        </p:nvSpPr>
        <p:spPr>
          <a:xfrm>
            <a:off x="11096625" y="266700"/>
            <a:ext cx="419100" cy="285750"/>
          </a:xfrm>
          <a:prstGeom prst="rect">
            <a:avLst/>
          </a:prstGeom>
          <a:noFill/>
          <a:ln w="0">
            <a:noFill/>
            <a:prstDash val="solid"/>
          </a:ln>
        </p:spPr>
        <p:txBody>
          <a:bodyPr anchor="ctr"/>
          <a:lstStyle/>
          <a:p>
            <a:pPr algn="r">
              <a:defRPr sz="1200" b="1">
                <a:solidFill>
                  <a:srgbClr val="61717A"/>
                </a:solidFill>
              </a:defRPr>
            </a:pPr>
            <a:r>
              <a:rPr sz="1200" b="1">
                <a:solidFill>
                  <a:srgbClr val="61717A"/>
                </a:solidFill>
              </a:rPr>
              <a:t>01</a:t>
            </a:r>
          </a:p>
        </p:txBody>
      </p:sp>
      <p:sp>
        <p:nvSpPr>
          <p:cNvPr id="4" name="deck-title">
            <a:extLst>
              <a:ext uri="{FF2B5EF4-FFF2-40B4-BE49-F238E27FC236}">
                <a16:creationId xmlns:a16="http://schemas.microsoft.com/office/drawing/2014/main" id="{6DB592F8-54E6-4A44-A650-6AE6A93E0E8A}"/>
              </a:ext>
            </a:extLst>
          </p:cNvPr>
          <p:cNvSpPr>
            <a:spLocks noGrp="1"/>
          </p:cNvSpPr>
          <p:nvPr/>
        </p:nvSpPr>
        <p:spPr>
          <a:xfrm>
            <a:off x="685800" y="876300"/>
            <a:ext cx="8763000" cy="704850"/>
          </a:xfrm>
          <a:prstGeom prst="rect">
            <a:avLst/>
          </a:prstGeom>
          <a:noFill/>
          <a:ln w="0">
            <a:noFill/>
            <a:prstDash val="solid"/>
          </a:ln>
        </p:spPr>
        <p:txBody>
          <a:bodyPr anchor="ctr"/>
          <a:lstStyle/>
          <a:p>
            <a:pPr algn="l">
              <a:defRPr sz="3900" b="1">
                <a:solidFill>
                  <a:srgbClr val="142B3B"/>
                </a:solidFill>
              </a:defRPr>
            </a:pPr>
            <a:r>
              <a:rPr sz="3900" b="1">
                <a:solidFill>
                  <a:srgbClr val="142B3B"/>
                </a:solidFill>
              </a:rPr>
              <a:t>Overview — What Is Acts?</a:t>
            </a:r>
          </a:p>
        </p:txBody>
      </p:sp>
      <p:sp>
        <p:nvSpPr>
          <p:cNvPr id="5" name="subtitle">
            <a:extLst>
              <a:ext uri="{FF2B5EF4-FFF2-40B4-BE49-F238E27FC236}">
                <a16:creationId xmlns:a16="http://schemas.microsoft.com/office/drawing/2014/main" id="{D56BD63E-06E1-409D-A7C7-FBD84154B8F9}"/>
              </a:ext>
            </a:extLst>
          </p:cNvPr>
          <p:cNvSpPr>
            <a:spLocks noGrp="1"/>
          </p:cNvSpPr>
          <p:nvPr/>
        </p:nvSpPr>
        <p:spPr>
          <a:xfrm>
            <a:off x="685800" y="1619250"/>
            <a:ext cx="9525000" cy="514350"/>
          </a:xfrm>
          <a:prstGeom prst="rect">
            <a:avLst/>
          </a:prstGeom>
          <a:noFill/>
          <a:ln w="0">
            <a:noFill/>
            <a:prstDash val="solid"/>
          </a:ln>
        </p:spPr>
        <p:txBody>
          <a:bodyPr anchor="ctr"/>
          <a:lstStyle/>
          <a:p>
            <a:pPr algn="l">
              <a:defRPr sz="1875" b="0">
                <a:solidFill>
                  <a:srgbClr val="61717A"/>
                </a:solidFill>
              </a:defRPr>
            </a:pPr>
            <a:r>
              <a:rPr sz="1875" b="0">
                <a:solidFill>
                  <a:srgbClr val="61717A"/>
                </a:solidFill>
              </a:rPr>
              <a:t>Jesus continues His work through the Holy Spirit and His witnesses.</a:t>
            </a:r>
          </a:p>
        </p:txBody>
      </p:sp>
      <p:sp>
        <p:nvSpPr>
          <p:cNvPr id="6" name="mission-arrow">
            <a:extLst>
              <a:ext uri="{FF2B5EF4-FFF2-40B4-BE49-F238E27FC236}">
                <a16:creationId xmlns:a16="http://schemas.microsoft.com/office/drawing/2014/main" id="{C4540B64-5068-43AE-A9CB-4567FBA1449E}"/>
              </a:ext>
            </a:extLst>
          </p:cNvPr>
          <p:cNvSpPr>
            <a:spLocks noGrp="1"/>
          </p:cNvSpPr>
          <p:nvPr/>
        </p:nvSpPr>
        <p:spPr>
          <a:xfrm>
            <a:off x="1047750" y="2781300"/>
            <a:ext cx="10096500" cy="904875"/>
          </a:xfrm>
          <a:prstGeom prst="rightArrow">
            <a:avLst/>
          </a:prstGeom>
          <a:solidFill>
            <a:srgbClr val="E8E3D7"/>
          </a:solidFill>
          <a:ln w="0">
            <a:solidFill>
              <a:srgbClr val="E8E3D7"/>
            </a:solidFill>
            <a:prstDash val="solid"/>
          </a:ln>
        </p:spPr>
        <p:txBody>
          <a:bodyPr/>
          <a:lstStyle/>
          <a:p>
            <a:endParaRPr lang="en-US"/>
          </a:p>
        </p:txBody>
      </p:sp>
      <p:sp>
        <p:nvSpPr>
          <p:cNvPr id="7" name="stop-0">
            <a:extLst>
              <a:ext uri="{FF2B5EF4-FFF2-40B4-BE49-F238E27FC236}">
                <a16:creationId xmlns:a16="http://schemas.microsoft.com/office/drawing/2014/main" id="{C4E5BD5F-B0F9-4933-AC60-370217833C84}"/>
              </a:ext>
            </a:extLst>
          </p:cNvPr>
          <p:cNvSpPr>
            <a:spLocks noGrp="1"/>
          </p:cNvSpPr>
          <p:nvPr/>
        </p:nvSpPr>
        <p:spPr>
          <a:xfrm>
            <a:off x="1333500" y="2571750"/>
            <a:ext cx="2381250" cy="1314450"/>
          </a:xfrm>
          <a:prstGeom prst="roundRect">
            <a:avLst>
              <a:gd name="adj" fmla="val 8696"/>
            </a:avLst>
          </a:prstGeom>
          <a:solidFill>
            <a:srgbClr val="FFFDF8"/>
          </a:solidFill>
          <a:ln w="9525">
            <a:solidFill>
              <a:srgbClr val="E8E3D7"/>
            </a:solidFill>
            <a:prstDash val="solid"/>
          </a:ln>
        </p:spPr>
        <p:txBody>
          <a:bodyPr/>
          <a:lstStyle/>
          <a:p>
            <a:endParaRPr lang="en-US"/>
          </a:p>
        </p:txBody>
      </p:sp>
      <p:sp>
        <p:nvSpPr>
          <p:cNvPr id="8" name="stop-title-0">
            <a:extLst>
              <a:ext uri="{FF2B5EF4-FFF2-40B4-BE49-F238E27FC236}">
                <a16:creationId xmlns:a16="http://schemas.microsoft.com/office/drawing/2014/main" id="{355535DE-184A-4A69-BC48-75F0CE313C78}"/>
              </a:ext>
            </a:extLst>
          </p:cNvPr>
          <p:cNvSpPr>
            <a:spLocks noGrp="1"/>
          </p:cNvSpPr>
          <p:nvPr/>
        </p:nvSpPr>
        <p:spPr>
          <a:xfrm>
            <a:off x="1524000" y="2781300"/>
            <a:ext cx="2000250" cy="323850"/>
          </a:xfrm>
          <a:prstGeom prst="rect">
            <a:avLst/>
          </a:prstGeom>
          <a:noFill/>
          <a:ln w="0">
            <a:noFill/>
            <a:prstDash val="solid"/>
          </a:ln>
        </p:spPr>
        <p:txBody>
          <a:bodyPr anchor="ctr"/>
          <a:lstStyle/>
          <a:p>
            <a:pPr algn="ctr">
              <a:defRPr sz="1425" b="1">
                <a:solidFill>
                  <a:srgbClr val="A34D36"/>
                </a:solidFill>
              </a:defRPr>
            </a:pPr>
            <a:r>
              <a:rPr sz="1425" b="1">
                <a:solidFill>
                  <a:srgbClr val="A34D36"/>
                </a:solidFill>
              </a:rPr>
              <a:t>JERUSALEM</a:t>
            </a:r>
          </a:p>
        </p:txBody>
      </p:sp>
      <p:sp>
        <p:nvSpPr>
          <p:cNvPr id="9" name="stop-sub-0">
            <a:extLst>
              <a:ext uri="{FF2B5EF4-FFF2-40B4-BE49-F238E27FC236}">
                <a16:creationId xmlns:a16="http://schemas.microsoft.com/office/drawing/2014/main" id="{4C52E7E9-2AF8-4A55-8E2A-E07C3D0A5A77}"/>
              </a:ext>
            </a:extLst>
          </p:cNvPr>
          <p:cNvSpPr>
            <a:spLocks noGrp="1"/>
          </p:cNvSpPr>
          <p:nvPr/>
        </p:nvSpPr>
        <p:spPr>
          <a:xfrm>
            <a:off x="1524000" y="3190875"/>
            <a:ext cx="2000250" cy="400050"/>
          </a:xfrm>
          <a:prstGeom prst="rect">
            <a:avLst/>
          </a:prstGeom>
          <a:noFill/>
          <a:ln w="0">
            <a:noFill/>
            <a:prstDash val="solid"/>
          </a:ln>
        </p:spPr>
        <p:txBody>
          <a:bodyPr anchor="ctr"/>
          <a:lstStyle/>
          <a:p>
            <a:pPr algn="ctr">
              <a:defRPr sz="1350" b="0">
                <a:solidFill>
                  <a:srgbClr val="23323B"/>
                </a:solidFill>
              </a:defRPr>
            </a:pPr>
            <a:r>
              <a:rPr sz="1350" b="0">
                <a:solidFill>
                  <a:srgbClr val="23323B"/>
                </a:solidFill>
              </a:rPr>
              <a:t>church begins</a:t>
            </a:r>
          </a:p>
        </p:txBody>
      </p:sp>
      <p:sp>
        <p:nvSpPr>
          <p:cNvPr id="10" name="stop-1">
            <a:extLst>
              <a:ext uri="{FF2B5EF4-FFF2-40B4-BE49-F238E27FC236}">
                <a16:creationId xmlns:a16="http://schemas.microsoft.com/office/drawing/2014/main" id="{02C1569F-8DC7-4C9A-AD02-BA91094499BA}"/>
              </a:ext>
            </a:extLst>
          </p:cNvPr>
          <p:cNvSpPr>
            <a:spLocks noGrp="1"/>
          </p:cNvSpPr>
          <p:nvPr/>
        </p:nvSpPr>
        <p:spPr>
          <a:xfrm>
            <a:off x="4686300" y="2571750"/>
            <a:ext cx="2571750" cy="1314450"/>
          </a:xfrm>
          <a:prstGeom prst="roundRect">
            <a:avLst>
              <a:gd name="adj" fmla="val 8696"/>
            </a:avLst>
          </a:prstGeom>
          <a:solidFill>
            <a:srgbClr val="FFFDF8"/>
          </a:solidFill>
          <a:ln w="9525">
            <a:solidFill>
              <a:srgbClr val="E8E3D7"/>
            </a:solidFill>
            <a:prstDash val="solid"/>
          </a:ln>
        </p:spPr>
        <p:txBody>
          <a:bodyPr/>
          <a:lstStyle/>
          <a:p>
            <a:endParaRPr lang="en-US"/>
          </a:p>
        </p:txBody>
      </p:sp>
      <p:sp>
        <p:nvSpPr>
          <p:cNvPr id="11" name="stop-title-1">
            <a:extLst>
              <a:ext uri="{FF2B5EF4-FFF2-40B4-BE49-F238E27FC236}">
                <a16:creationId xmlns:a16="http://schemas.microsoft.com/office/drawing/2014/main" id="{ED91C0A2-9A49-422D-84B2-F97C3516C974}"/>
              </a:ext>
            </a:extLst>
          </p:cNvPr>
          <p:cNvSpPr>
            <a:spLocks noGrp="1"/>
          </p:cNvSpPr>
          <p:nvPr/>
        </p:nvSpPr>
        <p:spPr>
          <a:xfrm>
            <a:off x="4876800" y="2781300"/>
            <a:ext cx="2190750" cy="323850"/>
          </a:xfrm>
          <a:prstGeom prst="rect">
            <a:avLst/>
          </a:prstGeom>
          <a:noFill/>
          <a:ln w="0">
            <a:noFill/>
            <a:prstDash val="solid"/>
          </a:ln>
        </p:spPr>
        <p:txBody>
          <a:bodyPr anchor="ctr"/>
          <a:lstStyle/>
          <a:p>
            <a:pPr algn="ctr">
              <a:defRPr sz="1425" b="1">
                <a:solidFill>
                  <a:srgbClr val="6E8773"/>
                </a:solidFill>
              </a:defRPr>
            </a:pPr>
            <a:r>
              <a:rPr sz="1425" b="1">
                <a:solidFill>
                  <a:srgbClr val="6E8773"/>
                </a:solidFill>
              </a:rPr>
              <a:t>JUDEA + SAMARIA</a:t>
            </a:r>
          </a:p>
        </p:txBody>
      </p:sp>
      <p:sp>
        <p:nvSpPr>
          <p:cNvPr id="12" name="stop-sub-1">
            <a:extLst>
              <a:ext uri="{FF2B5EF4-FFF2-40B4-BE49-F238E27FC236}">
                <a16:creationId xmlns:a16="http://schemas.microsoft.com/office/drawing/2014/main" id="{631CBD78-6005-434B-BE3A-722C6E55A0BB}"/>
              </a:ext>
            </a:extLst>
          </p:cNvPr>
          <p:cNvSpPr>
            <a:spLocks noGrp="1"/>
          </p:cNvSpPr>
          <p:nvPr/>
        </p:nvSpPr>
        <p:spPr>
          <a:xfrm>
            <a:off x="4876800" y="3190875"/>
            <a:ext cx="2190750" cy="400050"/>
          </a:xfrm>
          <a:prstGeom prst="rect">
            <a:avLst/>
          </a:prstGeom>
          <a:noFill/>
          <a:ln w="0">
            <a:noFill/>
            <a:prstDash val="solid"/>
          </a:ln>
        </p:spPr>
        <p:txBody>
          <a:bodyPr anchor="ctr"/>
          <a:lstStyle/>
          <a:p>
            <a:pPr algn="ctr">
              <a:defRPr sz="1350" b="0">
                <a:solidFill>
                  <a:srgbClr val="23323B"/>
                </a:solidFill>
              </a:defRPr>
            </a:pPr>
            <a:r>
              <a:rPr sz="1350" b="0">
                <a:solidFill>
                  <a:srgbClr val="23323B"/>
                </a:solidFill>
              </a:rPr>
              <a:t>witness crosses boundaries</a:t>
            </a:r>
          </a:p>
        </p:txBody>
      </p:sp>
      <p:sp>
        <p:nvSpPr>
          <p:cNvPr id="13" name="stop-2">
            <a:extLst>
              <a:ext uri="{FF2B5EF4-FFF2-40B4-BE49-F238E27FC236}">
                <a16:creationId xmlns:a16="http://schemas.microsoft.com/office/drawing/2014/main" id="{27C1E6AE-449D-4367-BB4C-9CDD51634C34}"/>
              </a:ext>
            </a:extLst>
          </p:cNvPr>
          <p:cNvSpPr>
            <a:spLocks noGrp="1"/>
          </p:cNvSpPr>
          <p:nvPr/>
        </p:nvSpPr>
        <p:spPr>
          <a:xfrm>
            <a:off x="8382000" y="2571750"/>
            <a:ext cx="2381250" cy="1314450"/>
          </a:xfrm>
          <a:prstGeom prst="roundRect">
            <a:avLst>
              <a:gd name="adj" fmla="val 8696"/>
            </a:avLst>
          </a:prstGeom>
          <a:solidFill>
            <a:srgbClr val="FFFDF8"/>
          </a:solidFill>
          <a:ln w="9525">
            <a:solidFill>
              <a:srgbClr val="E8E3D7"/>
            </a:solidFill>
            <a:prstDash val="solid"/>
          </a:ln>
        </p:spPr>
        <p:txBody>
          <a:bodyPr/>
          <a:lstStyle/>
          <a:p>
            <a:endParaRPr lang="en-US"/>
          </a:p>
        </p:txBody>
      </p:sp>
      <p:sp>
        <p:nvSpPr>
          <p:cNvPr id="14" name="stop-title-2">
            <a:extLst>
              <a:ext uri="{FF2B5EF4-FFF2-40B4-BE49-F238E27FC236}">
                <a16:creationId xmlns:a16="http://schemas.microsoft.com/office/drawing/2014/main" id="{DA2CFEA2-C9B2-400C-8306-220655B41019}"/>
              </a:ext>
            </a:extLst>
          </p:cNvPr>
          <p:cNvSpPr>
            <a:spLocks noGrp="1"/>
          </p:cNvSpPr>
          <p:nvPr/>
        </p:nvSpPr>
        <p:spPr>
          <a:xfrm>
            <a:off x="8572500" y="2781300"/>
            <a:ext cx="2000250" cy="323850"/>
          </a:xfrm>
          <a:prstGeom prst="rect">
            <a:avLst/>
          </a:prstGeom>
          <a:noFill/>
          <a:ln w="0">
            <a:noFill/>
            <a:prstDash val="solid"/>
          </a:ln>
        </p:spPr>
        <p:txBody>
          <a:bodyPr anchor="ctr"/>
          <a:lstStyle/>
          <a:p>
            <a:pPr algn="ctr">
              <a:defRPr sz="1425" b="1">
                <a:solidFill>
                  <a:srgbClr val="C59A3D"/>
                </a:solidFill>
              </a:defRPr>
            </a:pPr>
            <a:r>
              <a:rPr sz="1425" b="1">
                <a:solidFill>
                  <a:srgbClr val="C59A3D"/>
                </a:solidFill>
              </a:rPr>
              <a:t>ENDS OF THE EARTH</a:t>
            </a:r>
          </a:p>
        </p:txBody>
      </p:sp>
      <p:sp>
        <p:nvSpPr>
          <p:cNvPr id="15" name="stop-sub-2">
            <a:extLst>
              <a:ext uri="{FF2B5EF4-FFF2-40B4-BE49-F238E27FC236}">
                <a16:creationId xmlns:a16="http://schemas.microsoft.com/office/drawing/2014/main" id="{2CC9EEA6-98E9-4E94-A8A3-CE5058EC2121}"/>
              </a:ext>
            </a:extLst>
          </p:cNvPr>
          <p:cNvSpPr>
            <a:spLocks noGrp="1"/>
          </p:cNvSpPr>
          <p:nvPr/>
        </p:nvSpPr>
        <p:spPr>
          <a:xfrm>
            <a:off x="8572500" y="3190875"/>
            <a:ext cx="2000250" cy="400050"/>
          </a:xfrm>
          <a:prstGeom prst="rect">
            <a:avLst/>
          </a:prstGeom>
          <a:noFill/>
          <a:ln w="0">
            <a:noFill/>
            <a:prstDash val="solid"/>
          </a:ln>
        </p:spPr>
        <p:txBody>
          <a:bodyPr anchor="ctr"/>
          <a:lstStyle/>
          <a:p>
            <a:pPr algn="ctr">
              <a:defRPr sz="1350" b="0">
                <a:solidFill>
                  <a:srgbClr val="23323B"/>
                </a:solidFill>
              </a:defRPr>
            </a:pPr>
            <a:r>
              <a:rPr sz="1350" b="0">
                <a:solidFill>
                  <a:srgbClr val="23323B"/>
                </a:solidFill>
              </a:rPr>
              <a:t>gospel keeps expanding</a:t>
            </a:r>
          </a:p>
        </p:txBody>
      </p:sp>
      <p:sp>
        <p:nvSpPr>
          <p:cNvPr id="16" name="themes-label">
            <a:extLst>
              <a:ext uri="{FF2B5EF4-FFF2-40B4-BE49-F238E27FC236}">
                <a16:creationId xmlns:a16="http://schemas.microsoft.com/office/drawing/2014/main" id="{118562E8-21C8-46DD-9303-15DEA8ECEAEC}"/>
              </a:ext>
            </a:extLst>
          </p:cNvPr>
          <p:cNvSpPr>
            <a:spLocks noGrp="1"/>
          </p:cNvSpPr>
          <p:nvPr/>
        </p:nvSpPr>
        <p:spPr>
          <a:xfrm>
            <a:off x="685800" y="4381500"/>
            <a:ext cx="2667000" cy="28575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THE STORY’S PULSE</a:t>
            </a:r>
          </a:p>
        </p:txBody>
      </p:sp>
      <p:sp>
        <p:nvSpPr>
          <p:cNvPr id="17" name="themes">
            <a:extLst>
              <a:ext uri="{FF2B5EF4-FFF2-40B4-BE49-F238E27FC236}">
                <a16:creationId xmlns:a16="http://schemas.microsoft.com/office/drawing/2014/main" id="{E5E22585-77E8-458E-B5C4-F43848F0B7BC}"/>
              </a:ext>
            </a:extLst>
          </p:cNvPr>
          <p:cNvSpPr>
            <a:spLocks noGrp="1"/>
          </p:cNvSpPr>
          <p:nvPr/>
        </p:nvSpPr>
        <p:spPr>
          <a:xfrm>
            <a:off x="685800" y="4762500"/>
            <a:ext cx="10820400" cy="704850"/>
          </a:xfrm>
          <a:prstGeom prst="rect">
            <a:avLst/>
          </a:prstGeom>
          <a:noFill/>
          <a:ln w="0">
            <a:noFill/>
            <a:prstDash val="solid"/>
          </a:ln>
        </p:spPr>
        <p:txBody>
          <a:bodyPr anchor="ctr"/>
          <a:lstStyle/>
          <a:p>
            <a:pPr algn="l">
              <a:defRPr sz="1950" b="1">
                <a:solidFill>
                  <a:srgbClr val="23323B"/>
                </a:solidFill>
              </a:defRPr>
            </a:pPr>
            <a:r>
              <a:rPr sz="1950" b="1">
                <a:solidFill>
                  <a:srgbClr val="23323B"/>
                </a:solidFill>
              </a:rPr>
              <a:t>Witness  •  Spirit empowerment  •  Gentile inclusion  •  Perseverance  •  God’s sovereign mission</a:t>
            </a:r>
          </a:p>
        </p:txBody>
      </p:sp>
    </p:spTree>
    <p:extLst>
      <p:ext uri="{BB962C8B-B14F-4D97-AF65-F5344CB8AC3E}">
        <p14:creationId xmlns:p14="http://schemas.microsoft.com/office/powerpoint/2010/main" val="1970220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57" name="top-rule">
            <a:extLst>
              <a:ext uri="{FF2B5EF4-FFF2-40B4-BE49-F238E27FC236}">
                <a16:creationId xmlns:a16="http://schemas.microsoft.com/office/drawing/2014/main" id="{D191B19D-E05A-4BD7-A005-8A8806378104}"/>
              </a:ext>
            </a:extLst>
          </p:cNvPr>
          <p:cNvSpPr>
            <a:spLocks noGrp="1"/>
          </p:cNvSpPr>
          <p:nvPr/>
        </p:nvSpPr>
        <p:spPr>
          <a:xfrm>
            <a:off x="0" y="0"/>
            <a:ext cx="12192000" cy="114300"/>
          </a:xfrm>
          <a:prstGeom prst="rect">
            <a:avLst/>
          </a:prstGeom>
          <a:solidFill>
            <a:srgbClr val="C59A3D"/>
          </a:solidFill>
          <a:ln w="0">
            <a:noFill/>
            <a:prstDash val="solid"/>
          </a:ln>
        </p:spPr>
        <p:txBody>
          <a:bodyPr/>
          <a:lstStyle/>
          <a:p>
            <a:endParaRPr lang="en-US"/>
          </a:p>
        </p:txBody>
      </p:sp>
      <p:sp>
        <p:nvSpPr>
          <p:cNvPr id="2" name="section">
            <a:extLst>
              <a:ext uri="{FF2B5EF4-FFF2-40B4-BE49-F238E27FC236}">
                <a16:creationId xmlns:a16="http://schemas.microsoft.com/office/drawing/2014/main" id="{0F3DDB45-3286-4F72-A991-766B1D8E37ED}"/>
              </a:ext>
            </a:extLst>
          </p:cNvPr>
          <p:cNvSpPr>
            <a:spLocks noGrp="1"/>
          </p:cNvSpPr>
          <p:nvPr/>
        </p:nvSpPr>
        <p:spPr>
          <a:xfrm>
            <a:off x="685800" y="266700"/>
            <a:ext cx="5715000" cy="28575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LESSON ONE • TIMELINE</a:t>
            </a:r>
          </a:p>
        </p:txBody>
      </p:sp>
      <p:sp>
        <p:nvSpPr>
          <p:cNvPr id="3" name="slide-number">
            <a:extLst>
              <a:ext uri="{FF2B5EF4-FFF2-40B4-BE49-F238E27FC236}">
                <a16:creationId xmlns:a16="http://schemas.microsoft.com/office/drawing/2014/main" id="{0280FE84-BEC0-4301-83B4-465635AF2F19}"/>
              </a:ext>
            </a:extLst>
          </p:cNvPr>
          <p:cNvSpPr>
            <a:spLocks noGrp="1"/>
          </p:cNvSpPr>
          <p:nvPr/>
        </p:nvSpPr>
        <p:spPr>
          <a:xfrm>
            <a:off x="11096625" y="266700"/>
            <a:ext cx="419100" cy="285750"/>
          </a:xfrm>
          <a:prstGeom prst="rect">
            <a:avLst/>
          </a:prstGeom>
          <a:noFill/>
          <a:ln w="0">
            <a:noFill/>
            <a:prstDash val="solid"/>
          </a:ln>
        </p:spPr>
        <p:txBody>
          <a:bodyPr anchor="ctr"/>
          <a:lstStyle/>
          <a:p>
            <a:pPr algn="r">
              <a:defRPr sz="1200" b="1">
                <a:solidFill>
                  <a:srgbClr val="61717A"/>
                </a:solidFill>
              </a:defRPr>
            </a:pPr>
            <a:r>
              <a:rPr sz="1200" b="1">
                <a:solidFill>
                  <a:srgbClr val="61717A"/>
                </a:solidFill>
              </a:rPr>
              <a:t>02</a:t>
            </a:r>
          </a:p>
        </p:txBody>
      </p:sp>
      <p:sp>
        <p:nvSpPr>
          <p:cNvPr id="4" name="timeline-title">
            <a:extLst>
              <a:ext uri="{FF2B5EF4-FFF2-40B4-BE49-F238E27FC236}">
                <a16:creationId xmlns:a16="http://schemas.microsoft.com/office/drawing/2014/main" id="{5CE390EE-AC0B-4087-B565-17234F1581A5}"/>
              </a:ext>
            </a:extLst>
          </p:cNvPr>
          <p:cNvSpPr>
            <a:spLocks noGrp="1"/>
          </p:cNvSpPr>
          <p:nvPr/>
        </p:nvSpPr>
        <p:spPr>
          <a:xfrm>
            <a:off x="685800" y="781050"/>
            <a:ext cx="7620000" cy="552450"/>
          </a:xfrm>
          <a:prstGeom prst="rect">
            <a:avLst/>
          </a:prstGeom>
          <a:noFill/>
          <a:ln w="0">
            <a:noFill/>
            <a:prstDash val="solid"/>
          </a:ln>
        </p:spPr>
        <p:txBody>
          <a:bodyPr anchor="ctr"/>
          <a:lstStyle/>
          <a:p>
            <a:pPr algn="l">
              <a:defRPr sz="3150" b="1">
                <a:solidFill>
                  <a:srgbClr val="142B3B"/>
                </a:solidFill>
              </a:defRPr>
            </a:pPr>
            <a:r>
              <a:rPr sz="3150" b="1">
                <a:solidFill>
                  <a:srgbClr val="142B3B"/>
                </a:solidFill>
              </a:rPr>
              <a:t>Timeline of Acts</a:t>
            </a:r>
          </a:p>
        </p:txBody>
      </p:sp>
      <p:sp>
        <p:nvSpPr>
          <p:cNvPr id="5" name="timeline-subtitle">
            <a:extLst>
              <a:ext uri="{FF2B5EF4-FFF2-40B4-BE49-F238E27FC236}">
                <a16:creationId xmlns:a16="http://schemas.microsoft.com/office/drawing/2014/main" id="{775BFE03-716F-4FAC-9EE5-D3CF469D18DA}"/>
              </a:ext>
            </a:extLst>
          </p:cNvPr>
          <p:cNvSpPr>
            <a:spLocks noGrp="1"/>
          </p:cNvSpPr>
          <p:nvPr/>
        </p:nvSpPr>
        <p:spPr>
          <a:xfrm>
            <a:off x="685800" y="1295400"/>
            <a:ext cx="4762500" cy="266700"/>
          </a:xfrm>
          <a:prstGeom prst="rect">
            <a:avLst/>
          </a:prstGeom>
          <a:noFill/>
          <a:ln w="0">
            <a:noFill/>
            <a:prstDash val="solid"/>
          </a:ln>
        </p:spPr>
        <p:txBody>
          <a:bodyPr anchor="ctr"/>
          <a:lstStyle/>
          <a:p>
            <a:pPr algn="l">
              <a:defRPr sz="1275" b="0">
                <a:solidFill>
                  <a:srgbClr val="61717A"/>
                </a:solidFill>
              </a:defRPr>
            </a:pPr>
            <a:r>
              <a:rPr sz="1275" b="0">
                <a:solidFill>
                  <a:srgbClr val="61717A"/>
                </a:solidFill>
              </a:rPr>
              <a:t>All dates are approximate.</a:t>
            </a:r>
          </a:p>
        </p:txBody>
      </p:sp>
      <p:sp>
        <p:nvSpPr>
          <p:cNvPr id="6" name="timeline-col-0">
            <a:extLst>
              <a:ext uri="{FF2B5EF4-FFF2-40B4-BE49-F238E27FC236}">
                <a16:creationId xmlns:a16="http://schemas.microsoft.com/office/drawing/2014/main" id="{15648015-8106-4FB7-84B5-D3CD32AAF774}"/>
              </a:ext>
            </a:extLst>
          </p:cNvPr>
          <p:cNvSpPr>
            <a:spLocks noGrp="1"/>
          </p:cNvSpPr>
          <p:nvPr/>
        </p:nvSpPr>
        <p:spPr>
          <a:xfrm>
            <a:off x="685800" y="1695450"/>
            <a:ext cx="5276850" cy="4552950"/>
          </a:xfrm>
          <a:prstGeom prst="roundRect">
            <a:avLst>
              <a:gd name="adj" fmla="val 2510"/>
            </a:avLst>
          </a:prstGeom>
          <a:solidFill>
            <a:srgbClr val="FFFDF8"/>
          </a:solidFill>
          <a:ln w="9525">
            <a:solidFill>
              <a:srgbClr val="E8E3D7"/>
            </a:solidFill>
            <a:prstDash val="solid"/>
          </a:ln>
        </p:spPr>
        <p:txBody>
          <a:bodyPr/>
          <a:lstStyle/>
          <a:p>
            <a:endParaRPr lang="en-US"/>
          </a:p>
        </p:txBody>
      </p:sp>
      <p:sp>
        <p:nvSpPr>
          <p:cNvPr id="7" name="timeline-event-0-0">
            <a:extLst>
              <a:ext uri="{FF2B5EF4-FFF2-40B4-BE49-F238E27FC236}">
                <a16:creationId xmlns:a16="http://schemas.microsoft.com/office/drawing/2014/main" id="{A96DBD68-9457-4F4A-B250-BA7AAF44AC58}"/>
              </a:ext>
            </a:extLst>
          </p:cNvPr>
          <p:cNvSpPr>
            <a:spLocks noGrp="1"/>
          </p:cNvSpPr>
          <p:nvPr/>
        </p:nvSpPr>
        <p:spPr>
          <a:xfrm>
            <a:off x="914400" y="1847850"/>
            <a:ext cx="3924300" cy="485775"/>
          </a:xfrm>
          <a:prstGeom prst="rect">
            <a:avLst/>
          </a:prstGeom>
          <a:noFill/>
          <a:ln w="0">
            <a:noFill/>
            <a:prstDash val="solid"/>
          </a:ln>
        </p:spPr>
        <p:txBody>
          <a:bodyPr anchor="ctr"/>
          <a:lstStyle/>
          <a:p>
            <a:pPr algn="l">
              <a:defRPr sz="1200" b="0">
                <a:solidFill>
                  <a:srgbClr val="23323B"/>
                </a:solidFill>
              </a:defRPr>
            </a:pPr>
            <a:r>
              <a:rPr sz="1200" b="0">
                <a:solidFill>
                  <a:srgbClr val="23323B"/>
                </a:solidFill>
              </a:rPr>
              <a:t>Jesus’ crucifixion and resurrection; Pentecost</a:t>
            </a:r>
          </a:p>
        </p:txBody>
      </p:sp>
      <p:sp>
        <p:nvSpPr>
          <p:cNvPr id="8" name="timeline-date-0-0">
            <a:extLst>
              <a:ext uri="{FF2B5EF4-FFF2-40B4-BE49-F238E27FC236}">
                <a16:creationId xmlns:a16="http://schemas.microsoft.com/office/drawing/2014/main" id="{4EF8A088-C8D0-4EB3-84BF-934A4B03768F}"/>
              </a:ext>
            </a:extLst>
          </p:cNvPr>
          <p:cNvSpPr>
            <a:spLocks noGrp="1"/>
          </p:cNvSpPr>
          <p:nvPr/>
        </p:nvSpPr>
        <p:spPr>
          <a:xfrm>
            <a:off x="4895850" y="1847850"/>
            <a:ext cx="838200" cy="485775"/>
          </a:xfrm>
          <a:prstGeom prst="rect">
            <a:avLst/>
          </a:prstGeom>
          <a:noFill/>
          <a:ln w="0">
            <a:noFill/>
            <a:prstDash val="solid"/>
          </a:ln>
        </p:spPr>
        <p:txBody>
          <a:bodyPr anchor="ctr"/>
          <a:lstStyle/>
          <a:p>
            <a:pPr algn="r">
              <a:defRPr sz="1125" b="1">
                <a:solidFill>
                  <a:srgbClr val="A34D36"/>
                </a:solidFill>
              </a:defRPr>
            </a:pPr>
            <a:r>
              <a:rPr sz="1125" b="1">
                <a:solidFill>
                  <a:srgbClr val="A34D36"/>
                </a:solidFill>
              </a:rPr>
              <a:t>AD 30</a:t>
            </a:r>
          </a:p>
        </p:txBody>
      </p:sp>
      <p:sp>
        <p:nvSpPr>
          <p:cNvPr id="9" name="timeline-rule-0-1">
            <a:extLst>
              <a:ext uri="{FF2B5EF4-FFF2-40B4-BE49-F238E27FC236}">
                <a16:creationId xmlns:a16="http://schemas.microsoft.com/office/drawing/2014/main" id="{82E8ED14-0C31-455D-AB49-F283E9E69061}"/>
              </a:ext>
            </a:extLst>
          </p:cNvPr>
          <p:cNvSpPr>
            <a:spLocks noGrp="1"/>
          </p:cNvSpPr>
          <p:nvPr/>
        </p:nvSpPr>
        <p:spPr>
          <a:xfrm>
            <a:off x="895350" y="2352675"/>
            <a:ext cx="4857750" cy="9525"/>
          </a:xfrm>
          <a:prstGeom prst="rect">
            <a:avLst/>
          </a:prstGeom>
          <a:solidFill>
            <a:srgbClr val="E8E3D7"/>
          </a:solidFill>
          <a:ln w="0">
            <a:noFill/>
            <a:prstDash val="solid"/>
          </a:ln>
        </p:spPr>
        <p:txBody>
          <a:bodyPr/>
          <a:lstStyle/>
          <a:p>
            <a:endParaRPr lang="en-US"/>
          </a:p>
        </p:txBody>
      </p:sp>
      <p:sp>
        <p:nvSpPr>
          <p:cNvPr id="10" name="timeline-event-0-1">
            <a:extLst>
              <a:ext uri="{FF2B5EF4-FFF2-40B4-BE49-F238E27FC236}">
                <a16:creationId xmlns:a16="http://schemas.microsoft.com/office/drawing/2014/main" id="{48996B5E-BB0E-4B69-A065-C930FF5184B2}"/>
              </a:ext>
            </a:extLst>
          </p:cNvPr>
          <p:cNvSpPr>
            <a:spLocks noGrp="1"/>
          </p:cNvSpPr>
          <p:nvPr/>
        </p:nvSpPr>
        <p:spPr>
          <a:xfrm>
            <a:off x="914400" y="2409825"/>
            <a:ext cx="3924300" cy="485775"/>
          </a:xfrm>
          <a:prstGeom prst="rect">
            <a:avLst/>
          </a:prstGeom>
          <a:noFill/>
          <a:ln w="0">
            <a:noFill/>
            <a:prstDash val="solid"/>
          </a:ln>
        </p:spPr>
        <p:txBody>
          <a:bodyPr anchor="ctr"/>
          <a:lstStyle/>
          <a:p>
            <a:pPr algn="l">
              <a:defRPr sz="1200" b="0">
                <a:solidFill>
                  <a:srgbClr val="23323B"/>
                </a:solidFill>
              </a:defRPr>
            </a:pPr>
            <a:r>
              <a:rPr sz="1200" b="0">
                <a:solidFill>
                  <a:srgbClr val="23323B"/>
                </a:solidFill>
              </a:rPr>
              <a:t>Martyrdom of Stephen (Acts 6:8–8:1)</a:t>
            </a:r>
          </a:p>
        </p:txBody>
      </p:sp>
      <p:sp>
        <p:nvSpPr>
          <p:cNvPr id="11" name="timeline-date-0-1">
            <a:extLst>
              <a:ext uri="{FF2B5EF4-FFF2-40B4-BE49-F238E27FC236}">
                <a16:creationId xmlns:a16="http://schemas.microsoft.com/office/drawing/2014/main" id="{17564105-7EA6-4F8F-A698-D0FEA7EFE05A}"/>
              </a:ext>
            </a:extLst>
          </p:cNvPr>
          <p:cNvSpPr>
            <a:spLocks noGrp="1"/>
          </p:cNvSpPr>
          <p:nvPr/>
        </p:nvSpPr>
        <p:spPr>
          <a:xfrm>
            <a:off x="4895850" y="2409825"/>
            <a:ext cx="838200" cy="485775"/>
          </a:xfrm>
          <a:prstGeom prst="rect">
            <a:avLst/>
          </a:prstGeom>
          <a:noFill/>
          <a:ln w="0">
            <a:noFill/>
            <a:prstDash val="solid"/>
          </a:ln>
        </p:spPr>
        <p:txBody>
          <a:bodyPr anchor="ctr"/>
          <a:lstStyle/>
          <a:p>
            <a:pPr algn="r">
              <a:defRPr sz="1125" b="1">
                <a:solidFill>
                  <a:srgbClr val="A34D36"/>
                </a:solidFill>
              </a:defRPr>
            </a:pPr>
            <a:r>
              <a:rPr sz="1125" b="1">
                <a:solidFill>
                  <a:srgbClr val="A34D36"/>
                </a:solidFill>
              </a:rPr>
              <a:t>33</a:t>
            </a:r>
          </a:p>
        </p:txBody>
      </p:sp>
      <p:sp>
        <p:nvSpPr>
          <p:cNvPr id="12" name="timeline-rule-0-2">
            <a:extLst>
              <a:ext uri="{FF2B5EF4-FFF2-40B4-BE49-F238E27FC236}">
                <a16:creationId xmlns:a16="http://schemas.microsoft.com/office/drawing/2014/main" id="{6349A76B-EBE7-4696-BDA8-5FE67911402C}"/>
              </a:ext>
            </a:extLst>
          </p:cNvPr>
          <p:cNvSpPr>
            <a:spLocks noGrp="1"/>
          </p:cNvSpPr>
          <p:nvPr/>
        </p:nvSpPr>
        <p:spPr>
          <a:xfrm>
            <a:off x="895350" y="2914650"/>
            <a:ext cx="4857750" cy="9525"/>
          </a:xfrm>
          <a:prstGeom prst="rect">
            <a:avLst/>
          </a:prstGeom>
          <a:solidFill>
            <a:srgbClr val="E8E3D7"/>
          </a:solidFill>
          <a:ln w="0">
            <a:noFill/>
            <a:prstDash val="solid"/>
          </a:ln>
        </p:spPr>
        <p:txBody>
          <a:bodyPr/>
          <a:lstStyle/>
          <a:p>
            <a:endParaRPr lang="en-US"/>
          </a:p>
        </p:txBody>
      </p:sp>
      <p:sp>
        <p:nvSpPr>
          <p:cNvPr id="13" name="timeline-event-0-2">
            <a:extLst>
              <a:ext uri="{FF2B5EF4-FFF2-40B4-BE49-F238E27FC236}">
                <a16:creationId xmlns:a16="http://schemas.microsoft.com/office/drawing/2014/main" id="{5C4931FE-0BC9-4F84-88E4-4FEE80F99D22}"/>
              </a:ext>
            </a:extLst>
          </p:cNvPr>
          <p:cNvSpPr>
            <a:spLocks noGrp="1"/>
          </p:cNvSpPr>
          <p:nvPr/>
        </p:nvSpPr>
        <p:spPr>
          <a:xfrm>
            <a:off x="914400" y="2971800"/>
            <a:ext cx="3924300" cy="485775"/>
          </a:xfrm>
          <a:prstGeom prst="rect">
            <a:avLst/>
          </a:prstGeom>
          <a:noFill/>
          <a:ln w="0">
            <a:noFill/>
            <a:prstDash val="solid"/>
          </a:ln>
        </p:spPr>
        <p:txBody>
          <a:bodyPr anchor="ctr"/>
          <a:lstStyle/>
          <a:p>
            <a:pPr algn="l">
              <a:defRPr sz="1200" b="0">
                <a:solidFill>
                  <a:srgbClr val="23323B"/>
                </a:solidFill>
              </a:defRPr>
            </a:pPr>
            <a:r>
              <a:rPr sz="1200" b="0">
                <a:solidFill>
                  <a:srgbClr val="23323B"/>
                </a:solidFill>
              </a:rPr>
              <a:t>Conversion of Paul (Acts 9:1–19)</a:t>
            </a:r>
          </a:p>
        </p:txBody>
      </p:sp>
      <p:sp>
        <p:nvSpPr>
          <p:cNvPr id="14" name="timeline-date-0-2">
            <a:extLst>
              <a:ext uri="{FF2B5EF4-FFF2-40B4-BE49-F238E27FC236}">
                <a16:creationId xmlns:a16="http://schemas.microsoft.com/office/drawing/2014/main" id="{0A8DE63A-5BA2-44BC-BDD5-CB8BBF05F3F8}"/>
              </a:ext>
            </a:extLst>
          </p:cNvPr>
          <p:cNvSpPr>
            <a:spLocks noGrp="1"/>
          </p:cNvSpPr>
          <p:nvPr/>
        </p:nvSpPr>
        <p:spPr>
          <a:xfrm>
            <a:off x="4895850" y="2971800"/>
            <a:ext cx="838200" cy="485775"/>
          </a:xfrm>
          <a:prstGeom prst="rect">
            <a:avLst/>
          </a:prstGeom>
          <a:noFill/>
          <a:ln w="0">
            <a:noFill/>
            <a:prstDash val="solid"/>
          </a:ln>
        </p:spPr>
        <p:txBody>
          <a:bodyPr anchor="ctr"/>
          <a:lstStyle/>
          <a:p>
            <a:pPr algn="r">
              <a:defRPr sz="1125" b="1">
                <a:solidFill>
                  <a:srgbClr val="A34D36"/>
                </a:solidFill>
              </a:defRPr>
            </a:pPr>
            <a:r>
              <a:rPr sz="1125" b="1">
                <a:solidFill>
                  <a:srgbClr val="A34D36"/>
                </a:solidFill>
              </a:rPr>
              <a:t>33</a:t>
            </a:r>
          </a:p>
        </p:txBody>
      </p:sp>
      <p:sp>
        <p:nvSpPr>
          <p:cNvPr id="15" name="timeline-rule-0-3">
            <a:extLst>
              <a:ext uri="{FF2B5EF4-FFF2-40B4-BE49-F238E27FC236}">
                <a16:creationId xmlns:a16="http://schemas.microsoft.com/office/drawing/2014/main" id="{7815F071-C2B2-4F35-8DE2-1AA4C4581A53}"/>
              </a:ext>
            </a:extLst>
          </p:cNvPr>
          <p:cNvSpPr>
            <a:spLocks noGrp="1"/>
          </p:cNvSpPr>
          <p:nvPr/>
        </p:nvSpPr>
        <p:spPr>
          <a:xfrm>
            <a:off x="895350" y="3476625"/>
            <a:ext cx="4857750" cy="9525"/>
          </a:xfrm>
          <a:prstGeom prst="rect">
            <a:avLst/>
          </a:prstGeom>
          <a:solidFill>
            <a:srgbClr val="E8E3D7"/>
          </a:solidFill>
          <a:ln w="0">
            <a:noFill/>
            <a:prstDash val="solid"/>
          </a:ln>
        </p:spPr>
        <p:txBody>
          <a:bodyPr/>
          <a:lstStyle/>
          <a:p>
            <a:endParaRPr lang="en-US"/>
          </a:p>
        </p:txBody>
      </p:sp>
      <p:sp>
        <p:nvSpPr>
          <p:cNvPr id="16" name="timeline-event-0-3">
            <a:extLst>
              <a:ext uri="{FF2B5EF4-FFF2-40B4-BE49-F238E27FC236}">
                <a16:creationId xmlns:a16="http://schemas.microsoft.com/office/drawing/2014/main" id="{8CCD8BB4-420F-448A-8FAF-C159C60181C9}"/>
              </a:ext>
            </a:extLst>
          </p:cNvPr>
          <p:cNvSpPr>
            <a:spLocks noGrp="1"/>
          </p:cNvSpPr>
          <p:nvPr/>
        </p:nvSpPr>
        <p:spPr>
          <a:xfrm>
            <a:off x="914400" y="3533775"/>
            <a:ext cx="3924300" cy="485775"/>
          </a:xfrm>
          <a:prstGeom prst="rect">
            <a:avLst/>
          </a:prstGeom>
          <a:noFill/>
          <a:ln w="0">
            <a:noFill/>
            <a:prstDash val="solid"/>
          </a:ln>
        </p:spPr>
        <p:txBody>
          <a:bodyPr anchor="ctr"/>
          <a:lstStyle/>
          <a:p>
            <a:pPr algn="l">
              <a:defRPr sz="1200" b="0">
                <a:solidFill>
                  <a:srgbClr val="23323B"/>
                </a:solidFill>
              </a:defRPr>
            </a:pPr>
            <a:r>
              <a:rPr sz="1200" b="0">
                <a:solidFill>
                  <a:srgbClr val="23323B"/>
                </a:solidFill>
              </a:rPr>
              <a:t>Paul visits Jerusalem to see Peter (Galatians 1:18)</a:t>
            </a:r>
          </a:p>
        </p:txBody>
      </p:sp>
      <p:sp>
        <p:nvSpPr>
          <p:cNvPr id="17" name="timeline-date-0-3">
            <a:extLst>
              <a:ext uri="{FF2B5EF4-FFF2-40B4-BE49-F238E27FC236}">
                <a16:creationId xmlns:a16="http://schemas.microsoft.com/office/drawing/2014/main" id="{6084AD38-F319-403B-9258-FA787B4F952D}"/>
              </a:ext>
            </a:extLst>
          </p:cNvPr>
          <p:cNvSpPr>
            <a:spLocks noGrp="1"/>
          </p:cNvSpPr>
          <p:nvPr/>
        </p:nvSpPr>
        <p:spPr>
          <a:xfrm>
            <a:off x="4895850" y="3533775"/>
            <a:ext cx="838200" cy="485775"/>
          </a:xfrm>
          <a:prstGeom prst="rect">
            <a:avLst/>
          </a:prstGeom>
          <a:noFill/>
          <a:ln w="0">
            <a:noFill/>
            <a:prstDash val="solid"/>
          </a:ln>
        </p:spPr>
        <p:txBody>
          <a:bodyPr anchor="ctr"/>
          <a:lstStyle/>
          <a:p>
            <a:pPr algn="r">
              <a:defRPr sz="1125" b="1">
                <a:solidFill>
                  <a:srgbClr val="A34D36"/>
                </a:solidFill>
              </a:defRPr>
            </a:pPr>
            <a:r>
              <a:rPr sz="1125" b="1">
                <a:solidFill>
                  <a:srgbClr val="A34D36"/>
                </a:solidFill>
              </a:rPr>
              <a:t>35</a:t>
            </a:r>
          </a:p>
        </p:txBody>
      </p:sp>
      <p:sp>
        <p:nvSpPr>
          <p:cNvPr id="18" name="timeline-rule-0-4">
            <a:extLst>
              <a:ext uri="{FF2B5EF4-FFF2-40B4-BE49-F238E27FC236}">
                <a16:creationId xmlns:a16="http://schemas.microsoft.com/office/drawing/2014/main" id="{25EC905D-8590-4606-BF76-E15D1D60C32C}"/>
              </a:ext>
            </a:extLst>
          </p:cNvPr>
          <p:cNvSpPr>
            <a:spLocks noGrp="1"/>
          </p:cNvSpPr>
          <p:nvPr/>
        </p:nvSpPr>
        <p:spPr>
          <a:xfrm>
            <a:off x="895350" y="4038600"/>
            <a:ext cx="4857750" cy="9525"/>
          </a:xfrm>
          <a:prstGeom prst="rect">
            <a:avLst/>
          </a:prstGeom>
          <a:solidFill>
            <a:srgbClr val="E8E3D7"/>
          </a:solidFill>
          <a:ln w="0">
            <a:noFill/>
            <a:prstDash val="solid"/>
          </a:ln>
        </p:spPr>
        <p:txBody>
          <a:bodyPr/>
          <a:lstStyle/>
          <a:p>
            <a:endParaRPr lang="en-US"/>
          </a:p>
        </p:txBody>
      </p:sp>
      <p:sp>
        <p:nvSpPr>
          <p:cNvPr id="19" name="timeline-event-0-4">
            <a:extLst>
              <a:ext uri="{FF2B5EF4-FFF2-40B4-BE49-F238E27FC236}">
                <a16:creationId xmlns:a16="http://schemas.microsoft.com/office/drawing/2014/main" id="{16CC874E-6FDA-416B-8EA0-0AF590A5CC38}"/>
              </a:ext>
            </a:extLst>
          </p:cNvPr>
          <p:cNvSpPr>
            <a:spLocks noGrp="1"/>
          </p:cNvSpPr>
          <p:nvPr/>
        </p:nvSpPr>
        <p:spPr>
          <a:xfrm>
            <a:off x="914400" y="4095750"/>
            <a:ext cx="3924300" cy="485775"/>
          </a:xfrm>
          <a:prstGeom prst="rect">
            <a:avLst/>
          </a:prstGeom>
          <a:noFill/>
          <a:ln w="0">
            <a:noFill/>
            <a:prstDash val="solid"/>
          </a:ln>
        </p:spPr>
        <p:txBody>
          <a:bodyPr anchor="ctr"/>
          <a:lstStyle/>
          <a:p>
            <a:pPr algn="l">
              <a:defRPr sz="1200" b="0">
                <a:solidFill>
                  <a:srgbClr val="23323B"/>
                </a:solidFill>
              </a:defRPr>
            </a:pPr>
            <a:r>
              <a:rPr sz="1200" b="0">
                <a:solidFill>
                  <a:srgbClr val="23323B"/>
                </a:solidFill>
              </a:rPr>
              <a:t>Paul in Cilicia and Syria (Galatians 1:21; Acts 9:30)</a:t>
            </a:r>
          </a:p>
        </p:txBody>
      </p:sp>
      <p:sp>
        <p:nvSpPr>
          <p:cNvPr id="20" name="timeline-date-0-4">
            <a:extLst>
              <a:ext uri="{FF2B5EF4-FFF2-40B4-BE49-F238E27FC236}">
                <a16:creationId xmlns:a16="http://schemas.microsoft.com/office/drawing/2014/main" id="{A7A5EC91-3AB8-4753-9989-AD2DE1D4D364}"/>
              </a:ext>
            </a:extLst>
          </p:cNvPr>
          <p:cNvSpPr>
            <a:spLocks noGrp="1"/>
          </p:cNvSpPr>
          <p:nvPr/>
        </p:nvSpPr>
        <p:spPr>
          <a:xfrm>
            <a:off x="4895850" y="4095750"/>
            <a:ext cx="838200" cy="485775"/>
          </a:xfrm>
          <a:prstGeom prst="rect">
            <a:avLst/>
          </a:prstGeom>
          <a:noFill/>
          <a:ln w="0">
            <a:noFill/>
            <a:prstDash val="solid"/>
          </a:ln>
        </p:spPr>
        <p:txBody>
          <a:bodyPr anchor="ctr"/>
          <a:lstStyle/>
          <a:p>
            <a:pPr algn="r">
              <a:defRPr sz="1125" b="1">
                <a:solidFill>
                  <a:srgbClr val="A34D36"/>
                </a:solidFill>
              </a:defRPr>
            </a:pPr>
            <a:r>
              <a:rPr sz="1125" b="1">
                <a:solidFill>
                  <a:srgbClr val="A34D36"/>
                </a:solidFill>
              </a:rPr>
              <a:t>35–46</a:t>
            </a:r>
          </a:p>
        </p:txBody>
      </p:sp>
      <p:sp>
        <p:nvSpPr>
          <p:cNvPr id="21" name="timeline-rule-0-5">
            <a:extLst>
              <a:ext uri="{FF2B5EF4-FFF2-40B4-BE49-F238E27FC236}">
                <a16:creationId xmlns:a16="http://schemas.microsoft.com/office/drawing/2014/main" id="{B326E406-9542-4B20-A470-00DDD157FAD9}"/>
              </a:ext>
            </a:extLst>
          </p:cNvPr>
          <p:cNvSpPr>
            <a:spLocks noGrp="1"/>
          </p:cNvSpPr>
          <p:nvPr/>
        </p:nvSpPr>
        <p:spPr>
          <a:xfrm>
            <a:off x="895350" y="4600575"/>
            <a:ext cx="4857750" cy="9525"/>
          </a:xfrm>
          <a:prstGeom prst="rect">
            <a:avLst/>
          </a:prstGeom>
          <a:solidFill>
            <a:srgbClr val="E8E3D7"/>
          </a:solidFill>
          <a:ln w="0">
            <a:noFill/>
            <a:prstDash val="solid"/>
          </a:ln>
        </p:spPr>
        <p:txBody>
          <a:bodyPr/>
          <a:lstStyle/>
          <a:p>
            <a:endParaRPr lang="en-US"/>
          </a:p>
        </p:txBody>
      </p:sp>
      <p:sp>
        <p:nvSpPr>
          <p:cNvPr id="22" name="timeline-event-0-5">
            <a:extLst>
              <a:ext uri="{FF2B5EF4-FFF2-40B4-BE49-F238E27FC236}">
                <a16:creationId xmlns:a16="http://schemas.microsoft.com/office/drawing/2014/main" id="{FD5F6BED-A578-4FEE-85CA-52132C8AEC46}"/>
              </a:ext>
            </a:extLst>
          </p:cNvPr>
          <p:cNvSpPr>
            <a:spLocks noGrp="1"/>
          </p:cNvSpPr>
          <p:nvPr/>
        </p:nvSpPr>
        <p:spPr>
          <a:xfrm>
            <a:off x="914400" y="4657725"/>
            <a:ext cx="3924300" cy="485775"/>
          </a:xfrm>
          <a:prstGeom prst="rect">
            <a:avLst/>
          </a:prstGeom>
          <a:noFill/>
          <a:ln w="0">
            <a:noFill/>
            <a:prstDash val="solid"/>
          </a:ln>
        </p:spPr>
        <p:txBody>
          <a:bodyPr anchor="ctr"/>
          <a:lstStyle/>
          <a:p>
            <a:pPr algn="l">
              <a:defRPr sz="1200" b="0">
                <a:solidFill>
                  <a:srgbClr val="23323B"/>
                </a:solidFill>
              </a:defRPr>
            </a:pPr>
            <a:r>
              <a:rPr sz="1200" b="0">
                <a:solidFill>
                  <a:srgbClr val="23323B"/>
                </a:solidFill>
              </a:rPr>
              <a:t>Herod Agrippa I dies (Acts 12:19–23)</a:t>
            </a:r>
          </a:p>
        </p:txBody>
      </p:sp>
      <p:sp>
        <p:nvSpPr>
          <p:cNvPr id="23" name="timeline-date-0-5">
            <a:extLst>
              <a:ext uri="{FF2B5EF4-FFF2-40B4-BE49-F238E27FC236}">
                <a16:creationId xmlns:a16="http://schemas.microsoft.com/office/drawing/2014/main" id="{6B1D2077-5874-4F60-92EC-EF11A78AA222}"/>
              </a:ext>
            </a:extLst>
          </p:cNvPr>
          <p:cNvSpPr>
            <a:spLocks noGrp="1"/>
          </p:cNvSpPr>
          <p:nvPr/>
        </p:nvSpPr>
        <p:spPr>
          <a:xfrm>
            <a:off x="4895850" y="4657725"/>
            <a:ext cx="838200" cy="485775"/>
          </a:xfrm>
          <a:prstGeom prst="rect">
            <a:avLst/>
          </a:prstGeom>
          <a:noFill/>
          <a:ln w="0">
            <a:noFill/>
            <a:prstDash val="solid"/>
          </a:ln>
        </p:spPr>
        <p:txBody>
          <a:bodyPr anchor="ctr"/>
          <a:lstStyle/>
          <a:p>
            <a:pPr algn="r">
              <a:defRPr sz="1125" b="1">
                <a:solidFill>
                  <a:srgbClr val="A34D36"/>
                </a:solidFill>
              </a:defRPr>
            </a:pPr>
            <a:r>
              <a:rPr sz="1125" b="1">
                <a:solidFill>
                  <a:srgbClr val="A34D36"/>
                </a:solidFill>
              </a:rPr>
              <a:t>44</a:t>
            </a:r>
          </a:p>
        </p:txBody>
      </p:sp>
      <p:sp>
        <p:nvSpPr>
          <p:cNvPr id="24" name="timeline-rule-0-6">
            <a:extLst>
              <a:ext uri="{FF2B5EF4-FFF2-40B4-BE49-F238E27FC236}">
                <a16:creationId xmlns:a16="http://schemas.microsoft.com/office/drawing/2014/main" id="{F5473C94-F2E5-42B0-9089-64DCAC67A5A1}"/>
              </a:ext>
            </a:extLst>
          </p:cNvPr>
          <p:cNvSpPr>
            <a:spLocks noGrp="1"/>
          </p:cNvSpPr>
          <p:nvPr/>
        </p:nvSpPr>
        <p:spPr>
          <a:xfrm>
            <a:off x="895350" y="5162550"/>
            <a:ext cx="4857750" cy="9525"/>
          </a:xfrm>
          <a:prstGeom prst="rect">
            <a:avLst/>
          </a:prstGeom>
          <a:solidFill>
            <a:srgbClr val="E8E3D7"/>
          </a:solidFill>
          <a:ln w="0">
            <a:noFill/>
            <a:prstDash val="solid"/>
          </a:ln>
        </p:spPr>
        <p:txBody>
          <a:bodyPr/>
          <a:lstStyle/>
          <a:p>
            <a:endParaRPr lang="en-US"/>
          </a:p>
        </p:txBody>
      </p:sp>
      <p:sp>
        <p:nvSpPr>
          <p:cNvPr id="25" name="timeline-event-0-6">
            <a:extLst>
              <a:ext uri="{FF2B5EF4-FFF2-40B4-BE49-F238E27FC236}">
                <a16:creationId xmlns:a16="http://schemas.microsoft.com/office/drawing/2014/main" id="{E63759F3-5A50-4E11-B6A9-7C41F1209A6A}"/>
              </a:ext>
            </a:extLst>
          </p:cNvPr>
          <p:cNvSpPr>
            <a:spLocks noGrp="1"/>
          </p:cNvSpPr>
          <p:nvPr/>
        </p:nvSpPr>
        <p:spPr>
          <a:xfrm>
            <a:off x="914400" y="5219700"/>
            <a:ext cx="3924300" cy="485775"/>
          </a:xfrm>
          <a:prstGeom prst="rect">
            <a:avLst/>
          </a:prstGeom>
          <a:noFill/>
          <a:ln w="0">
            <a:noFill/>
            <a:prstDash val="solid"/>
          </a:ln>
        </p:spPr>
        <p:txBody>
          <a:bodyPr anchor="ctr"/>
          <a:lstStyle/>
          <a:p>
            <a:pPr algn="l">
              <a:defRPr sz="1200" b="0">
                <a:solidFill>
                  <a:srgbClr val="23323B"/>
                </a:solidFill>
              </a:defRPr>
            </a:pPr>
            <a:r>
              <a:rPr sz="1200" b="0">
                <a:solidFill>
                  <a:srgbClr val="23323B"/>
                </a:solidFill>
              </a:rPr>
              <a:t>Paul visits Jerusalem to clarify the mission to the Gentiles (Galatians 2:1–10)</a:t>
            </a:r>
          </a:p>
        </p:txBody>
      </p:sp>
      <p:sp>
        <p:nvSpPr>
          <p:cNvPr id="26" name="timeline-date-0-6">
            <a:extLst>
              <a:ext uri="{FF2B5EF4-FFF2-40B4-BE49-F238E27FC236}">
                <a16:creationId xmlns:a16="http://schemas.microsoft.com/office/drawing/2014/main" id="{AB2122E8-F061-4C88-9955-30E2C8AB8E93}"/>
              </a:ext>
            </a:extLst>
          </p:cNvPr>
          <p:cNvSpPr>
            <a:spLocks noGrp="1"/>
          </p:cNvSpPr>
          <p:nvPr/>
        </p:nvSpPr>
        <p:spPr>
          <a:xfrm>
            <a:off x="4895850" y="5219700"/>
            <a:ext cx="838200" cy="485775"/>
          </a:xfrm>
          <a:prstGeom prst="rect">
            <a:avLst/>
          </a:prstGeom>
          <a:noFill/>
          <a:ln w="0">
            <a:noFill/>
            <a:prstDash val="solid"/>
          </a:ln>
        </p:spPr>
        <p:txBody>
          <a:bodyPr anchor="ctr"/>
          <a:lstStyle/>
          <a:p>
            <a:pPr algn="r">
              <a:defRPr sz="1125" b="1">
                <a:solidFill>
                  <a:srgbClr val="A34D36"/>
                </a:solidFill>
              </a:defRPr>
            </a:pPr>
            <a:r>
              <a:rPr sz="1125" b="1">
                <a:solidFill>
                  <a:srgbClr val="A34D36"/>
                </a:solidFill>
              </a:rPr>
              <a:t>46</a:t>
            </a:r>
          </a:p>
        </p:txBody>
      </p:sp>
      <p:sp>
        <p:nvSpPr>
          <p:cNvPr id="27" name="timeline-rule-0-7">
            <a:extLst>
              <a:ext uri="{FF2B5EF4-FFF2-40B4-BE49-F238E27FC236}">
                <a16:creationId xmlns:a16="http://schemas.microsoft.com/office/drawing/2014/main" id="{1979E57C-1975-4DE1-AF69-A574FCE635E6}"/>
              </a:ext>
            </a:extLst>
          </p:cNvPr>
          <p:cNvSpPr>
            <a:spLocks noGrp="1"/>
          </p:cNvSpPr>
          <p:nvPr/>
        </p:nvSpPr>
        <p:spPr>
          <a:xfrm>
            <a:off x="895350" y="5724525"/>
            <a:ext cx="4857750" cy="9525"/>
          </a:xfrm>
          <a:prstGeom prst="rect">
            <a:avLst/>
          </a:prstGeom>
          <a:solidFill>
            <a:srgbClr val="E8E3D7"/>
          </a:solidFill>
          <a:ln w="0">
            <a:noFill/>
            <a:prstDash val="solid"/>
          </a:ln>
        </p:spPr>
        <p:txBody>
          <a:bodyPr/>
          <a:lstStyle/>
          <a:p>
            <a:endParaRPr lang="en-US"/>
          </a:p>
        </p:txBody>
      </p:sp>
      <p:sp>
        <p:nvSpPr>
          <p:cNvPr id="28" name="timeline-event-0-7">
            <a:extLst>
              <a:ext uri="{FF2B5EF4-FFF2-40B4-BE49-F238E27FC236}">
                <a16:creationId xmlns:a16="http://schemas.microsoft.com/office/drawing/2014/main" id="{30D5BF9B-E71E-4F61-ABE1-AD1D6BB94B96}"/>
              </a:ext>
            </a:extLst>
          </p:cNvPr>
          <p:cNvSpPr>
            <a:spLocks noGrp="1"/>
          </p:cNvSpPr>
          <p:nvPr/>
        </p:nvSpPr>
        <p:spPr>
          <a:xfrm>
            <a:off x="914400" y="5781675"/>
            <a:ext cx="3924300" cy="485775"/>
          </a:xfrm>
          <a:prstGeom prst="rect">
            <a:avLst/>
          </a:prstGeom>
          <a:noFill/>
          <a:ln w="0">
            <a:noFill/>
            <a:prstDash val="solid"/>
          </a:ln>
        </p:spPr>
        <p:txBody>
          <a:bodyPr anchor="ctr"/>
          <a:lstStyle/>
          <a:p>
            <a:pPr algn="l">
              <a:defRPr sz="1200" b="0">
                <a:solidFill>
                  <a:srgbClr val="23323B"/>
                </a:solidFill>
              </a:defRPr>
            </a:pPr>
            <a:r>
              <a:rPr sz="1200" b="0">
                <a:solidFill>
                  <a:srgbClr val="23323B"/>
                </a:solidFill>
              </a:rPr>
              <a:t>Paul and Barnabas in Cyprus and Galatia (Acts 13–14)</a:t>
            </a:r>
          </a:p>
        </p:txBody>
      </p:sp>
      <p:sp>
        <p:nvSpPr>
          <p:cNvPr id="29" name="timeline-date-0-7">
            <a:extLst>
              <a:ext uri="{FF2B5EF4-FFF2-40B4-BE49-F238E27FC236}">
                <a16:creationId xmlns:a16="http://schemas.microsoft.com/office/drawing/2014/main" id="{7A4EFE7B-100E-4CF4-ACF3-296E5E098D84}"/>
              </a:ext>
            </a:extLst>
          </p:cNvPr>
          <p:cNvSpPr>
            <a:spLocks noGrp="1"/>
          </p:cNvSpPr>
          <p:nvPr/>
        </p:nvSpPr>
        <p:spPr>
          <a:xfrm>
            <a:off x="4895850" y="5781675"/>
            <a:ext cx="838200" cy="485775"/>
          </a:xfrm>
          <a:prstGeom prst="rect">
            <a:avLst/>
          </a:prstGeom>
          <a:noFill/>
          <a:ln w="0">
            <a:noFill/>
            <a:prstDash val="solid"/>
          </a:ln>
        </p:spPr>
        <p:txBody>
          <a:bodyPr anchor="ctr"/>
          <a:lstStyle/>
          <a:p>
            <a:pPr algn="r">
              <a:defRPr sz="1125" b="1">
                <a:solidFill>
                  <a:srgbClr val="A34D36"/>
                </a:solidFill>
              </a:defRPr>
            </a:pPr>
            <a:r>
              <a:rPr sz="1125" b="1">
                <a:solidFill>
                  <a:srgbClr val="A34D36"/>
                </a:solidFill>
              </a:rPr>
              <a:t>47–48</a:t>
            </a:r>
          </a:p>
        </p:txBody>
      </p:sp>
      <p:sp>
        <p:nvSpPr>
          <p:cNvPr id="30" name="timeline-col-1">
            <a:extLst>
              <a:ext uri="{FF2B5EF4-FFF2-40B4-BE49-F238E27FC236}">
                <a16:creationId xmlns:a16="http://schemas.microsoft.com/office/drawing/2014/main" id="{C1114152-FA10-4AB7-A9E6-0D37E350860B}"/>
              </a:ext>
            </a:extLst>
          </p:cNvPr>
          <p:cNvSpPr>
            <a:spLocks noGrp="1"/>
          </p:cNvSpPr>
          <p:nvPr/>
        </p:nvSpPr>
        <p:spPr>
          <a:xfrm>
            <a:off x="6229350" y="1695450"/>
            <a:ext cx="5276850" cy="4552950"/>
          </a:xfrm>
          <a:prstGeom prst="roundRect">
            <a:avLst>
              <a:gd name="adj" fmla="val 2510"/>
            </a:avLst>
          </a:prstGeom>
          <a:solidFill>
            <a:srgbClr val="FFFDF8"/>
          </a:solidFill>
          <a:ln w="9525">
            <a:solidFill>
              <a:srgbClr val="E8E3D7"/>
            </a:solidFill>
            <a:prstDash val="solid"/>
          </a:ln>
        </p:spPr>
        <p:txBody>
          <a:bodyPr/>
          <a:lstStyle/>
          <a:p>
            <a:endParaRPr lang="en-US"/>
          </a:p>
        </p:txBody>
      </p:sp>
      <p:sp>
        <p:nvSpPr>
          <p:cNvPr id="31" name="timeline-event-1-0">
            <a:extLst>
              <a:ext uri="{FF2B5EF4-FFF2-40B4-BE49-F238E27FC236}">
                <a16:creationId xmlns:a16="http://schemas.microsoft.com/office/drawing/2014/main" id="{AE4F536A-FFB3-4A5A-BDFB-B7A49610936E}"/>
              </a:ext>
            </a:extLst>
          </p:cNvPr>
          <p:cNvSpPr>
            <a:spLocks noGrp="1"/>
          </p:cNvSpPr>
          <p:nvPr/>
        </p:nvSpPr>
        <p:spPr>
          <a:xfrm>
            <a:off x="6457950" y="1847850"/>
            <a:ext cx="3924300" cy="419100"/>
          </a:xfrm>
          <a:prstGeom prst="rect">
            <a:avLst/>
          </a:prstGeom>
          <a:noFill/>
          <a:ln w="0">
            <a:noFill/>
            <a:prstDash val="solid"/>
          </a:ln>
        </p:spPr>
        <p:txBody>
          <a:bodyPr anchor="ctr"/>
          <a:lstStyle/>
          <a:p>
            <a:pPr algn="l">
              <a:defRPr sz="1163" b="0">
                <a:solidFill>
                  <a:srgbClr val="23323B"/>
                </a:solidFill>
              </a:defRPr>
            </a:pPr>
            <a:r>
              <a:rPr sz="1163" b="0">
                <a:solidFill>
                  <a:srgbClr val="23323B"/>
                </a:solidFill>
              </a:rPr>
              <a:t>Council of Jerusalem (Acts 15)</a:t>
            </a:r>
          </a:p>
        </p:txBody>
      </p:sp>
      <p:sp>
        <p:nvSpPr>
          <p:cNvPr id="32" name="timeline-date-1-0">
            <a:extLst>
              <a:ext uri="{FF2B5EF4-FFF2-40B4-BE49-F238E27FC236}">
                <a16:creationId xmlns:a16="http://schemas.microsoft.com/office/drawing/2014/main" id="{C62C40F2-6F4A-4C9D-A0E9-4AE27E340660}"/>
              </a:ext>
            </a:extLst>
          </p:cNvPr>
          <p:cNvSpPr>
            <a:spLocks noGrp="1"/>
          </p:cNvSpPr>
          <p:nvPr/>
        </p:nvSpPr>
        <p:spPr>
          <a:xfrm>
            <a:off x="10439400" y="1847850"/>
            <a:ext cx="838200" cy="419100"/>
          </a:xfrm>
          <a:prstGeom prst="rect">
            <a:avLst/>
          </a:prstGeom>
          <a:noFill/>
          <a:ln w="0">
            <a:noFill/>
            <a:prstDash val="solid"/>
          </a:ln>
        </p:spPr>
        <p:txBody>
          <a:bodyPr anchor="ctr"/>
          <a:lstStyle/>
          <a:p>
            <a:pPr algn="r">
              <a:defRPr sz="1125" b="1">
                <a:solidFill>
                  <a:srgbClr val="A34D36"/>
                </a:solidFill>
              </a:defRPr>
            </a:pPr>
            <a:r>
              <a:rPr sz="1125" b="1">
                <a:solidFill>
                  <a:srgbClr val="A34D36"/>
                </a:solidFill>
              </a:rPr>
              <a:t>49</a:t>
            </a:r>
          </a:p>
        </p:txBody>
      </p:sp>
      <p:sp>
        <p:nvSpPr>
          <p:cNvPr id="33" name="timeline-rule-1-1">
            <a:extLst>
              <a:ext uri="{FF2B5EF4-FFF2-40B4-BE49-F238E27FC236}">
                <a16:creationId xmlns:a16="http://schemas.microsoft.com/office/drawing/2014/main" id="{C483DCA6-E6E5-4B5A-8124-A5ED336BD2B4}"/>
              </a:ext>
            </a:extLst>
          </p:cNvPr>
          <p:cNvSpPr>
            <a:spLocks noGrp="1"/>
          </p:cNvSpPr>
          <p:nvPr/>
        </p:nvSpPr>
        <p:spPr>
          <a:xfrm>
            <a:off x="6438900" y="2286000"/>
            <a:ext cx="4857750" cy="9525"/>
          </a:xfrm>
          <a:prstGeom prst="rect">
            <a:avLst/>
          </a:prstGeom>
          <a:solidFill>
            <a:srgbClr val="E8E3D7"/>
          </a:solidFill>
          <a:ln w="0">
            <a:noFill/>
            <a:prstDash val="solid"/>
          </a:ln>
        </p:spPr>
        <p:txBody>
          <a:bodyPr/>
          <a:lstStyle/>
          <a:p>
            <a:endParaRPr lang="en-US"/>
          </a:p>
        </p:txBody>
      </p:sp>
      <p:sp>
        <p:nvSpPr>
          <p:cNvPr id="34" name="timeline-event-1-1">
            <a:extLst>
              <a:ext uri="{FF2B5EF4-FFF2-40B4-BE49-F238E27FC236}">
                <a16:creationId xmlns:a16="http://schemas.microsoft.com/office/drawing/2014/main" id="{B57011BA-9380-44F5-8F5A-A367E3789140}"/>
              </a:ext>
            </a:extLst>
          </p:cNvPr>
          <p:cNvSpPr>
            <a:spLocks noGrp="1"/>
          </p:cNvSpPr>
          <p:nvPr/>
        </p:nvSpPr>
        <p:spPr>
          <a:xfrm>
            <a:off x="6457950" y="2343150"/>
            <a:ext cx="3924300" cy="419100"/>
          </a:xfrm>
          <a:prstGeom prst="rect">
            <a:avLst/>
          </a:prstGeom>
          <a:noFill/>
          <a:ln w="0">
            <a:noFill/>
            <a:prstDash val="solid"/>
          </a:ln>
        </p:spPr>
        <p:txBody>
          <a:bodyPr anchor="ctr"/>
          <a:lstStyle/>
          <a:p>
            <a:pPr algn="l">
              <a:defRPr sz="1163" b="0">
                <a:solidFill>
                  <a:srgbClr val="23323B"/>
                </a:solidFill>
              </a:defRPr>
            </a:pPr>
            <a:r>
              <a:rPr sz="1163" b="0">
                <a:solidFill>
                  <a:srgbClr val="23323B"/>
                </a:solidFill>
              </a:rPr>
              <a:t>Paul and Silas travel from Antioch to Asia Minor, Macedonia, and Achaia (Acts 16–17)</a:t>
            </a:r>
          </a:p>
        </p:txBody>
      </p:sp>
      <p:sp>
        <p:nvSpPr>
          <p:cNvPr id="35" name="timeline-date-1-1">
            <a:extLst>
              <a:ext uri="{FF2B5EF4-FFF2-40B4-BE49-F238E27FC236}">
                <a16:creationId xmlns:a16="http://schemas.microsoft.com/office/drawing/2014/main" id="{3D40971B-88FE-4911-ADCE-770F5E967236}"/>
              </a:ext>
            </a:extLst>
          </p:cNvPr>
          <p:cNvSpPr>
            <a:spLocks noGrp="1"/>
          </p:cNvSpPr>
          <p:nvPr/>
        </p:nvSpPr>
        <p:spPr>
          <a:xfrm>
            <a:off x="10439400" y="2343150"/>
            <a:ext cx="838200" cy="419100"/>
          </a:xfrm>
          <a:prstGeom prst="rect">
            <a:avLst/>
          </a:prstGeom>
          <a:noFill/>
          <a:ln w="0">
            <a:noFill/>
            <a:prstDash val="solid"/>
          </a:ln>
        </p:spPr>
        <p:txBody>
          <a:bodyPr anchor="ctr"/>
          <a:lstStyle/>
          <a:p>
            <a:pPr algn="r">
              <a:defRPr sz="1125" b="1">
                <a:solidFill>
                  <a:srgbClr val="A34D36"/>
                </a:solidFill>
              </a:defRPr>
            </a:pPr>
            <a:r>
              <a:rPr sz="1125" b="1">
                <a:solidFill>
                  <a:srgbClr val="A34D36"/>
                </a:solidFill>
              </a:rPr>
              <a:t>49–50</a:t>
            </a:r>
          </a:p>
        </p:txBody>
      </p:sp>
      <p:sp>
        <p:nvSpPr>
          <p:cNvPr id="36" name="timeline-rule-1-2">
            <a:extLst>
              <a:ext uri="{FF2B5EF4-FFF2-40B4-BE49-F238E27FC236}">
                <a16:creationId xmlns:a16="http://schemas.microsoft.com/office/drawing/2014/main" id="{08638455-6184-4A90-9817-C009601F64AF}"/>
              </a:ext>
            </a:extLst>
          </p:cNvPr>
          <p:cNvSpPr>
            <a:spLocks noGrp="1"/>
          </p:cNvSpPr>
          <p:nvPr/>
        </p:nvSpPr>
        <p:spPr>
          <a:xfrm>
            <a:off x="6438900" y="2781300"/>
            <a:ext cx="4857750" cy="9525"/>
          </a:xfrm>
          <a:prstGeom prst="rect">
            <a:avLst/>
          </a:prstGeom>
          <a:solidFill>
            <a:srgbClr val="E8E3D7"/>
          </a:solidFill>
          <a:ln w="0">
            <a:noFill/>
            <a:prstDash val="solid"/>
          </a:ln>
        </p:spPr>
        <p:txBody>
          <a:bodyPr/>
          <a:lstStyle/>
          <a:p>
            <a:endParaRPr lang="en-US"/>
          </a:p>
        </p:txBody>
      </p:sp>
      <p:sp>
        <p:nvSpPr>
          <p:cNvPr id="37" name="timeline-event-1-2">
            <a:extLst>
              <a:ext uri="{FF2B5EF4-FFF2-40B4-BE49-F238E27FC236}">
                <a16:creationId xmlns:a16="http://schemas.microsoft.com/office/drawing/2014/main" id="{10B004F6-2EE0-4A93-B210-E8253F6FF690}"/>
              </a:ext>
            </a:extLst>
          </p:cNvPr>
          <p:cNvSpPr>
            <a:spLocks noGrp="1"/>
          </p:cNvSpPr>
          <p:nvPr/>
        </p:nvSpPr>
        <p:spPr>
          <a:xfrm>
            <a:off x="6457950" y="2838450"/>
            <a:ext cx="3924300" cy="419100"/>
          </a:xfrm>
          <a:prstGeom prst="rect">
            <a:avLst/>
          </a:prstGeom>
          <a:noFill/>
          <a:ln w="0">
            <a:noFill/>
            <a:prstDash val="solid"/>
          </a:ln>
        </p:spPr>
        <p:txBody>
          <a:bodyPr anchor="ctr"/>
          <a:lstStyle/>
          <a:p>
            <a:pPr algn="l">
              <a:defRPr sz="1163" b="0">
                <a:solidFill>
                  <a:srgbClr val="23323B"/>
                </a:solidFill>
              </a:defRPr>
            </a:pPr>
            <a:r>
              <a:rPr sz="1163" b="0">
                <a:solidFill>
                  <a:srgbClr val="23323B"/>
                </a:solidFill>
              </a:rPr>
              <a:t>Paul in Corinth (Acts 18:1–18)</a:t>
            </a:r>
          </a:p>
        </p:txBody>
      </p:sp>
      <p:sp>
        <p:nvSpPr>
          <p:cNvPr id="38" name="timeline-date-1-2">
            <a:extLst>
              <a:ext uri="{FF2B5EF4-FFF2-40B4-BE49-F238E27FC236}">
                <a16:creationId xmlns:a16="http://schemas.microsoft.com/office/drawing/2014/main" id="{FB66DA95-17C1-4C84-92FA-609B26C8807D}"/>
              </a:ext>
            </a:extLst>
          </p:cNvPr>
          <p:cNvSpPr>
            <a:spLocks noGrp="1"/>
          </p:cNvSpPr>
          <p:nvPr/>
        </p:nvSpPr>
        <p:spPr>
          <a:xfrm>
            <a:off x="10439400" y="2838450"/>
            <a:ext cx="838200" cy="419100"/>
          </a:xfrm>
          <a:prstGeom prst="rect">
            <a:avLst/>
          </a:prstGeom>
          <a:noFill/>
          <a:ln w="0">
            <a:noFill/>
            <a:prstDash val="solid"/>
          </a:ln>
        </p:spPr>
        <p:txBody>
          <a:bodyPr anchor="ctr"/>
          <a:lstStyle/>
          <a:p>
            <a:pPr algn="r">
              <a:defRPr sz="1125" b="1">
                <a:solidFill>
                  <a:srgbClr val="A34D36"/>
                </a:solidFill>
              </a:defRPr>
            </a:pPr>
            <a:r>
              <a:rPr sz="1125" b="1">
                <a:solidFill>
                  <a:srgbClr val="A34D36"/>
                </a:solidFill>
              </a:rPr>
              <a:t>50–52</a:t>
            </a:r>
          </a:p>
        </p:txBody>
      </p:sp>
      <p:sp>
        <p:nvSpPr>
          <p:cNvPr id="39" name="timeline-rule-1-3">
            <a:extLst>
              <a:ext uri="{FF2B5EF4-FFF2-40B4-BE49-F238E27FC236}">
                <a16:creationId xmlns:a16="http://schemas.microsoft.com/office/drawing/2014/main" id="{7B93D37B-F7A7-4343-A8CE-2F7478E0FF74}"/>
              </a:ext>
            </a:extLst>
          </p:cNvPr>
          <p:cNvSpPr>
            <a:spLocks noGrp="1"/>
          </p:cNvSpPr>
          <p:nvPr/>
        </p:nvSpPr>
        <p:spPr>
          <a:xfrm>
            <a:off x="6438900" y="3276600"/>
            <a:ext cx="4857750" cy="9525"/>
          </a:xfrm>
          <a:prstGeom prst="rect">
            <a:avLst/>
          </a:prstGeom>
          <a:solidFill>
            <a:srgbClr val="E8E3D7"/>
          </a:solidFill>
          <a:ln w="0">
            <a:noFill/>
            <a:prstDash val="solid"/>
          </a:ln>
        </p:spPr>
        <p:txBody>
          <a:bodyPr/>
          <a:lstStyle/>
          <a:p>
            <a:endParaRPr lang="en-US"/>
          </a:p>
        </p:txBody>
      </p:sp>
      <p:sp>
        <p:nvSpPr>
          <p:cNvPr id="40" name="timeline-event-1-3">
            <a:extLst>
              <a:ext uri="{FF2B5EF4-FFF2-40B4-BE49-F238E27FC236}">
                <a16:creationId xmlns:a16="http://schemas.microsoft.com/office/drawing/2014/main" id="{D4D7AD82-05DB-4EF4-B304-CFBB8115F21A}"/>
              </a:ext>
            </a:extLst>
          </p:cNvPr>
          <p:cNvSpPr>
            <a:spLocks noGrp="1"/>
          </p:cNvSpPr>
          <p:nvPr/>
        </p:nvSpPr>
        <p:spPr>
          <a:xfrm>
            <a:off x="6457950" y="3333750"/>
            <a:ext cx="3924300" cy="419100"/>
          </a:xfrm>
          <a:prstGeom prst="rect">
            <a:avLst/>
          </a:prstGeom>
          <a:noFill/>
          <a:ln w="0">
            <a:noFill/>
            <a:prstDash val="solid"/>
          </a:ln>
        </p:spPr>
        <p:txBody>
          <a:bodyPr anchor="ctr"/>
          <a:lstStyle/>
          <a:p>
            <a:pPr algn="l">
              <a:defRPr sz="1163" b="0">
                <a:solidFill>
                  <a:srgbClr val="23323B"/>
                </a:solidFill>
              </a:defRPr>
            </a:pPr>
            <a:r>
              <a:rPr sz="1163" b="0">
                <a:solidFill>
                  <a:srgbClr val="23323B"/>
                </a:solidFill>
              </a:rPr>
              <a:t>Paul visits Jerusalem</a:t>
            </a:r>
          </a:p>
        </p:txBody>
      </p:sp>
      <p:sp>
        <p:nvSpPr>
          <p:cNvPr id="41" name="timeline-date-1-3">
            <a:extLst>
              <a:ext uri="{FF2B5EF4-FFF2-40B4-BE49-F238E27FC236}">
                <a16:creationId xmlns:a16="http://schemas.microsoft.com/office/drawing/2014/main" id="{8E1DCD49-7AE5-49B1-86BE-238E4FF1FD36}"/>
              </a:ext>
            </a:extLst>
          </p:cNvPr>
          <p:cNvSpPr>
            <a:spLocks noGrp="1"/>
          </p:cNvSpPr>
          <p:nvPr/>
        </p:nvSpPr>
        <p:spPr>
          <a:xfrm>
            <a:off x="10439400" y="3333750"/>
            <a:ext cx="838200" cy="419100"/>
          </a:xfrm>
          <a:prstGeom prst="rect">
            <a:avLst/>
          </a:prstGeom>
          <a:noFill/>
          <a:ln w="0">
            <a:noFill/>
            <a:prstDash val="solid"/>
          </a:ln>
        </p:spPr>
        <p:txBody>
          <a:bodyPr anchor="ctr"/>
          <a:lstStyle/>
          <a:p>
            <a:pPr algn="r">
              <a:defRPr sz="1125" b="1">
                <a:solidFill>
                  <a:srgbClr val="A34D36"/>
                </a:solidFill>
              </a:defRPr>
            </a:pPr>
            <a:r>
              <a:rPr sz="1125" b="1">
                <a:solidFill>
                  <a:srgbClr val="A34D36"/>
                </a:solidFill>
              </a:rPr>
              <a:t>52</a:t>
            </a:r>
          </a:p>
        </p:txBody>
      </p:sp>
      <p:sp>
        <p:nvSpPr>
          <p:cNvPr id="42" name="timeline-rule-1-4">
            <a:extLst>
              <a:ext uri="{FF2B5EF4-FFF2-40B4-BE49-F238E27FC236}">
                <a16:creationId xmlns:a16="http://schemas.microsoft.com/office/drawing/2014/main" id="{B9046B77-E4C7-4E9A-904C-A148FFB9FB95}"/>
              </a:ext>
            </a:extLst>
          </p:cNvPr>
          <p:cNvSpPr>
            <a:spLocks noGrp="1"/>
          </p:cNvSpPr>
          <p:nvPr/>
        </p:nvSpPr>
        <p:spPr>
          <a:xfrm>
            <a:off x="6438900" y="3771900"/>
            <a:ext cx="4857750" cy="9525"/>
          </a:xfrm>
          <a:prstGeom prst="rect">
            <a:avLst/>
          </a:prstGeom>
          <a:solidFill>
            <a:srgbClr val="E8E3D7"/>
          </a:solidFill>
          <a:ln w="0">
            <a:noFill/>
            <a:prstDash val="solid"/>
          </a:ln>
        </p:spPr>
        <p:txBody>
          <a:bodyPr/>
          <a:lstStyle/>
          <a:p>
            <a:endParaRPr lang="en-US"/>
          </a:p>
        </p:txBody>
      </p:sp>
      <p:sp>
        <p:nvSpPr>
          <p:cNvPr id="43" name="timeline-event-1-4">
            <a:extLst>
              <a:ext uri="{FF2B5EF4-FFF2-40B4-BE49-F238E27FC236}">
                <a16:creationId xmlns:a16="http://schemas.microsoft.com/office/drawing/2014/main" id="{638DB1DC-A27D-4E3C-923F-D3D7A4242368}"/>
              </a:ext>
            </a:extLst>
          </p:cNvPr>
          <p:cNvSpPr>
            <a:spLocks noGrp="1"/>
          </p:cNvSpPr>
          <p:nvPr/>
        </p:nvSpPr>
        <p:spPr>
          <a:xfrm>
            <a:off x="6457950" y="3829050"/>
            <a:ext cx="3924300" cy="419100"/>
          </a:xfrm>
          <a:prstGeom prst="rect">
            <a:avLst/>
          </a:prstGeom>
          <a:noFill/>
          <a:ln w="0">
            <a:noFill/>
            <a:prstDash val="solid"/>
          </a:ln>
        </p:spPr>
        <p:txBody>
          <a:bodyPr anchor="ctr"/>
          <a:lstStyle/>
          <a:p>
            <a:pPr algn="l">
              <a:defRPr sz="1163" b="0">
                <a:solidFill>
                  <a:srgbClr val="23323B"/>
                </a:solidFill>
              </a:defRPr>
            </a:pPr>
            <a:r>
              <a:rPr sz="1163" b="0">
                <a:solidFill>
                  <a:srgbClr val="23323B"/>
                </a:solidFill>
              </a:rPr>
              <a:t>Paul in Ephesus (Acts 19)</a:t>
            </a:r>
          </a:p>
        </p:txBody>
      </p:sp>
      <p:sp>
        <p:nvSpPr>
          <p:cNvPr id="44" name="timeline-date-1-4">
            <a:extLst>
              <a:ext uri="{FF2B5EF4-FFF2-40B4-BE49-F238E27FC236}">
                <a16:creationId xmlns:a16="http://schemas.microsoft.com/office/drawing/2014/main" id="{2F689BBB-F0FD-4350-B22D-63C4F40027BD}"/>
              </a:ext>
            </a:extLst>
          </p:cNvPr>
          <p:cNvSpPr>
            <a:spLocks noGrp="1"/>
          </p:cNvSpPr>
          <p:nvPr/>
        </p:nvSpPr>
        <p:spPr>
          <a:xfrm>
            <a:off x="10439400" y="3829050"/>
            <a:ext cx="838200" cy="419100"/>
          </a:xfrm>
          <a:prstGeom prst="rect">
            <a:avLst/>
          </a:prstGeom>
          <a:noFill/>
          <a:ln w="0">
            <a:noFill/>
            <a:prstDash val="solid"/>
          </a:ln>
        </p:spPr>
        <p:txBody>
          <a:bodyPr anchor="ctr"/>
          <a:lstStyle/>
          <a:p>
            <a:pPr algn="r">
              <a:defRPr sz="1125" b="1">
                <a:solidFill>
                  <a:srgbClr val="A34D36"/>
                </a:solidFill>
              </a:defRPr>
            </a:pPr>
            <a:r>
              <a:rPr sz="1125" b="1">
                <a:solidFill>
                  <a:srgbClr val="A34D36"/>
                </a:solidFill>
              </a:rPr>
              <a:t>52–55</a:t>
            </a:r>
          </a:p>
        </p:txBody>
      </p:sp>
      <p:sp>
        <p:nvSpPr>
          <p:cNvPr id="45" name="timeline-rule-1-5">
            <a:extLst>
              <a:ext uri="{FF2B5EF4-FFF2-40B4-BE49-F238E27FC236}">
                <a16:creationId xmlns:a16="http://schemas.microsoft.com/office/drawing/2014/main" id="{0DB73978-F0C0-4A03-9C09-8114841EB392}"/>
              </a:ext>
            </a:extLst>
          </p:cNvPr>
          <p:cNvSpPr>
            <a:spLocks noGrp="1"/>
          </p:cNvSpPr>
          <p:nvPr/>
        </p:nvSpPr>
        <p:spPr>
          <a:xfrm>
            <a:off x="6438900" y="4267200"/>
            <a:ext cx="4857750" cy="9525"/>
          </a:xfrm>
          <a:prstGeom prst="rect">
            <a:avLst/>
          </a:prstGeom>
          <a:solidFill>
            <a:srgbClr val="E8E3D7"/>
          </a:solidFill>
          <a:ln w="0">
            <a:noFill/>
            <a:prstDash val="solid"/>
          </a:ln>
        </p:spPr>
        <p:txBody>
          <a:bodyPr/>
          <a:lstStyle/>
          <a:p>
            <a:endParaRPr lang="en-US"/>
          </a:p>
        </p:txBody>
      </p:sp>
      <p:sp>
        <p:nvSpPr>
          <p:cNvPr id="46" name="timeline-event-1-5">
            <a:extLst>
              <a:ext uri="{FF2B5EF4-FFF2-40B4-BE49-F238E27FC236}">
                <a16:creationId xmlns:a16="http://schemas.microsoft.com/office/drawing/2014/main" id="{6BDAA9BB-5343-4E0F-A0A3-1D0FBB225B9E}"/>
              </a:ext>
            </a:extLst>
          </p:cNvPr>
          <p:cNvSpPr>
            <a:spLocks noGrp="1"/>
          </p:cNvSpPr>
          <p:nvPr/>
        </p:nvSpPr>
        <p:spPr>
          <a:xfrm>
            <a:off x="6457950" y="4324350"/>
            <a:ext cx="3924300" cy="419100"/>
          </a:xfrm>
          <a:prstGeom prst="rect">
            <a:avLst/>
          </a:prstGeom>
          <a:noFill/>
          <a:ln w="0">
            <a:noFill/>
            <a:prstDash val="solid"/>
          </a:ln>
        </p:spPr>
        <p:txBody>
          <a:bodyPr anchor="ctr"/>
          <a:lstStyle/>
          <a:p>
            <a:pPr algn="l">
              <a:defRPr sz="1163" b="0">
                <a:solidFill>
                  <a:srgbClr val="23323B"/>
                </a:solidFill>
              </a:defRPr>
            </a:pPr>
            <a:r>
              <a:rPr sz="1163" b="0">
                <a:solidFill>
                  <a:srgbClr val="23323B"/>
                </a:solidFill>
              </a:rPr>
              <a:t>Paul travels to Macedonia, Dalmatia, and Achaia (Acts 20)</a:t>
            </a:r>
          </a:p>
        </p:txBody>
      </p:sp>
      <p:sp>
        <p:nvSpPr>
          <p:cNvPr id="47" name="timeline-date-1-5">
            <a:extLst>
              <a:ext uri="{FF2B5EF4-FFF2-40B4-BE49-F238E27FC236}">
                <a16:creationId xmlns:a16="http://schemas.microsoft.com/office/drawing/2014/main" id="{F37CAC29-2E4D-4D9D-A55E-11057441652F}"/>
              </a:ext>
            </a:extLst>
          </p:cNvPr>
          <p:cNvSpPr>
            <a:spLocks noGrp="1"/>
          </p:cNvSpPr>
          <p:nvPr/>
        </p:nvSpPr>
        <p:spPr>
          <a:xfrm>
            <a:off x="10439400" y="4324350"/>
            <a:ext cx="838200" cy="419100"/>
          </a:xfrm>
          <a:prstGeom prst="rect">
            <a:avLst/>
          </a:prstGeom>
          <a:noFill/>
          <a:ln w="0">
            <a:noFill/>
            <a:prstDash val="solid"/>
          </a:ln>
        </p:spPr>
        <p:txBody>
          <a:bodyPr anchor="ctr"/>
          <a:lstStyle/>
          <a:p>
            <a:pPr algn="r">
              <a:defRPr sz="1125" b="1">
                <a:solidFill>
                  <a:srgbClr val="A34D36"/>
                </a:solidFill>
              </a:defRPr>
            </a:pPr>
            <a:r>
              <a:rPr sz="1125" b="1">
                <a:solidFill>
                  <a:srgbClr val="A34D36"/>
                </a:solidFill>
              </a:rPr>
              <a:t>55–57</a:t>
            </a:r>
          </a:p>
        </p:txBody>
      </p:sp>
      <p:sp>
        <p:nvSpPr>
          <p:cNvPr id="48" name="timeline-rule-1-6">
            <a:extLst>
              <a:ext uri="{FF2B5EF4-FFF2-40B4-BE49-F238E27FC236}">
                <a16:creationId xmlns:a16="http://schemas.microsoft.com/office/drawing/2014/main" id="{627AF639-975F-4353-B7BC-C0163C85988B}"/>
              </a:ext>
            </a:extLst>
          </p:cNvPr>
          <p:cNvSpPr>
            <a:spLocks noGrp="1"/>
          </p:cNvSpPr>
          <p:nvPr/>
        </p:nvSpPr>
        <p:spPr>
          <a:xfrm>
            <a:off x="6438900" y="4762500"/>
            <a:ext cx="4857750" cy="9525"/>
          </a:xfrm>
          <a:prstGeom prst="rect">
            <a:avLst/>
          </a:prstGeom>
          <a:solidFill>
            <a:srgbClr val="E8E3D7"/>
          </a:solidFill>
          <a:ln w="0">
            <a:noFill/>
            <a:prstDash val="solid"/>
          </a:ln>
        </p:spPr>
        <p:txBody>
          <a:bodyPr/>
          <a:lstStyle/>
          <a:p>
            <a:endParaRPr lang="en-US"/>
          </a:p>
        </p:txBody>
      </p:sp>
      <p:sp>
        <p:nvSpPr>
          <p:cNvPr id="49" name="timeline-event-1-6">
            <a:extLst>
              <a:ext uri="{FF2B5EF4-FFF2-40B4-BE49-F238E27FC236}">
                <a16:creationId xmlns:a16="http://schemas.microsoft.com/office/drawing/2014/main" id="{4AF0369B-B7E4-41C9-8C78-3534CDAD74C3}"/>
              </a:ext>
            </a:extLst>
          </p:cNvPr>
          <p:cNvSpPr>
            <a:spLocks noGrp="1"/>
          </p:cNvSpPr>
          <p:nvPr/>
        </p:nvSpPr>
        <p:spPr>
          <a:xfrm>
            <a:off x="6457950" y="4819650"/>
            <a:ext cx="3924300" cy="419100"/>
          </a:xfrm>
          <a:prstGeom prst="rect">
            <a:avLst/>
          </a:prstGeom>
          <a:noFill/>
          <a:ln w="0">
            <a:noFill/>
            <a:prstDash val="solid"/>
          </a:ln>
        </p:spPr>
        <p:txBody>
          <a:bodyPr anchor="ctr"/>
          <a:lstStyle/>
          <a:p>
            <a:pPr algn="l">
              <a:defRPr sz="1163" b="0">
                <a:solidFill>
                  <a:srgbClr val="23323B"/>
                </a:solidFill>
              </a:defRPr>
            </a:pPr>
            <a:r>
              <a:rPr sz="1163" b="0">
                <a:solidFill>
                  <a:srgbClr val="23323B"/>
                </a:solidFill>
              </a:rPr>
              <a:t>Paul to Jerusalem (Acts 21:1–23:22)</a:t>
            </a:r>
          </a:p>
        </p:txBody>
      </p:sp>
      <p:sp>
        <p:nvSpPr>
          <p:cNvPr id="50" name="timeline-date-1-6">
            <a:extLst>
              <a:ext uri="{FF2B5EF4-FFF2-40B4-BE49-F238E27FC236}">
                <a16:creationId xmlns:a16="http://schemas.microsoft.com/office/drawing/2014/main" id="{053B250D-7D01-4867-AE44-70D768705CF1}"/>
              </a:ext>
            </a:extLst>
          </p:cNvPr>
          <p:cNvSpPr>
            <a:spLocks noGrp="1"/>
          </p:cNvSpPr>
          <p:nvPr/>
        </p:nvSpPr>
        <p:spPr>
          <a:xfrm>
            <a:off x="10439400" y="4819650"/>
            <a:ext cx="838200" cy="419100"/>
          </a:xfrm>
          <a:prstGeom prst="rect">
            <a:avLst/>
          </a:prstGeom>
          <a:noFill/>
          <a:ln w="0">
            <a:noFill/>
            <a:prstDash val="solid"/>
          </a:ln>
        </p:spPr>
        <p:txBody>
          <a:bodyPr anchor="ctr"/>
          <a:lstStyle/>
          <a:p>
            <a:pPr algn="r">
              <a:defRPr sz="1125" b="1">
                <a:solidFill>
                  <a:srgbClr val="A34D36"/>
                </a:solidFill>
              </a:defRPr>
            </a:pPr>
            <a:r>
              <a:rPr sz="1125" b="1">
                <a:solidFill>
                  <a:srgbClr val="A34D36"/>
                </a:solidFill>
              </a:rPr>
              <a:t>May 57</a:t>
            </a:r>
          </a:p>
        </p:txBody>
      </p:sp>
      <p:sp>
        <p:nvSpPr>
          <p:cNvPr id="51" name="timeline-rule-1-7">
            <a:extLst>
              <a:ext uri="{FF2B5EF4-FFF2-40B4-BE49-F238E27FC236}">
                <a16:creationId xmlns:a16="http://schemas.microsoft.com/office/drawing/2014/main" id="{AD5E701D-8126-45A1-BA95-DA03EBA238C3}"/>
              </a:ext>
            </a:extLst>
          </p:cNvPr>
          <p:cNvSpPr>
            <a:spLocks noGrp="1"/>
          </p:cNvSpPr>
          <p:nvPr/>
        </p:nvSpPr>
        <p:spPr>
          <a:xfrm>
            <a:off x="6438900" y="5257800"/>
            <a:ext cx="4857750" cy="9525"/>
          </a:xfrm>
          <a:prstGeom prst="rect">
            <a:avLst/>
          </a:prstGeom>
          <a:solidFill>
            <a:srgbClr val="E8E3D7"/>
          </a:solidFill>
          <a:ln w="0">
            <a:noFill/>
            <a:prstDash val="solid"/>
          </a:ln>
        </p:spPr>
        <p:txBody>
          <a:bodyPr/>
          <a:lstStyle/>
          <a:p>
            <a:endParaRPr lang="en-US"/>
          </a:p>
        </p:txBody>
      </p:sp>
      <p:sp>
        <p:nvSpPr>
          <p:cNvPr id="52" name="timeline-event-1-7">
            <a:extLst>
              <a:ext uri="{FF2B5EF4-FFF2-40B4-BE49-F238E27FC236}">
                <a16:creationId xmlns:a16="http://schemas.microsoft.com/office/drawing/2014/main" id="{2DE0565B-A511-4A7A-A0D7-EE442E3D6EC3}"/>
              </a:ext>
            </a:extLst>
          </p:cNvPr>
          <p:cNvSpPr>
            <a:spLocks noGrp="1"/>
          </p:cNvSpPr>
          <p:nvPr/>
        </p:nvSpPr>
        <p:spPr>
          <a:xfrm>
            <a:off x="6457950" y="5314950"/>
            <a:ext cx="3924300" cy="419100"/>
          </a:xfrm>
          <a:prstGeom prst="rect">
            <a:avLst/>
          </a:prstGeom>
          <a:noFill/>
          <a:ln w="0">
            <a:noFill/>
            <a:prstDash val="solid"/>
          </a:ln>
        </p:spPr>
        <p:txBody>
          <a:bodyPr anchor="ctr"/>
          <a:lstStyle/>
          <a:p>
            <a:pPr algn="l">
              <a:defRPr sz="1163" b="0">
                <a:solidFill>
                  <a:srgbClr val="23323B"/>
                </a:solidFill>
              </a:defRPr>
            </a:pPr>
            <a:r>
              <a:rPr sz="1163" b="0">
                <a:solidFill>
                  <a:srgbClr val="23323B"/>
                </a:solidFill>
              </a:rPr>
              <a:t>Paul imprisoned in Caesarea (Acts 23:23–26:32)</a:t>
            </a:r>
          </a:p>
        </p:txBody>
      </p:sp>
      <p:sp>
        <p:nvSpPr>
          <p:cNvPr id="53" name="timeline-date-1-7">
            <a:extLst>
              <a:ext uri="{FF2B5EF4-FFF2-40B4-BE49-F238E27FC236}">
                <a16:creationId xmlns:a16="http://schemas.microsoft.com/office/drawing/2014/main" id="{00E77D09-F512-471C-B54D-746A378B294E}"/>
              </a:ext>
            </a:extLst>
          </p:cNvPr>
          <p:cNvSpPr>
            <a:spLocks noGrp="1"/>
          </p:cNvSpPr>
          <p:nvPr/>
        </p:nvSpPr>
        <p:spPr>
          <a:xfrm>
            <a:off x="10439400" y="5314950"/>
            <a:ext cx="838200" cy="419100"/>
          </a:xfrm>
          <a:prstGeom prst="rect">
            <a:avLst/>
          </a:prstGeom>
          <a:noFill/>
          <a:ln w="0">
            <a:noFill/>
            <a:prstDash val="solid"/>
          </a:ln>
        </p:spPr>
        <p:txBody>
          <a:bodyPr anchor="ctr"/>
          <a:lstStyle/>
          <a:p>
            <a:pPr algn="r">
              <a:defRPr sz="1125" b="1">
                <a:solidFill>
                  <a:srgbClr val="A34D36"/>
                </a:solidFill>
              </a:defRPr>
            </a:pPr>
            <a:r>
              <a:rPr sz="1125" b="1">
                <a:solidFill>
                  <a:srgbClr val="A34D36"/>
                </a:solidFill>
              </a:rPr>
              <a:t>57–59</a:t>
            </a:r>
          </a:p>
        </p:txBody>
      </p:sp>
      <p:sp>
        <p:nvSpPr>
          <p:cNvPr id="54" name="timeline-rule-1-8">
            <a:extLst>
              <a:ext uri="{FF2B5EF4-FFF2-40B4-BE49-F238E27FC236}">
                <a16:creationId xmlns:a16="http://schemas.microsoft.com/office/drawing/2014/main" id="{3146A4D7-E892-4672-9507-A7F620CA2868}"/>
              </a:ext>
            </a:extLst>
          </p:cNvPr>
          <p:cNvSpPr>
            <a:spLocks noGrp="1"/>
          </p:cNvSpPr>
          <p:nvPr/>
        </p:nvSpPr>
        <p:spPr>
          <a:xfrm>
            <a:off x="6438900" y="5753100"/>
            <a:ext cx="4857750" cy="9525"/>
          </a:xfrm>
          <a:prstGeom prst="rect">
            <a:avLst/>
          </a:prstGeom>
          <a:solidFill>
            <a:srgbClr val="E8E3D7"/>
          </a:solidFill>
          <a:ln w="0">
            <a:noFill/>
            <a:prstDash val="solid"/>
          </a:ln>
        </p:spPr>
        <p:txBody>
          <a:bodyPr/>
          <a:lstStyle/>
          <a:p>
            <a:endParaRPr lang="en-US"/>
          </a:p>
        </p:txBody>
      </p:sp>
      <p:sp>
        <p:nvSpPr>
          <p:cNvPr id="55" name="timeline-event-1-8">
            <a:extLst>
              <a:ext uri="{FF2B5EF4-FFF2-40B4-BE49-F238E27FC236}">
                <a16:creationId xmlns:a16="http://schemas.microsoft.com/office/drawing/2014/main" id="{A6054732-F7BA-4B38-A311-216C6A052EE3}"/>
              </a:ext>
            </a:extLst>
          </p:cNvPr>
          <p:cNvSpPr>
            <a:spLocks noGrp="1"/>
          </p:cNvSpPr>
          <p:nvPr/>
        </p:nvSpPr>
        <p:spPr>
          <a:xfrm>
            <a:off x="6457950" y="5810250"/>
            <a:ext cx="3924300" cy="419100"/>
          </a:xfrm>
          <a:prstGeom prst="rect">
            <a:avLst/>
          </a:prstGeom>
          <a:noFill/>
          <a:ln w="0">
            <a:noFill/>
            <a:prstDash val="solid"/>
          </a:ln>
        </p:spPr>
        <p:txBody>
          <a:bodyPr anchor="ctr"/>
          <a:lstStyle/>
          <a:p>
            <a:pPr algn="l">
              <a:defRPr sz="1163" b="0">
                <a:solidFill>
                  <a:srgbClr val="23323B"/>
                </a:solidFill>
              </a:defRPr>
            </a:pPr>
            <a:r>
              <a:rPr sz="1163" b="0">
                <a:solidFill>
                  <a:srgbClr val="23323B"/>
                </a:solidFill>
              </a:rPr>
              <a:t>Paul sent to house arrest in Rome (Acts 27:1–28:31)</a:t>
            </a:r>
          </a:p>
        </p:txBody>
      </p:sp>
      <p:sp>
        <p:nvSpPr>
          <p:cNvPr id="56" name="timeline-date-1-8">
            <a:extLst>
              <a:ext uri="{FF2B5EF4-FFF2-40B4-BE49-F238E27FC236}">
                <a16:creationId xmlns:a16="http://schemas.microsoft.com/office/drawing/2014/main" id="{DA2F156E-A690-44D8-B9DF-C1759CD5A0DE}"/>
              </a:ext>
            </a:extLst>
          </p:cNvPr>
          <p:cNvSpPr>
            <a:spLocks noGrp="1"/>
          </p:cNvSpPr>
          <p:nvPr/>
        </p:nvSpPr>
        <p:spPr>
          <a:xfrm>
            <a:off x="10439400" y="5810250"/>
            <a:ext cx="838200" cy="419100"/>
          </a:xfrm>
          <a:prstGeom prst="rect">
            <a:avLst/>
          </a:prstGeom>
          <a:noFill/>
          <a:ln w="0">
            <a:noFill/>
            <a:prstDash val="solid"/>
          </a:ln>
        </p:spPr>
        <p:txBody>
          <a:bodyPr anchor="ctr"/>
          <a:lstStyle/>
          <a:p>
            <a:pPr algn="r">
              <a:defRPr sz="1125" b="1">
                <a:solidFill>
                  <a:srgbClr val="A34D36"/>
                </a:solidFill>
              </a:defRPr>
            </a:pPr>
            <a:r>
              <a:rPr sz="1125" b="1">
                <a:solidFill>
                  <a:srgbClr val="A34D36"/>
                </a:solidFill>
              </a:rPr>
              <a:t>59–62</a:t>
            </a:r>
          </a:p>
        </p:txBody>
      </p:sp>
    </p:spTree>
    <p:extLst>
      <p:ext uri="{BB962C8B-B14F-4D97-AF65-F5344CB8AC3E}">
        <p14:creationId xmlns:p14="http://schemas.microsoft.com/office/powerpoint/2010/main" val="455341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0" name="top-rule">
            <a:extLst>
              <a:ext uri="{FF2B5EF4-FFF2-40B4-BE49-F238E27FC236}">
                <a16:creationId xmlns:a16="http://schemas.microsoft.com/office/drawing/2014/main" id="{92D7868B-0D99-4B36-8380-B1C2E1AC6699}"/>
              </a:ext>
            </a:extLst>
          </p:cNvPr>
          <p:cNvSpPr>
            <a:spLocks noGrp="1"/>
          </p:cNvSpPr>
          <p:nvPr/>
        </p:nvSpPr>
        <p:spPr>
          <a:xfrm>
            <a:off x="0" y="0"/>
            <a:ext cx="12192000" cy="114300"/>
          </a:xfrm>
          <a:prstGeom prst="rect">
            <a:avLst/>
          </a:prstGeom>
          <a:solidFill>
            <a:srgbClr val="C59A3D"/>
          </a:solidFill>
          <a:ln w="0">
            <a:noFill/>
            <a:prstDash val="solid"/>
          </a:ln>
        </p:spPr>
        <p:txBody>
          <a:bodyPr/>
          <a:lstStyle/>
          <a:p>
            <a:endParaRPr lang="en-US"/>
          </a:p>
        </p:txBody>
      </p:sp>
      <p:sp>
        <p:nvSpPr>
          <p:cNvPr id="2" name="section">
            <a:extLst>
              <a:ext uri="{FF2B5EF4-FFF2-40B4-BE49-F238E27FC236}">
                <a16:creationId xmlns:a16="http://schemas.microsoft.com/office/drawing/2014/main" id="{DD328C2B-54EC-4FF5-9A04-2E0D8A1DF050}"/>
              </a:ext>
            </a:extLst>
          </p:cNvPr>
          <p:cNvSpPr>
            <a:spLocks noGrp="1"/>
          </p:cNvSpPr>
          <p:nvPr/>
        </p:nvSpPr>
        <p:spPr>
          <a:xfrm>
            <a:off x="685800" y="266700"/>
            <a:ext cx="5715000" cy="28575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QUESTION 1</a:t>
            </a:r>
          </a:p>
        </p:txBody>
      </p:sp>
      <p:sp>
        <p:nvSpPr>
          <p:cNvPr id="3" name="slide-number">
            <a:extLst>
              <a:ext uri="{FF2B5EF4-FFF2-40B4-BE49-F238E27FC236}">
                <a16:creationId xmlns:a16="http://schemas.microsoft.com/office/drawing/2014/main" id="{1C224CA6-BFB3-429E-8549-9E081B3BD205}"/>
              </a:ext>
            </a:extLst>
          </p:cNvPr>
          <p:cNvSpPr>
            <a:spLocks noGrp="1"/>
          </p:cNvSpPr>
          <p:nvPr/>
        </p:nvSpPr>
        <p:spPr>
          <a:xfrm>
            <a:off x="11096625" y="266700"/>
            <a:ext cx="419100" cy="285750"/>
          </a:xfrm>
          <a:prstGeom prst="rect">
            <a:avLst/>
          </a:prstGeom>
          <a:noFill/>
          <a:ln w="0">
            <a:noFill/>
            <a:prstDash val="solid"/>
          </a:ln>
        </p:spPr>
        <p:txBody>
          <a:bodyPr anchor="ctr"/>
          <a:lstStyle/>
          <a:p>
            <a:pPr algn="r">
              <a:defRPr sz="1200" b="1">
                <a:solidFill>
                  <a:srgbClr val="61717A"/>
                </a:solidFill>
              </a:defRPr>
            </a:pPr>
            <a:r>
              <a:rPr sz="1200" b="1">
                <a:solidFill>
                  <a:srgbClr val="61717A"/>
                </a:solidFill>
              </a:rPr>
              <a:t>03</a:t>
            </a:r>
          </a:p>
        </p:txBody>
      </p:sp>
      <p:sp>
        <p:nvSpPr>
          <p:cNvPr id="4" name="question-number">
            <a:extLst>
              <a:ext uri="{FF2B5EF4-FFF2-40B4-BE49-F238E27FC236}">
                <a16:creationId xmlns:a16="http://schemas.microsoft.com/office/drawing/2014/main" id="{044CBBFD-9659-4F56-8864-32FC44C6D508}"/>
              </a:ext>
            </a:extLst>
          </p:cNvPr>
          <p:cNvSpPr>
            <a:spLocks noGrp="1"/>
          </p:cNvSpPr>
          <p:nvPr/>
        </p:nvSpPr>
        <p:spPr>
          <a:xfrm>
            <a:off x="685800" y="876300"/>
            <a:ext cx="1428750" cy="914400"/>
          </a:xfrm>
          <a:prstGeom prst="rect">
            <a:avLst/>
          </a:prstGeom>
          <a:noFill/>
          <a:ln w="0">
            <a:noFill/>
            <a:prstDash val="solid"/>
          </a:ln>
        </p:spPr>
        <p:txBody>
          <a:bodyPr anchor="ctr"/>
          <a:lstStyle/>
          <a:p>
            <a:pPr algn="l">
              <a:defRPr sz="5400" b="1">
                <a:solidFill>
                  <a:srgbClr val="C59A3D"/>
                </a:solidFill>
              </a:defRPr>
            </a:pPr>
            <a:r>
              <a:rPr sz="5400" b="1">
                <a:solidFill>
                  <a:srgbClr val="C59A3D"/>
                </a:solidFill>
              </a:rPr>
              <a:t>Q1</a:t>
            </a:r>
          </a:p>
        </p:txBody>
      </p:sp>
      <p:sp>
        <p:nvSpPr>
          <p:cNvPr id="5" name="question-title">
            <a:extLst>
              <a:ext uri="{FF2B5EF4-FFF2-40B4-BE49-F238E27FC236}">
                <a16:creationId xmlns:a16="http://schemas.microsoft.com/office/drawing/2014/main" id="{7B4A3F3E-8C21-444D-88A6-FDAE516DBE98}"/>
              </a:ext>
            </a:extLst>
          </p:cNvPr>
          <p:cNvSpPr>
            <a:spLocks noGrp="1"/>
          </p:cNvSpPr>
          <p:nvPr/>
        </p:nvSpPr>
        <p:spPr>
          <a:xfrm>
            <a:off x="2143125" y="904875"/>
            <a:ext cx="9048750" cy="762000"/>
          </a:xfrm>
          <a:prstGeom prst="rect">
            <a:avLst/>
          </a:prstGeom>
          <a:noFill/>
          <a:ln w="0">
            <a:noFill/>
            <a:prstDash val="solid"/>
          </a:ln>
        </p:spPr>
        <p:txBody>
          <a:bodyPr anchor="ctr"/>
          <a:lstStyle/>
          <a:p>
            <a:pPr algn="l">
              <a:defRPr sz="2850" b="1">
                <a:solidFill>
                  <a:srgbClr val="142B3B"/>
                </a:solidFill>
              </a:defRPr>
            </a:pPr>
            <a:r>
              <a:rPr sz="2850" b="1">
                <a:solidFill>
                  <a:srgbClr val="142B3B"/>
                </a:solidFill>
              </a:rPr>
              <a:t>Luke’s purpose for Luke–Acts</a:t>
            </a:r>
          </a:p>
        </p:txBody>
      </p:sp>
      <p:sp>
        <p:nvSpPr>
          <p:cNvPr id="6" name="question-field">
            <a:extLst>
              <a:ext uri="{FF2B5EF4-FFF2-40B4-BE49-F238E27FC236}">
                <a16:creationId xmlns:a16="http://schemas.microsoft.com/office/drawing/2014/main" id="{AE67FC5E-3219-4FC0-8608-A95053366216}"/>
              </a:ext>
            </a:extLst>
          </p:cNvPr>
          <p:cNvSpPr>
            <a:spLocks noGrp="1"/>
          </p:cNvSpPr>
          <p:nvPr/>
        </p:nvSpPr>
        <p:spPr>
          <a:xfrm>
            <a:off x="685800" y="1952625"/>
            <a:ext cx="10820400" cy="3143250"/>
          </a:xfrm>
          <a:prstGeom prst="roundRect">
            <a:avLst>
              <a:gd name="adj" fmla="val 3636"/>
            </a:avLst>
          </a:prstGeom>
          <a:solidFill>
            <a:srgbClr val="FFFDF8"/>
          </a:solidFill>
          <a:ln w="9525">
            <a:solidFill>
              <a:srgbClr val="E8E3D7"/>
            </a:solidFill>
            <a:prstDash val="solid"/>
          </a:ln>
        </p:spPr>
        <p:txBody>
          <a:bodyPr/>
          <a:lstStyle/>
          <a:p>
            <a:endParaRPr lang="en-US"/>
          </a:p>
        </p:txBody>
      </p:sp>
      <p:sp>
        <p:nvSpPr>
          <p:cNvPr id="7" name="question">
            <a:extLst>
              <a:ext uri="{FF2B5EF4-FFF2-40B4-BE49-F238E27FC236}">
                <a16:creationId xmlns:a16="http://schemas.microsoft.com/office/drawing/2014/main" id="{A7B7397C-009D-4038-887F-729F9A1AA55B}"/>
              </a:ext>
            </a:extLst>
          </p:cNvPr>
          <p:cNvSpPr>
            <a:spLocks noGrp="1"/>
          </p:cNvSpPr>
          <p:nvPr/>
        </p:nvSpPr>
        <p:spPr>
          <a:xfrm>
            <a:off x="1162050" y="2238375"/>
            <a:ext cx="9867900" cy="2571750"/>
          </a:xfrm>
          <a:prstGeom prst="rect">
            <a:avLst/>
          </a:prstGeom>
          <a:noFill/>
          <a:ln w="0">
            <a:noFill/>
            <a:prstDash val="solid"/>
          </a:ln>
        </p:spPr>
        <p:txBody>
          <a:bodyPr anchor="ctr"/>
          <a:lstStyle/>
          <a:p>
            <a:pPr algn="l">
              <a:defRPr sz="2325" b="1">
                <a:solidFill>
                  <a:srgbClr val="23323B"/>
                </a:solidFill>
              </a:defRPr>
            </a:pPr>
            <a:r>
              <a:rPr sz="2325" b="1" dirty="0">
                <a:solidFill>
                  <a:srgbClr val="23323B"/>
                </a:solidFill>
              </a:rPr>
              <a:t>Look at Luke’s prologue to his whole work (see Luke 1:1-4). What does he say Luke</a:t>
            </a:r>
            <a:r>
              <a:rPr lang="en-US" sz="2325" b="1" dirty="0">
                <a:solidFill>
                  <a:srgbClr val="23323B"/>
                </a:solidFill>
              </a:rPr>
              <a:t>-</a:t>
            </a:r>
            <a:r>
              <a:rPr sz="2325" b="1" dirty="0">
                <a:solidFill>
                  <a:srgbClr val="23323B"/>
                </a:solidFill>
              </a:rPr>
              <a:t>Acts is meant to be?</a:t>
            </a:r>
          </a:p>
        </p:txBody>
      </p:sp>
      <p:sp>
        <p:nvSpPr>
          <p:cNvPr id="8" name="discussion-rule">
            <a:extLst>
              <a:ext uri="{FF2B5EF4-FFF2-40B4-BE49-F238E27FC236}">
                <a16:creationId xmlns:a16="http://schemas.microsoft.com/office/drawing/2014/main" id="{D069CE2E-B28D-4678-A3C1-9C864B246477}"/>
              </a:ext>
            </a:extLst>
          </p:cNvPr>
          <p:cNvSpPr>
            <a:spLocks noGrp="1"/>
          </p:cNvSpPr>
          <p:nvPr/>
        </p:nvSpPr>
        <p:spPr>
          <a:xfrm>
            <a:off x="685800" y="5429250"/>
            <a:ext cx="1428750" cy="47625"/>
          </a:xfrm>
          <a:prstGeom prst="rect">
            <a:avLst/>
          </a:prstGeom>
          <a:solidFill>
            <a:srgbClr val="A34D36"/>
          </a:solidFill>
          <a:ln w="0">
            <a:noFill/>
            <a:prstDash val="solid"/>
          </a:ln>
        </p:spPr>
        <p:txBody>
          <a:bodyPr/>
          <a:lstStyle/>
          <a:p>
            <a:endParaRPr lang="en-US"/>
          </a:p>
        </p:txBody>
      </p:sp>
      <p:sp>
        <p:nvSpPr>
          <p:cNvPr id="9" name="discussion-kicker">
            <a:extLst>
              <a:ext uri="{FF2B5EF4-FFF2-40B4-BE49-F238E27FC236}">
                <a16:creationId xmlns:a16="http://schemas.microsoft.com/office/drawing/2014/main" id="{23555840-C166-4093-AA59-2B1C85C1C4B8}"/>
              </a:ext>
            </a:extLst>
          </p:cNvPr>
          <p:cNvSpPr>
            <a:spLocks noGrp="1"/>
          </p:cNvSpPr>
          <p:nvPr/>
        </p:nvSpPr>
        <p:spPr>
          <a:xfrm>
            <a:off x="2286000" y="5219700"/>
            <a:ext cx="8763000" cy="457200"/>
          </a:xfrm>
          <a:prstGeom prst="rect">
            <a:avLst/>
          </a:prstGeom>
          <a:noFill/>
          <a:ln w="0">
            <a:noFill/>
            <a:prstDash val="solid"/>
          </a:ln>
        </p:spPr>
        <p:txBody>
          <a:bodyPr anchor="ctr"/>
          <a:lstStyle/>
          <a:p>
            <a:pPr algn="l">
              <a:defRPr sz="1650" b="0">
                <a:solidFill>
                  <a:srgbClr val="61717A"/>
                </a:solidFill>
              </a:defRPr>
            </a:pPr>
            <a:r>
              <a:rPr sz="1650" b="0">
                <a:solidFill>
                  <a:srgbClr val="61717A"/>
                </a:solidFill>
              </a:rPr>
              <a:t>Look for Luke’s stated method and purpose.</a:t>
            </a:r>
          </a:p>
        </p:txBody>
      </p:sp>
    </p:spTree>
    <p:extLst>
      <p:ext uri="{BB962C8B-B14F-4D97-AF65-F5344CB8AC3E}">
        <p14:creationId xmlns:p14="http://schemas.microsoft.com/office/powerpoint/2010/main" val="976744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8" name="top-rule">
            <a:extLst>
              <a:ext uri="{FF2B5EF4-FFF2-40B4-BE49-F238E27FC236}">
                <a16:creationId xmlns:a16="http://schemas.microsoft.com/office/drawing/2014/main" id="{DCC59BA1-58C1-4954-960D-83D837E885F2}"/>
              </a:ext>
            </a:extLst>
          </p:cNvPr>
          <p:cNvSpPr>
            <a:spLocks noGrp="1"/>
          </p:cNvSpPr>
          <p:nvPr/>
        </p:nvSpPr>
        <p:spPr>
          <a:xfrm>
            <a:off x="0" y="0"/>
            <a:ext cx="12192000" cy="114300"/>
          </a:xfrm>
          <a:prstGeom prst="rect">
            <a:avLst/>
          </a:prstGeom>
          <a:solidFill>
            <a:srgbClr val="C59A3D"/>
          </a:solidFill>
          <a:ln w="0">
            <a:noFill/>
            <a:prstDash val="solid"/>
          </a:ln>
        </p:spPr>
        <p:txBody>
          <a:bodyPr/>
          <a:lstStyle/>
          <a:p>
            <a:endParaRPr lang="en-US"/>
          </a:p>
        </p:txBody>
      </p:sp>
      <p:sp>
        <p:nvSpPr>
          <p:cNvPr id="2" name="section">
            <a:extLst>
              <a:ext uri="{FF2B5EF4-FFF2-40B4-BE49-F238E27FC236}">
                <a16:creationId xmlns:a16="http://schemas.microsoft.com/office/drawing/2014/main" id="{DC7BDFA7-ADA2-4BF5-96B5-14676C1A034E}"/>
              </a:ext>
            </a:extLst>
          </p:cNvPr>
          <p:cNvSpPr>
            <a:spLocks noGrp="1"/>
          </p:cNvSpPr>
          <p:nvPr/>
        </p:nvSpPr>
        <p:spPr>
          <a:xfrm>
            <a:off x="685800" y="266700"/>
            <a:ext cx="5715000" cy="28575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QUESTION 1 • ANSWER REVEALED</a:t>
            </a:r>
          </a:p>
        </p:txBody>
      </p:sp>
      <p:sp>
        <p:nvSpPr>
          <p:cNvPr id="3" name="slide-number">
            <a:extLst>
              <a:ext uri="{FF2B5EF4-FFF2-40B4-BE49-F238E27FC236}">
                <a16:creationId xmlns:a16="http://schemas.microsoft.com/office/drawing/2014/main" id="{CF1D4C07-C4FB-4037-A5FF-3ACF3FD46AF6}"/>
              </a:ext>
            </a:extLst>
          </p:cNvPr>
          <p:cNvSpPr>
            <a:spLocks noGrp="1"/>
          </p:cNvSpPr>
          <p:nvPr/>
        </p:nvSpPr>
        <p:spPr>
          <a:xfrm>
            <a:off x="11096625" y="266700"/>
            <a:ext cx="419100" cy="285750"/>
          </a:xfrm>
          <a:prstGeom prst="rect">
            <a:avLst/>
          </a:prstGeom>
          <a:noFill/>
          <a:ln w="0">
            <a:noFill/>
            <a:prstDash val="solid"/>
          </a:ln>
        </p:spPr>
        <p:txBody>
          <a:bodyPr anchor="ctr"/>
          <a:lstStyle/>
          <a:p>
            <a:pPr algn="r">
              <a:defRPr sz="1200" b="1">
                <a:solidFill>
                  <a:srgbClr val="61717A"/>
                </a:solidFill>
              </a:defRPr>
            </a:pPr>
            <a:r>
              <a:rPr sz="1200" b="1">
                <a:solidFill>
                  <a:srgbClr val="61717A"/>
                </a:solidFill>
              </a:rPr>
              <a:t>04</a:t>
            </a:r>
          </a:p>
        </p:txBody>
      </p:sp>
      <p:sp>
        <p:nvSpPr>
          <p:cNvPr id="4" name="question-number">
            <a:extLst>
              <a:ext uri="{FF2B5EF4-FFF2-40B4-BE49-F238E27FC236}">
                <a16:creationId xmlns:a16="http://schemas.microsoft.com/office/drawing/2014/main" id="{8608C10E-5A4F-4930-8C73-1616203A8DE3}"/>
              </a:ext>
            </a:extLst>
          </p:cNvPr>
          <p:cNvSpPr>
            <a:spLocks noGrp="1"/>
          </p:cNvSpPr>
          <p:nvPr/>
        </p:nvSpPr>
        <p:spPr>
          <a:xfrm>
            <a:off x="685800" y="685800"/>
            <a:ext cx="1285875" cy="762000"/>
          </a:xfrm>
          <a:prstGeom prst="rect">
            <a:avLst/>
          </a:prstGeom>
          <a:noFill/>
          <a:ln w="0">
            <a:noFill/>
            <a:prstDash val="solid"/>
          </a:ln>
        </p:spPr>
        <p:txBody>
          <a:bodyPr anchor="ctr"/>
          <a:lstStyle/>
          <a:p>
            <a:pPr algn="l">
              <a:defRPr sz="4350" b="1">
                <a:solidFill>
                  <a:srgbClr val="C59A3D"/>
                </a:solidFill>
              </a:defRPr>
            </a:pPr>
            <a:r>
              <a:rPr sz="4350" b="1">
                <a:solidFill>
                  <a:srgbClr val="C59A3D"/>
                </a:solidFill>
              </a:rPr>
              <a:t>Q1</a:t>
            </a:r>
          </a:p>
        </p:txBody>
      </p:sp>
      <p:sp>
        <p:nvSpPr>
          <p:cNvPr id="5" name="question-title">
            <a:extLst>
              <a:ext uri="{FF2B5EF4-FFF2-40B4-BE49-F238E27FC236}">
                <a16:creationId xmlns:a16="http://schemas.microsoft.com/office/drawing/2014/main" id="{A8AD80DB-A237-493D-A5CE-0E76D1F6394D}"/>
              </a:ext>
            </a:extLst>
          </p:cNvPr>
          <p:cNvSpPr>
            <a:spLocks noGrp="1"/>
          </p:cNvSpPr>
          <p:nvPr/>
        </p:nvSpPr>
        <p:spPr>
          <a:xfrm>
            <a:off x="2047875" y="723900"/>
            <a:ext cx="9144000" cy="609600"/>
          </a:xfrm>
          <a:prstGeom prst="rect">
            <a:avLst/>
          </a:prstGeom>
          <a:noFill/>
          <a:ln w="0">
            <a:noFill/>
            <a:prstDash val="solid"/>
          </a:ln>
        </p:spPr>
        <p:txBody>
          <a:bodyPr anchor="ctr"/>
          <a:lstStyle/>
          <a:p>
            <a:pPr algn="l">
              <a:defRPr sz="2550" b="1">
                <a:solidFill>
                  <a:srgbClr val="142B3B"/>
                </a:solidFill>
              </a:defRPr>
            </a:pPr>
            <a:r>
              <a:rPr sz="2550" b="1">
                <a:solidFill>
                  <a:srgbClr val="142B3B"/>
                </a:solidFill>
              </a:rPr>
              <a:t>Luke’s purpose for Luke–Acts</a:t>
            </a:r>
          </a:p>
        </p:txBody>
      </p:sp>
      <p:sp>
        <p:nvSpPr>
          <p:cNvPr id="6" name="question-field">
            <a:extLst>
              <a:ext uri="{FF2B5EF4-FFF2-40B4-BE49-F238E27FC236}">
                <a16:creationId xmlns:a16="http://schemas.microsoft.com/office/drawing/2014/main" id="{3D8CE303-6970-4053-8F5A-B953774417D7}"/>
              </a:ext>
            </a:extLst>
          </p:cNvPr>
          <p:cNvSpPr>
            <a:spLocks noGrp="1"/>
          </p:cNvSpPr>
          <p:nvPr/>
        </p:nvSpPr>
        <p:spPr>
          <a:xfrm>
            <a:off x="685800" y="1504950"/>
            <a:ext cx="10820400" cy="1428750"/>
          </a:xfrm>
          <a:prstGeom prst="roundRect">
            <a:avLst>
              <a:gd name="adj" fmla="val 8000"/>
            </a:avLst>
          </a:prstGeom>
          <a:solidFill>
            <a:srgbClr val="FFFDF8"/>
          </a:solidFill>
          <a:ln w="9525">
            <a:solidFill>
              <a:srgbClr val="E8E3D7"/>
            </a:solidFill>
            <a:prstDash val="solid"/>
          </a:ln>
        </p:spPr>
        <p:txBody>
          <a:bodyPr/>
          <a:lstStyle/>
          <a:p>
            <a:endParaRPr lang="en-US"/>
          </a:p>
        </p:txBody>
      </p:sp>
      <p:sp>
        <p:nvSpPr>
          <p:cNvPr id="7" name="question">
            <a:extLst>
              <a:ext uri="{FF2B5EF4-FFF2-40B4-BE49-F238E27FC236}">
                <a16:creationId xmlns:a16="http://schemas.microsoft.com/office/drawing/2014/main" id="{9752C014-C5E4-4E41-9BE8-6F0F6D35D86A}"/>
              </a:ext>
            </a:extLst>
          </p:cNvPr>
          <p:cNvSpPr>
            <a:spLocks noGrp="1"/>
          </p:cNvSpPr>
          <p:nvPr/>
        </p:nvSpPr>
        <p:spPr>
          <a:xfrm>
            <a:off x="990600" y="1638300"/>
            <a:ext cx="10210800" cy="1162050"/>
          </a:xfrm>
          <a:prstGeom prst="rect">
            <a:avLst/>
          </a:prstGeom>
          <a:noFill/>
          <a:ln w="0">
            <a:noFill/>
            <a:prstDash val="solid"/>
          </a:ln>
        </p:spPr>
        <p:txBody>
          <a:bodyPr anchor="ctr"/>
          <a:lstStyle/>
          <a:p>
            <a:pPr algn="l">
              <a:defRPr sz="1800" b="1">
                <a:solidFill>
                  <a:srgbClr val="23323B"/>
                </a:solidFill>
              </a:defRPr>
            </a:pPr>
            <a:r>
              <a:rPr sz="1800" b="1" dirty="0">
                <a:solidFill>
                  <a:srgbClr val="23323B"/>
                </a:solidFill>
              </a:rPr>
              <a:t>Look at Luke’s prologue to his whole work (see Luke 1:1-4). What does he say Luke</a:t>
            </a:r>
            <a:r>
              <a:rPr lang="en-US" sz="1800" b="1" dirty="0">
                <a:solidFill>
                  <a:srgbClr val="23323B"/>
                </a:solidFill>
              </a:rPr>
              <a:t>’s</a:t>
            </a:r>
            <a:r>
              <a:rPr lang="en-US" b="1" dirty="0">
                <a:solidFill>
                  <a:srgbClr val="23323B"/>
                </a:solidFill>
              </a:rPr>
              <a:t> </a:t>
            </a:r>
            <a:r>
              <a:rPr sz="1800" b="1" dirty="0">
                <a:solidFill>
                  <a:srgbClr val="23323B"/>
                </a:solidFill>
              </a:rPr>
              <a:t>Acts is meant to be?</a:t>
            </a:r>
          </a:p>
        </p:txBody>
      </p:sp>
      <p:sp>
        <p:nvSpPr>
          <p:cNvPr id="8" name="reveal-label">
            <a:extLst>
              <a:ext uri="{FF2B5EF4-FFF2-40B4-BE49-F238E27FC236}">
                <a16:creationId xmlns:a16="http://schemas.microsoft.com/office/drawing/2014/main" id="{FC738F4A-ED0A-4BFB-AD90-DCF37893BD18}"/>
              </a:ext>
            </a:extLst>
          </p:cNvPr>
          <p:cNvSpPr>
            <a:spLocks noGrp="1"/>
          </p:cNvSpPr>
          <p:nvPr/>
        </p:nvSpPr>
        <p:spPr>
          <a:xfrm>
            <a:off x="685800" y="3105150"/>
            <a:ext cx="2381250" cy="26670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SUGGESTED ANSWER</a:t>
            </a:r>
          </a:p>
        </p:txBody>
      </p:sp>
      <p:sp>
        <p:nvSpPr>
          <p:cNvPr id="9" name="answer-1">
            <a:extLst>
              <a:ext uri="{FF2B5EF4-FFF2-40B4-BE49-F238E27FC236}">
                <a16:creationId xmlns:a16="http://schemas.microsoft.com/office/drawing/2014/main" id="{0A92B1CE-A3D8-4CD5-AF7E-C790A97E0A9D}"/>
              </a:ext>
            </a:extLst>
          </p:cNvPr>
          <p:cNvSpPr>
            <a:spLocks noGrp="1"/>
          </p:cNvSpPr>
          <p:nvPr/>
        </p:nvSpPr>
        <p:spPr>
          <a:xfrm>
            <a:off x="685800" y="3429000"/>
            <a:ext cx="5324475" cy="1809750"/>
          </a:xfrm>
          <a:prstGeom prst="roundRect">
            <a:avLst>
              <a:gd name="adj" fmla="val 6316"/>
            </a:avLst>
          </a:prstGeom>
          <a:solidFill>
            <a:srgbClr val="FFFDF8"/>
          </a:solidFill>
          <a:ln w="9525">
            <a:solidFill>
              <a:srgbClr val="E8E3D7"/>
            </a:solidFill>
            <a:prstDash val="solid"/>
          </a:ln>
        </p:spPr>
        <p:txBody>
          <a:bodyPr/>
          <a:lstStyle/>
          <a:p>
            <a:endParaRPr lang="en-US"/>
          </a:p>
        </p:txBody>
      </p:sp>
      <p:sp>
        <p:nvSpPr>
          <p:cNvPr id="10" name="answer-label-1">
            <a:extLst>
              <a:ext uri="{FF2B5EF4-FFF2-40B4-BE49-F238E27FC236}">
                <a16:creationId xmlns:a16="http://schemas.microsoft.com/office/drawing/2014/main" id="{D92F1885-3041-459B-BB74-D1EF9E00F606}"/>
              </a:ext>
            </a:extLst>
          </p:cNvPr>
          <p:cNvSpPr>
            <a:spLocks noGrp="1"/>
          </p:cNvSpPr>
          <p:nvPr/>
        </p:nvSpPr>
        <p:spPr>
          <a:xfrm>
            <a:off x="914400" y="3543300"/>
            <a:ext cx="4867275" cy="238125"/>
          </a:xfrm>
          <a:prstGeom prst="rect">
            <a:avLst/>
          </a:prstGeom>
          <a:noFill/>
          <a:ln w="0">
            <a:noFill/>
            <a:prstDash val="solid"/>
          </a:ln>
        </p:spPr>
        <p:txBody>
          <a:bodyPr anchor="ctr"/>
          <a:lstStyle/>
          <a:p>
            <a:pPr algn="l">
              <a:defRPr sz="1050" b="1">
                <a:solidFill>
                  <a:srgbClr val="A34D36"/>
                </a:solidFill>
              </a:defRPr>
            </a:pPr>
            <a:r>
              <a:rPr sz="1050" b="1">
                <a:solidFill>
                  <a:srgbClr val="A34D36"/>
                </a:solidFill>
              </a:rPr>
              <a:t>CAREFULLY INVESTIGATED</a:t>
            </a:r>
          </a:p>
        </p:txBody>
      </p:sp>
      <p:sp>
        <p:nvSpPr>
          <p:cNvPr id="11" name="answer-text-1">
            <a:extLst>
              <a:ext uri="{FF2B5EF4-FFF2-40B4-BE49-F238E27FC236}">
                <a16:creationId xmlns:a16="http://schemas.microsoft.com/office/drawing/2014/main" id="{38D45A3B-D201-4465-B554-F467AB30045B}"/>
              </a:ext>
            </a:extLst>
          </p:cNvPr>
          <p:cNvSpPr>
            <a:spLocks noGrp="1"/>
          </p:cNvSpPr>
          <p:nvPr/>
        </p:nvSpPr>
        <p:spPr>
          <a:xfrm>
            <a:off x="914400" y="3810000"/>
            <a:ext cx="4867275" cy="1352550"/>
          </a:xfrm>
          <a:prstGeom prst="rect">
            <a:avLst/>
          </a:prstGeom>
          <a:noFill/>
          <a:ln w="0">
            <a:noFill/>
            <a:prstDash val="solid"/>
          </a:ln>
        </p:spPr>
        <p:txBody>
          <a:bodyPr anchor="ctr"/>
          <a:lstStyle/>
          <a:p>
            <a:pPr algn="l">
              <a:defRPr sz="1650" b="0">
                <a:solidFill>
                  <a:srgbClr val="23323B"/>
                </a:solidFill>
              </a:defRPr>
            </a:pPr>
            <a:r>
              <a:rPr sz="1650" b="0">
                <a:solidFill>
                  <a:srgbClr val="23323B"/>
                </a:solidFill>
              </a:rPr>
              <a:t>Luke presents an orderly account based on testimony handed down by eyewitnesses.</a:t>
            </a:r>
          </a:p>
        </p:txBody>
      </p:sp>
      <p:sp>
        <p:nvSpPr>
          <p:cNvPr id="12" name="answer-2">
            <a:extLst>
              <a:ext uri="{FF2B5EF4-FFF2-40B4-BE49-F238E27FC236}">
                <a16:creationId xmlns:a16="http://schemas.microsoft.com/office/drawing/2014/main" id="{06411791-4659-493E-8BBD-F786DE38C96B}"/>
              </a:ext>
            </a:extLst>
          </p:cNvPr>
          <p:cNvSpPr>
            <a:spLocks noGrp="1"/>
          </p:cNvSpPr>
          <p:nvPr/>
        </p:nvSpPr>
        <p:spPr>
          <a:xfrm>
            <a:off x="6181725" y="3429000"/>
            <a:ext cx="5324475" cy="1809750"/>
          </a:xfrm>
          <a:prstGeom prst="roundRect">
            <a:avLst>
              <a:gd name="adj" fmla="val 6316"/>
            </a:avLst>
          </a:prstGeom>
          <a:solidFill>
            <a:srgbClr val="F0E9DA"/>
          </a:solidFill>
          <a:ln w="9525">
            <a:solidFill>
              <a:srgbClr val="E8E3D7"/>
            </a:solidFill>
            <a:prstDash val="solid"/>
          </a:ln>
        </p:spPr>
        <p:txBody>
          <a:bodyPr/>
          <a:lstStyle/>
          <a:p>
            <a:endParaRPr lang="en-US"/>
          </a:p>
        </p:txBody>
      </p:sp>
      <p:sp>
        <p:nvSpPr>
          <p:cNvPr id="13" name="answer-label-2">
            <a:extLst>
              <a:ext uri="{FF2B5EF4-FFF2-40B4-BE49-F238E27FC236}">
                <a16:creationId xmlns:a16="http://schemas.microsoft.com/office/drawing/2014/main" id="{E9FD6819-B383-4146-A9C2-CA41CA55C2B6}"/>
              </a:ext>
            </a:extLst>
          </p:cNvPr>
          <p:cNvSpPr>
            <a:spLocks noGrp="1"/>
          </p:cNvSpPr>
          <p:nvPr/>
        </p:nvSpPr>
        <p:spPr>
          <a:xfrm>
            <a:off x="6410325" y="3543300"/>
            <a:ext cx="4867275" cy="238125"/>
          </a:xfrm>
          <a:prstGeom prst="rect">
            <a:avLst/>
          </a:prstGeom>
          <a:noFill/>
          <a:ln w="0">
            <a:noFill/>
            <a:prstDash val="solid"/>
          </a:ln>
        </p:spPr>
        <p:txBody>
          <a:bodyPr anchor="ctr"/>
          <a:lstStyle/>
          <a:p>
            <a:pPr algn="l">
              <a:defRPr sz="1050" b="1">
                <a:solidFill>
                  <a:srgbClr val="6E8773"/>
                </a:solidFill>
              </a:defRPr>
            </a:pPr>
            <a:r>
              <a:rPr sz="1050" b="1">
                <a:solidFill>
                  <a:srgbClr val="6E8773"/>
                </a:solidFill>
              </a:rPr>
              <a:t>WRITTEN FOR CERTAINTY</a:t>
            </a:r>
          </a:p>
        </p:txBody>
      </p:sp>
      <p:sp>
        <p:nvSpPr>
          <p:cNvPr id="14" name="answer-text-2">
            <a:extLst>
              <a:ext uri="{FF2B5EF4-FFF2-40B4-BE49-F238E27FC236}">
                <a16:creationId xmlns:a16="http://schemas.microsoft.com/office/drawing/2014/main" id="{814D65D0-BAD3-4B87-9EB7-33C054928419}"/>
              </a:ext>
            </a:extLst>
          </p:cNvPr>
          <p:cNvSpPr>
            <a:spLocks noGrp="1"/>
          </p:cNvSpPr>
          <p:nvPr/>
        </p:nvSpPr>
        <p:spPr>
          <a:xfrm>
            <a:off x="6410325" y="3810000"/>
            <a:ext cx="4867275" cy="1352550"/>
          </a:xfrm>
          <a:prstGeom prst="rect">
            <a:avLst/>
          </a:prstGeom>
          <a:noFill/>
          <a:ln w="0">
            <a:noFill/>
            <a:prstDash val="solid"/>
          </a:ln>
        </p:spPr>
        <p:txBody>
          <a:bodyPr anchor="ctr"/>
          <a:lstStyle/>
          <a:p>
            <a:pPr algn="l">
              <a:defRPr sz="1650" b="0">
                <a:solidFill>
                  <a:srgbClr val="23323B"/>
                </a:solidFill>
              </a:defRPr>
            </a:pPr>
            <a:r>
              <a:rPr sz="1650" b="0">
                <a:solidFill>
                  <a:srgbClr val="23323B"/>
                </a:solidFill>
              </a:rPr>
              <a:t>Theophilus is to know the certainty of the things he has been taught.</a:t>
            </a:r>
          </a:p>
        </p:txBody>
      </p:sp>
      <p:sp>
        <p:nvSpPr>
          <p:cNvPr id="15" name="takeaway-band">
            <a:extLst>
              <a:ext uri="{FF2B5EF4-FFF2-40B4-BE49-F238E27FC236}">
                <a16:creationId xmlns:a16="http://schemas.microsoft.com/office/drawing/2014/main" id="{AE4A737C-EAA3-4187-ABCA-968A677D4458}"/>
              </a:ext>
            </a:extLst>
          </p:cNvPr>
          <p:cNvSpPr>
            <a:spLocks noGrp="1"/>
          </p:cNvSpPr>
          <p:nvPr/>
        </p:nvSpPr>
        <p:spPr>
          <a:xfrm>
            <a:off x="685800" y="5429250"/>
            <a:ext cx="10820400" cy="723900"/>
          </a:xfrm>
          <a:prstGeom prst="roundRect">
            <a:avLst>
              <a:gd name="adj" fmla="val 15789"/>
            </a:avLst>
          </a:prstGeom>
          <a:solidFill>
            <a:srgbClr val="142B3B"/>
          </a:solidFill>
          <a:ln w="9525">
            <a:solidFill>
              <a:srgbClr val="142B3B"/>
            </a:solidFill>
            <a:prstDash val="solid"/>
          </a:ln>
        </p:spPr>
        <p:txBody>
          <a:bodyPr/>
          <a:lstStyle/>
          <a:p>
            <a:endParaRPr lang="en-US"/>
          </a:p>
        </p:txBody>
      </p:sp>
      <p:sp>
        <p:nvSpPr>
          <p:cNvPr id="16" name="takeaway-label">
            <a:extLst>
              <a:ext uri="{FF2B5EF4-FFF2-40B4-BE49-F238E27FC236}">
                <a16:creationId xmlns:a16="http://schemas.microsoft.com/office/drawing/2014/main" id="{F2038452-FA49-41A6-8D50-DE190570FE32}"/>
              </a:ext>
            </a:extLst>
          </p:cNvPr>
          <p:cNvSpPr>
            <a:spLocks noGrp="1"/>
          </p:cNvSpPr>
          <p:nvPr/>
        </p:nvSpPr>
        <p:spPr>
          <a:xfrm>
            <a:off x="914400" y="5524500"/>
            <a:ext cx="1285875" cy="228600"/>
          </a:xfrm>
          <a:prstGeom prst="rect">
            <a:avLst/>
          </a:prstGeom>
          <a:noFill/>
          <a:ln w="0">
            <a:noFill/>
            <a:prstDash val="solid"/>
          </a:ln>
        </p:spPr>
        <p:txBody>
          <a:bodyPr anchor="ctr"/>
          <a:lstStyle/>
          <a:p>
            <a:pPr algn="l">
              <a:defRPr sz="1050" b="1">
                <a:solidFill>
                  <a:srgbClr val="C59A3D"/>
                </a:solidFill>
              </a:defRPr>
            </a:pPr>
            <a:r>
              <a:rPr sz="1050" b="1">
                <a:solidFill>
                  <a:srgbClr val="C59A3D"/>
                </a:solidFill>
              </a:rPr>
              <a:t>KEY IDEA</a:t>
            </a:r>
          </a:p>
        </p:txBody>
      </p:sp>
      <p:sp>
        <p:nvSpPr>
          <p:cNvPr id="17" name="takeaway">
            <a:extLst>
              <a:ext uri="{FF2B5EF4-FFF2-40B4-BE49-F238E27FC236}">
                <a16:creationId xmlns:a16="http://schemas.microsoft.com/office/drawing/2014/main" id="{2392F7BF-EFC3-40BE-B550-98A6FF544195}"/>
              </a:ext>
            </a:extLst>
          </p:cNvPr>
          <p:cNvSpPr>
            <a:spLocks noGrp="1"/>
          </p:cNvSpPr>
          <p:nvPr/>
        </p:nvSpPr>
        <p:spPr>
          <a:xfrm>
            <a:off x="2143125" y="5476875"/>
            <a:ext cx="8953500" cy="476250"/>
          </a:xfrm>
          <a:prstGeom prst="rect">
            <a:avLst/>
          </a:prstGeom>
          <a:noFill/>
          <a:ln w="0">
            <a:noFill/>
            <a:prstDash val="solid"/>
          </a:ln>
        </p:spPr>
        <p:txBody>
          <a:bodyPr anchor="ctr"/>
          <a:lstStyle/>
          <a:p>
            <a:pPr algn="l">
              <a:defRPr sz="1500" b="1">
                <a:solidFill>
                  <a:srgbClr val="FFFFFF"/>
                </a:solidFill>
              </a:defRPr>
            </a:pPr>
            <a:r>
              <a:rPr sz="1500" b="1">
                <a:solidFill>
                  <a:srgbClr val="FFFFFF"/>
                </a:solidFill>
              </a:rPr>
              <a:t>Luke–Acts is meant to be an orderly, well-grounded account that gives assurance.</a:t>
            </a:r>
          </a:p>
        </p:txBody>
      </p:sp>
    </p:spTree>
    <p:extLst>
      <p:ext uri="{BB962C8B-B14F-4D97-AF65-F5344CB8AC3E}">
        <p14:creationId xmlns:p14="http://schemas.microsoft.com/office/powerpoint/2010/main" val="330745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0" name="top-rule">
            <a:extLst>
              <a:ext uri="{FF2B5EF4-FFF2-40B4-BE49-F238E27FC236}">
                <a16:creationId xmlns:a16="http://schemas.microsoft.com/office/drawing/2014/main" id="{FE31A857-4B27-4B0C-B56C-504DD567F419}"/>
              </a:ext>
            </a:extLst>
          </p:cNvPr>
          <p:cNvSpPr>
            <a:spLocks noGrp="1"/>
          </p:cNvSpPr>
          <p:nvPr/>
        </p:nvSpPr>
        <p:spPr>
          <a:xfrm>
            <a:off x="0" y="0"/>
            <a:ext cx="12192000" cy="114300"/>
          </a:xfrm>
          <a:prstGeom prst="rect">
            <a:avLst/>
          </a:prstGeom>
          <a:solidFill>
            <a:srgbClr val="C59A3D"/>
          </a:solidFill>
          <a:ln w="0">
            <a:noFill/>
            <a:prstDash val="solid"/>
          </a:ln>
        </p:spPr>
        <p:txBody>
          <a:bodyPr/>
          <a:lstStyle/>
          <a:p>
            <a:endParaRPr lang="en-US"/>
          </a:p>
        </p:txBody>
      </p:sp>
      <p:sp>
        <p:nvSpPr>
          <p:cNvPr id="2" name="section">
            <a:extLst>
              <a:ext uri="{FF2B5EF4-FFF2-40B4-BE49-F238E27FC236}">
                <a16:creationId xmlns:a16="http://schemas.microsoft.com/office/drawing/2014/main" id="{F8D56EA1-2D5A-4A94-9DC4-E54A27926095}"/>
              </a:ext>
            </a:extLst>
          </p:cNvPr>
          <p:cNvSpPr>
            <a:spLocks noGrp="1"/>
          </p:cNvSpPr>
          <p:nvPr/>
        </p:nvSpPr>
        <p:spPr>
          <a:xfrm>
            <a:off x="685800" y="266700"/>
            <a:ext cx="5715000" cy="28575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QUESTION 2</a:t>
            </a:r>
          </a:p>
        </p:txBody>
      </p:sp>
      <p:sp>
        <p:nvSpPr>
          <p:cNvPr id="3" name="slide-number">
            <a:extLst>
              <a:ext uri="{FF2B5EF4-FFF2-40B4-BE49-F238E27FC236}">
                <a16:creationId xmlns:a16="http://schemas.microsoft.com/office/drawing/2014/main" id="{14E8E470-618C-4410-97E4-823AFA3EBB98}"/>
              </a:ext>
            </a:extLst>
          </p:cNvPr>
          <p:cNvSpPr>
            <a:spLocks noGrp="1"/>
          </p:cNvSpPr>
          <p:nvPr/>
        </p:nvSpPr>
        <p:spPr>
          <a:xfrm>
            <a:off x="11096625" y="266700"/>
            <a:ext cx="419100" cy="285750"/>
          </a:xfrm>
          <a:prstGeom prst="rect">
            <a:avLst/>
          </a:prstGeom>
          <a:noFill/>
          <a:ln w="0">
            <a:noFill/>
            <a:prstDash val="solid"/>
          </a:ln>
        </p:spPr>
        <p:txBody>
          <a:bodyPr anchor="ctr"/>
          <a:lstStyle/>
          <a:p>
            <a:pPr algn="r">
              <a:defRPr sz="1200" b="1">
                <a:solidFill>
                  <a:srgbClr val="61717A"/>
                </a:solidFill>
              </a:defRPr>
            </a:pPr>
            <a:r>
              <a:rPr sz="1200" b="1">
                <a:solidFill>
                  <a:srgbClr val="61717A"/>
                </a:solidFill>
              </a:rPr>
              <a:t>05</a:t>
            </a:r>
          </a:p>
        </p:txBody>
      </p:sp>
      <p:sp>
        <p:nvSpPr>
          <p:cNvPr id="4" name="question-number">
            <a:extLst>
              <a:ext uri="{FF2B5EF4-FFF2-40B4-BE49-F238E27FC236}">
                <a16:creationId xmlns:a16="http://schemas.microsoft.com/office/drawing/2014/main" id="{4BDEA88E-CB3C-4F08-B301-12E3A5137E90}"/>
              </a:ext>
            </a:extLst>
          </p:cNvPr>
          <p:cNvSpPr>
            <a:spLocks noGrp="1"/>
          </p:cNvSpPr>
          <p:nvPr/>
        </p:nvSpPr>
        <p:spPr>
          <a:xfrm>
            <a:off x="685800" y="876300"/>
            <a:ext cx="1428750" cy="914400"/>
          </a:xfrm>
          <a:prstGeom prst="rect">
            <a:avLst/>
          </a:prstGeom>
          <a:noFill/>
          <a:ln w="0">
            <a:noFill/>
            <a:prstDash val="solid"/>
          </a:ln>
        </p:spPr>
        <p:txBody>
          <a:bodyPr anchor="ctr"/>
          <a:lstStyle/>
          <a:p>
            <a:pPr algn="l">
              <a:defRPr sz="5400" b="1">
                <a:solidFill>
                  <a:srgbClr val="C59A3D"/>
                </a:solidFill>
              </a:defRPr>
            </a:pPr>
            <a:r>
              <a:rPr sz="5400" b="1">
                <a:solidFill>
                  <a:srgbClr val="C59A3D"/>
                </a:solidFill>
              </a:rPr>
              <a:t>Q2</a:t>
            </a:r>
          </a:p>
        </p:txBody>
      </p:sp>
      <p:sp>
        <p:nvSpPr>
          <p:cNvPr id="5" name="question-title">
            <a:extLst>
              <a:ext uri="{FF2B5EF4-FFF2-40B4-BE49-F238E27FC236}">
                <a16:creationId xmlns:a16="http://schemas.microsoft.com/office/drawing/2014/main" id="{E71EA28F-7475-4472-B854-D94C7E986284}"/>
              </a:ext>
            </a:extLst>
          </p:cNvPr>
          <p:cNvSpPr>
            <a:spLocks noGrp="1"/>
          </p:cNvSpPr>
          <p:nvPr/>
        </p:nvSpPr>
        <p:spPr>
          <a:xfrm>
            <a:off x="2143125" y="904875"/>
            <a:ext cx="9048750" cy="762000"/>
          </a:xfrm>
          <a:prstGeom prst="rect">
            <a:avLst/>
          </a:prstGeom>
          <a:noFill/>
          <a:ln w="0">
            <a:noFill/>
            <a:prstDash val="solid"/>
          </a:ln>
        </p:spPr>
        <p:txBody>
          <a:bodyPr anchor="ctr"/>
          <a:lstStyle/>
          <a:p>
            <a:pPr algn="l">
              <a:defRPr sz="2850" b="1">
                <a:solidFill>
                  <a:srgbClr val="142B3B"/>
                </a:solidFill>
              </a:defRPr>
            </a:pPr>
            <a:r>
              <a:rPr sz="2850" b="1">
                <a:solidFill>
                  <a:srgbClr val="142B3B"/>
                </a:solidFill>
              </a:rPr>
              <a:t>What Acts is probably about</a:t>
            </a:r>
          </a:p>
        </p:txBody>
      </p:sp>
      <p:sp>
        <p:nvSpPr>
          <p:cNvPr id="6" name="question-field">
            <a:extLst>
              <a:ext uri="{FF2B5EF4-FFF2-40B4-BE49-F238E27FC236}">
                <a16:creationId xmlns:a16="http://schemas.microsoft.com/office/drawing/2014/main" id="{D327D029-582C-4B5C-86E8-A6C2DE01970B}"/>
              </a:ext>
            </a:extLst>
          </p:cNvPr>
          <p:cNvSpPr>
            <a:spLocks noGrp="1"/>
          </p:cNvSpPr>
          <p:nvPr/>
        </p:nvSpPr>
        <p:spPr>
          <a:xfrm>
            <a:off x="685800" y="1952625"/>
            <a:ext cx="10820400" cy="3143250"/>
          </a:xfrm>
          <a:prstGeom prst="roundRect">
            <a:avLst>
              <a:gd name="adj" fmla="val 3636"/>
            </a:avLst>
          </a:prstGeom>
          <a:solidFill>
            <a:srgbClr val="FFFDF8"/>
          </a:solidFill>
          <a:ln w="9525">
            <a:solidFill>
              <a:srgbClr val="E8E3D7"/>
            </a:solidFill>
            <a:prstDash val="solid"/>
          </a:ln>
        </p:spPr>
        <p:txBody>
          <a:bodyPr/>
          <a:lstStyle/>
          <a:p>
            <a:endParaRPr lang="en-US"/>
          </a:p>
        </p:txBody>
      </p:sp>
      <p:sp>
        <p:nvSpPr>
          <p:cNvPr id="7" name="question">
            <a:extLst>
              <a:ext uri="{FF2B5EF4-FFF2-40B4-BE49-F238E27FC236}">
                <a16:creationId xmlns:a16="http://schemas.microsoft.com/office/drawing/2014/main" id="{4141E8A4-E6A2-4241-8CEC-DDBB98B28876}"/>
              </a:ext>
            </a:extLst>
          </p:cNvPr>
          <p:cNvSpPr>
            <a:spLocks noGrp="1"/>
          </p:cNvSpPr>
          <p:nvPr/>
        </p:nvSpPr>
        <p:spPr>
          <a:xfrm>
            <a:off x="1162050" y="2238375"/>
            <a:ext cx="9867900" cy="2571750"/>
          </a:xfrm>
          <a:prstGeom prst="rect">
            <a:avLst/>
          </a:prstGeom>
          <a:noFill/>
          <a:ln w="0">
            <a:noFill/>
            <a:prstDash val="solid"/>
          </a:ln>
        </p:spPr>
        <p:txBody>
          <a:bodyPr anchor="ctr"/>
          <a:lstStyle/>
          <a:p>
            <a:pPr algn="l">
              <a:defRPr sz="1875" b="1">
                <a:solidFill>
                  <a:srgbClr val="23323B"/>
                </a:solidFill>
              </a:defRPr>
            </a:pPr>
            <a:r>
              <a:rPr sz="1875" b="1">
                <a:solidFill>
                  <a:srgbClr val="23323B"/>
                </a:solidFill>
              </a:rPr>
              <a:t>Luke says his Gospel records what Jesus began to do and teach. What is Acts probably about?</a:t>
            </a:r>
          </a:p>
        </p:txBody>
      </p:sp>
      <p:sp>
        <p:nvSpPr>
          <p:cNvPr id="8" name="discussion-rule">
            <a:extLst>
              <a:ext uri="{FF2B5EF4-FFF2-40B4-BE49-F238E27FC236}">
                <a16:creationId xmlns:a16="http://schemas.microsoft.com/office/drawing/2014/main" id="{F7C970DC-153B-4EC2-9D1E-22ACB3D128A9}"/>
              </a:ext>
            </a:extLst>
          </p:cNvPr>
          <p:cNvSpPr>
            <a:spLocks noGrp="1"/>
          </p:cNvSpPr>
          <p:nvPr/>
        </p:nvSpPr>
        <p:spPr>
          <a:xfrm>
            <a:off x="685800" y="5429250"/>
            <a:ext cx="1428750" cy="47625"/>
          </a:xfrm>
          <a:prstGeom prst="rect">
            <a:avLst/>
          </a:prstGeom>
          <a:solidFill>
            <a:srgbClr val="A34D36"/>
          </a:solidFill>
          <a:ln w="0">
            <a:noFill/>
            <a:prstDash val="solid"/>
          </a:ln>
        </p:spPr>
        <p:txBody>
          <a:bodyPr/>
          <a:lstStyle/>
          <a:p>
            <a:endParaRPr lang="en-US"/>
          </a:p>
        </p:txBody>
      </p:sp>
      <p:sp>
        <p:nvSpPr>
          <p:cNvPr id="9" name="discussion-kicker">
            <a:extLst>
              <a:ext uri="{FF2B5EF4-FFF2-40B4-BE49-F238E27FC236}">
                <a16:creationId xmlns:a16="http://schemas.microsoft.com/office/drawing/2014/main" id="{7603449F-147F-4669-B376-01F451F86EBF}"/>
              </a:ext>
            </a:extLst>
          </p:cNvPr>
          <p:cNvSpPr>
            <a:spLocks noGrp="1"/>
          </p:cNvSpPr>
          <p:nvPr/>
        </p:nvSpPr>
        <p:spPr>
          <a:xfrm>
            <a:off x="2286000" y="5219700"/>
            <a:ext cx="8763000" cy="457200"/>
          </a:xfrm>
          <a:prstGeom prst="rect">
            <a:avLst/>
          </a:prstGeom>
          <a:noFill/>
          <a:ln w="0">
            <a:noFill/>
            <a:prstDash val="solid"/>
          </a:ln>
        </p:spPr>
        <p:txBody>
          <a:bodyPr anchor="ctr"/>
          <a:lstStyle/>
          <a:p>
            <a:pPr algn="l">
              <a:defRPr sz="1650" b="0">
                <a:solidFill>
                  <a:srgbClr val="61717A"/>
                </a:solidFill>
              </a:defRPr>
            </a:pPr>
            <a:r>
              <a:rPr sz="1650" b="0">
                <a:solidFill>
                  <a:srgbClr val="61717A"/>
                </a:solidFill>
              </a:rPr>
              <a:t>The risen Jesus is still the true actor in the story.</a:t>
            </a:r>
          </a:p>
        </p:txBody>
      </p:sp>
    </p:spTree>
    <p:extLst>
      <p:ext uri="{BB962C8B-B14F-4D97-AF65-F5344CB8AC3E}">
        <p14:creationId xmlns:p14="http://schemas.microsoft.com/office/powerpoint/2010/main" val="1898615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8" name="top-rule">
            <a:extLst>
              <a:ext uri="{FF2B5EF4-FFF2-40B4-BE49-F238E27FC236}">
                <a16:creationId xmlns:a16="http://schemas.microsoft.com/office/drawing/2014/main" id="{9701117F-3FC5-4205-95E2-AD197787F69C}"/>
              </a:ext>
            </a:extLst>
          </p:cNvPr>
          <p:cNvSpPr>
            <a:spLocks noGrp="1"/>
          </p:cNvSpPr>
          <p:nvPr/>
        </p:nvSpPr>
        <p:spPr>
          <a:xfrm>
            <a:off x="0" y="0"/>
            <a:ext cx="12192000" cy="114300"/>
          </a:xfrm>
          <a:prstGeom prst="rect">
            <a:avLst/>
          </a:prstGeom>
          <a:solidFill>
            <a:srgbClr val="C59A3D"/>
          </a:solidFill>
          <a:ln w="0">
            <a:noFill/>
            <a:prstDash val="solid"/>
          </a:ln>
        </p:spPr>
        <p:txBody>
          <a:bodyPr/>
          <a:lstStyle/>
          <a:p>
            <a:endParaRPr lang="en-US"/>
          </a:p>
        </p:txBody>
      </p:sp>
      <p:sp>
        <p:nvSpPr>
          <p:cNvPr id="2" name="section">
            <a:extLst>
              <a:ext uri="{FF2B5EF4-FFF2-40B4-BE49-F238E27FC236}">
                <a16:creationId xmlns:a16="http://schemas.microsoft.com/office/drawing/2014/main" id="{05C571D5-5859-4E6F-B2B7-F80D5C12B6BF}"/>
              </a:ext>
            </a:extLst>
          </p:cNvPr>
          <p:cNvSpPr>
            <a:spLocks noGrp="1"/>
          </p:cNvSpPr>
          <p:nvPr/>
        </p:nvSpPr>
        <p:spPr>
          <a:xfrm>
            <a:off x="685800" y="266700"/>
            <a:ext cx="5715000" cy="28575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QUESTION 2 • ANSWER REVEALED</a:t>
            </a:r>
          </a:p>
        </p:txBody>
      </p:sp>
      <p:sp>
        <p:nvSpPr>
          <p:cNvPr id="3" name="slide-number">
            <a:extLst>
              <a:ext uri="{FF2B5EF4-FFF2-40B4-BE49-F238E27FC236}">
                <a16:creationId xmlns:a16="http://schemas.microsoft.com/office/drawing/2014/main" id="{13FE9504-B0A0-4D0B-8BD9-30B3111C0FEB}"/>
              </a:ext>
            </a:extLst>
          </p:cNvPr>
          <p:cNvSpPr>
            <a:spLocks noGrp="1"/>
          </p:cNvSpPr>
          <p:nvPr/>
        </p:nvSpPr>
        <p:spPr>
          <a:xfrm>
            <a:off x="11096625" y="266700"/>
            <a:ext cx="419100" cy="285750"/>
          </a:xfrm>
          <a:prstGeom prst="rect">
            <a:avLst/>
          </a:prstGeom>
          <a:noFill/>
          <a:ln w="0">
            <a:noFill/>
            <a:prstDash val="solid"/>
          </a:ln>
        </p:spPr>
        <p:txBody>
          <a:bodyPr anchor="ctr"/>
          <a:lstStyle/>
          <a:p>
            <a:pPr algn="r">
              <a:defRPr sz="1200" b="1">
                <a:solidFill>
                  <a:srgbClr val="61717A"/>
                </a:solidFill>
              </a:defRPr>
            </a:pPr>
            <a:r>
              <a:rPr sz="1200" b="1">
                <a:solidFill>
                  <a:srgbClr val="61717A"/>
                </a:solidFill>
              </a:rPr>
              <a:t>06</a:t>
            </a:r>
          </a:p>
        </p:txBody>
      </p:sp>
      <p:sp>
        <p:nvSpPr>
          <p:cNvPr id="4" name="question-number">
            <a:extLst>
              <a:ext uri="{FF2B5EF4-FFF2-40B4-BE49-F238E27FC236}">
                <a16:creationId xmlns:a16="http://schemas.microsoft.com/office/drawing/2014/main" id="{EE39E540-E565-4877-ACD1-701EF82D3A4A}"/>
              </a:ext>
            </a:extLst>
          </p:cNvPr>
          <p:cNvSpPr>
            <a:spLocks noGrp="1"/>
          </p:cNvSpPr>
          <p:nvPr/>
        </p:nvSpPr>
        <p:spPr>
          <a:xfrm>
            <a:off x="685800" y="685800"/>
            <a:ext cx="1285875" cy="762000"/>
          </a:xfrm>
          <a:prstGeom prst="rect">
            <a:avLst/>
          </a:prstGeom>
          <a:noFill/>
          <a:ln w="0">
            <a:noFill/>
            <a:prstDash val="solid"/>
          </a:ln>
        </p:spPr>
        <p:txBody>
          <a:bodyPr anchor="ctr"/>
          <a:lstStyle/>
          <a:p>
            <a:pPr algn="l">
              <a:defRPr sz="4350" b="1">
                <a:solidFill>
                  <a:srgbClr val="C59A3D"/>
                </a:solidFill>
              </a:defRPr>
            </a:pPr>
            <a:r>
              <a:rPr sz="4350" b="1">
                <a:solidFill>
                  <a:srgbClr val="C59A3D"/>
                </a:solidFill>
              </a:rPr>
              <a:t>Q2</a:t>
            </a:r>
          </a:p>
        </p:txBody>
      </p:sp>
      <p:sp>
        <p:nvSpPr>
          <p:cNvPr id="5" name="question-title">
            <a:extLst>
              <a:ext uri="{FF2B5EF4-FFF2-40B4-BE49-F238E27FC236}">
                <a16:creationId xmlns:a16="http://schemas.microsoft.com/office/drawing/2014/main" id="{5A439A23-0F40-42D2-9E27-D25730E8AD10}"/>
              </a:ext>
            </a:extLst>
          </p:cNvPr>
          <p:cNvSpPr>
            <a:spLocks noGrp="1"/>
          </p:cNvSpPr>
          <p:nvPr/>
        </p:nvSpPr>
        <p:spPr>
          <a:xfrm>
            <a:off x="2047875" y="723900"/>
            <a:ext cx="9144000" cy="609600"/>
          </a:xfrm>
          <a:prstGeom prst="rect">
            <a:avLst/>
          </a:prstGeom>
          <a:noFill/>
          <a:ln w="0">
            <a:noFill/>
            <a:prstDash val="solid"/>
          </a:ln>
        </p:spPr>
        <p:txBody>
          <a:bodyPr anchor="ctr"/>
          <a:lstStyle/>
          <a:p>
            <a:pPr algn="l">
              <a:defRPr sz="2550" b="1">
                <a:solidFill>
                  <a:srgbClr val="142B3B"/>
                </a:solidFill>
              </a:defRPr>
            </a:pPr>
            <a:r>
              <a:rPr sz="2550" b="1">
                <a:solidFill>
                  <a:srgbClr val="142B3B"/>
                </a:solidFill>
              </a:rPr>
              <a:t>What Acts is probably about</a:t>
            </a:r>
          </a:p>
        </p:txBody>
      </p:sp>
      <p:sp>
        <p:nvSpPr>
          <p:cNvPr id="6" name="question-field">
            <a:extLst>
              <a:ext uri="{FF2B5EF4-FFF2-40B4-BE49-F238E27FC236}">
                <a16:creationId xmlns:a16="http://schemas.microsoft.com/office/drawing/2014/main" id="{8CD8E3BB-1C2C-4524-9810-744611838866}"/>
              </a:ext>
            </a:extLst>
          </p:cNvPr>
          <p:cNvSpPr>
            <a:spLocks noGrp="1"/>
          </p:cNvSpPr>
          <p:nvPr/>
        </p:nvSpPr>
        <p:spPr>
          <a:xfrm>
            <a:off x="685800" y="1504950"/>
            <a:ext cx="10820400" cy="1428750"/>
          </a:xfrm>
          <a:prstGeom prst="roundRect">
            <a:avLst>
              <a:gd name="adj" fmla="val 8000"/>
            </a:avLst>
          </a:prstGeom>
          <a:solidFill>
            <a:srgbClr val="FFFDF8"/>
          </a:solidFill>
          <a:ln w="9525">
            <a:solidFill>
              <a:srgbClr val="E8E3D7"/>
            </a:solidFill>
            <a:prstDash val="solid"/>
          </a:ln>
        </p:spPr>
        <p:txBody>
          <a:bodyPr/>
          <a:lstStyle/>
          <a:p>
            <a:endParaRPr lang="en-US"/>
          </a:p>
        </p:txBody>
      </p:sp>
      <p:sp>
        <p:nvSpPr>
          <p:cNvPr id="7" name="question">
            <a:extLst>
              <a:ext uri="{FF2B5EF4-FFF2-40B4-BE49-F238E27FC236}">
                <a16:creationId xmlns:a16="http://schemas.microsoft.com/office/drawing/2014/main" id="{9B59D37D-5C70-4BC2-B1AC-F515DDF801E1}"/>
              </a:ext>
            </a:extLst>
          </p:cNvPr>
          <p:cNvSpPr>
            <a:spLocks noGrp="1"/>
          </p:cNvSpPr>
          <p:nvPr/>
        </p:nvSpPr>
        <p:spPr>
          <a:xfrm>
            <a:off x="990600" y="1638300"/>
            <a:ext cx="10210800" cy="1162050"/>
          </a:xfrm>
          <a:prstGeom prst="rect">
            <a:avLst/>
          </a:prstGeom>
          <a:noFill/>
          <a:ln w="0">
            <a:noFill/>
            <a:prstDash val="solid"/>
          </a:ln>
        </p:spPr>
        <p:txBody>
          <a:bodyPr anchor="ctr"/>
          <a:lstStyle/>
          <a:p>
            <a:pPr algn="l">
              <a:defRPr sz="1425" b="1">
                <a:solidFill>
                  <a:srgbClr val="23323B"/>
                </a:solidFill>
              </a:defRPr>
            </a:pPr>
            <a:r>
              <a:rPr sz="1425" b="1">
                <a:solidFill>
                  <a:srgbClr val="23323B"/>
                </a:solidFill>
              </a:rPr>
              <a:t>Luke says his Gospel records what Jesus began to do and teach. What is Acts probably about?</a:t>
            </a:r>
          </a:p>
        </p:txBody>
      </p:sp>
      <p:sp>
        <p:nvSpPr>
          <p:cNvPr id="8" name="reveal-label">
            <a:extLst>
              <a:ext uri="{FF2B5EF4-FFF2-40B4-BE49-F238E27FC236}">
                <a16:creationId xmlns:a16="http://schemas.microsoft.com/office/drawing/2014/main" id="{B469FBAE-5A89-4054-91C4-CB643F8019F7}"/>
              </a:ext>
            </a:extLst>
          </p:cNvPr>
          <p:cNvSpPr>
            <a:spLocks noGrp="1"/>
          </p:cNvSpPr>
          <p:nvPr/>
        </p:nvSpPr>
        <p:spPr>
          <a:xfrm>
            <a:off x="685800" y="3105150"/>
            <a:ext cx="2381250" cy="26670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SUGGESTED ANSWER</a:t>
            </a:r>
          </a:p>
        </p:txBody>
      </p:sp>
      <p:sp>
        <p:nvSpPr>
          <p:cNvPr id="9" name="answer-1">
            <a:extLst>
              <a:ext uri="{FF2B5EF4-FFF2-40B4-BE49-F238E27FC236}">
                <a16:creationId xmlns:a16="http://schemas.microsoft.com/office/drawing/2014/main" id="{D4E4736D-71AB-4984-9074-A587E6E2A47C}"/>
              </a:ext>
            </a:extLst>
          </p:cNvPr>
          <p:cNvSpPr>
            <a:spLocks noGrp="1"/>
          </p:cNvSpPr>
          <p:nvPr/>
        </p:nvSpPr>
        <p:spPr>
          <a:xfrm>
            <a:off x="685800" y="3429000"/>
            <a:ext cx="5324475" cy="1809750"/>
          </a:xfrm>
          <a:prstGeom prst="roundRect">
            <a:avLst>
              <a:gd name="adj" fmla="val 6316"/>
            </a:avLst>
          </a:prstGeom>
          <a:solidFill>
            <a:srgbClr val="FFFDF8"/>
          </a:solidFill>
          <a:ln w="9525">
            <a:solidFill>
              <a:srgbClr val="E8E3D7"/>
            </a:solidFill>
            <a:prstDash val="solid"/>
          </a:ln>
        </p:spPr>
        <p:txBody>
          <a:bodyPr/>
          <a:lstStyle/>
          <a:p>
            <a:endParaRPr lang="en-US"/>
          </a:p>
        </p:txBody>
      </p:sp>
      <p:sp>
        <p:nvSpPr>
          <p:cNvPr id="10" name="answer-label-1">
            <a:extLst>
              <a:ext uri="{FF2B5EF4-FFF2-40B4-BE49-F238E27FC236}">
                <a16:creationId xmlns:a16="http://schemas.microsoft.com/office/drawing/2014/main" id="{8E1D4329-A4C2-450B-8141-3B64A58BE121}"/>
              </a:ext>
            </a:extLst>
          </p:cNvPr>
          <p:cNvSpPr>
            <a:spLocks noGrp="1"/>
          </p:cNvSpPr>
          <p:nvPr/>
        </p:nvSpPr>
        <p:spPr>
          <a:xfrm>
            <a:off x="914400" y="3543300"/>
            <a:ext cx="4867275" cy="238125"/>
          </a:xfrm>
          <a:prstGeom prst="rect">
            <a:avLst/>
          </a:prstGeom>
          <a:noFill/>
          <a:ln w="0">
            <a:noFill/>
            <a:prstDash val="solid"/>
          </a:ln>
        </p:spPr>
        <p:txBody>
          <a:bodyPr anchor="ctr"/>
          <a:lstStyle/>
          <a:p>
            <a:pPr algn="l">
              <a:defRPr sz="1050" b="1">
                <a:solidFill>
                  <a:srgbClr val="A34D36"/>
                </a:solidFill>
              </a:defRPr>
            </a:pPr>
            <a:r>
              <a:rPr sz="1050" b="1">
                <a:solidFill>
                  <a:srgbClr val="A34D36"/>
                </a:solidFill>
              </a:rPr>
              <a:t>HIS MISSION</a:t>
            </a:r>
          </a:p>
        </p:txBody>
      </p:sp>
      <p:sp>
        <p:nvSpPr>
          <p:cNvPr id="11" name="answer-text-1">
            <a:extLst>
              <a:ext uri="{FF2B5EF4-FFF2-40B4-BE49-F238E27FC236}">
                <a16:creationId xmlns:a16="http://schemas.microsoft.com/office/drawing/2014/main" id="{1871C6AC-0295-45FF-BB3E-849416815A33}"/>
              </a:ext>
            </a:extLst>
          </p:cNvPr>
          <p:cNvSpPr>
            <a:spLocks noGrp="1"/>
          </p:cNvSpPr>
          <p:nvPr/>
        </p:nvSpPr>
        <p:spPr>
          <a:xfrm>
            <a:off x="914400" y="3810000"/>
            <a:ext cx="4867275" cy="1352550"/>
          </a:xfrm>
          <a:prstGeom prst="rect">
            <a:avLst/>
          </a:prstGeom>
          <a:noFill/>
          <a:ln w="0">
            <a:noFill/>
            <a:prstDash val="solid"/>
          </a:ln>
        </p:spPr>
        <p:txBody>
          <a:bodyPr anchor="ctr"/>
          <a:lstStyle/>
          <a:p>
            <a:pPr algn="l">
              <a:defRPr sz="1650" b="0">
                <a:solidFill>
                  <a:srgbClr val="23323B"/>
                </a:solidFill>
              </a:defRPr>
            </a:pPr>
            <a:r>
              <a:rPr sz="1650" b="0">
                <a:solidFill>
                  <a:srgbClr val="23323B"/>
                </a:solidFill>
              </a:rPr>
              <a:t>The same kingdom message moves forward after the ascension.</a:t>
            </a:r>
          </a:p>
        </p:txBody>
      </p:sp>
      <p:sp>
        <p:nvSpPr>
          <p:cNvPr id="12" name="answer-2">
            <a:extLst>
              <a:ext uri="{FF2B5EF4-FFF2-40B4-BE49-F238E27FC236}">
                <a16:creationId xmlns:a16="http://schemas.microsoft.com/office/drawing/2014/main" id="{719E0A28-B724-4DB6-907D-2E499EFAFE77}"/>
              </a:ext>
            </a:extLst>
          </p:cNvPr>
          <p:cNvSpPr>
            <a:spLocks noGrp="1"/>
          </p:cNvSpPr>
          <p:nvPr/>
        </p:nvSpPr>
        <p:spPr>
          <a:xfrm>
            <a:off x="6181725" y="3429000"/>
            <a:ext cx="5324475" cy="1809750"/>
          </a:xfrm>
          <a:prstGeom prst="roundRect">
            <a:avLst>
              <a:gd name="adj" fmla="val 6316"/>
            </a:avLst>
          </a:prstGeom>
          <a:solidFill>
            <a:srgbClr val="F0E9DA"/>
          </a:solidFill>
          <a:ln w="9525">
            <a:solidFill>
              <a:srgbClr val="E8E3D7"/>
            </a:solidFill>
            <a:prstDash val="solid"/>
          </a:ln>
        </p:spPr>
        <p:txBody>
          <a:bodyPr/>
          <a:lstStyle/>
          <a:p>
            <a:endParaRPr lang="en-US"/>
          </a:p>
        </p:txBody>
      </p:sp>
      <p:sp>
        <p:nvSpPr>
          <p:cNvPr id="13" name="answer-label-2">
            <a:extLst>
              <a:ext uri="{FF2B5EF4-FFF2-40B4-BE49-F238E27FC236}">
                <a16:creationId xmlns:a16="http://schemas.microsoft.com/office/drawing/2014/main" id="{B3D025E8-0A13-45DC-ACC5-DDFC6C4058D9}"/>
              </a:ext>
            </a:extLst>
          </p:cNvPr>
          <p:cNvSpPr>
            <a:spLocks noGrp="1"/>
          </p:cNvSpPr>
          <p:nvPr/>
        </p:nvSpPr>
        <p:spPr>
          <a:xfrm>
            <a:off x="6410325" y="3543300"/>
            <a:ext cx="4867275" cy="238125"/>
          </a:xfrm>
          <a:prstGeom prst="rect">
            <a:avLst/>
          </a:prstGeom>
          <a:noFill/>
          <a:ln w="0">
            <a:noFill/>
            <a:prstDash val="solid"/>
          </a:ln>
        </p:spPr>
        <p:txBody>
          <a:bodyPr anchor="ctr"/>
          <a:lstStyle/>
          <a:p>
            <a:pPr algn="l">
              <a:defRPr sz="1050" b="1">
                <a:solidFill>
                  <a:srgbClr val="6E8773"/>
                </a:solidFill>
              </a:defRPr>
            </a:pPr>
            <a:r>
              <a:rPr sz="1050" b="1">
                <a:solidFill>
                  <a:srgbClr val="6E8773"/>
                </a:solidFill>
              </a:rPr>
              <a:t>HIS MEANS</a:t>
            </a:r>
          </a:p>
        </p:txBody>
      </p:sp>
      <p:sp>
        <p:nvSpPr>
          <p:cNvPr id="14" name="answer-text-2">
            <a:extLst>
              <a:ext uri="{FF2B5EF4-FFF2-40B4-BE49-F238E27FC236}">
                <a16:creationId xmlns:a16="http://schemas.microsoft.com/office/drawing/2014/main" id="{6777ECBE-67E7-44A2-9665-4B65CED4B915}"/>
              </a:ext>
            </a:extLst>
          </p:cNvPr>
          <p:cNvSpPr>
            <a:spLocks noGrp="1"/>
          </p:cNvSpPr>
          <p:nvPr/>
        </p:nvSpPr>
        <p:spPr>
          <a:xfrm>
            <a:off x="6410325" y="3810000"/>
            <a:ext cx="4867275" cy="1352550"/>
          </a:xfrm>
          <a:prstGeom prst="rect">
            <a:avLst/>
          </a:prstGeom>
          <a:noFill/>
          <a:ln w="0">
            <a:noFill/>
            <a:prstDash val="solid"/>
          </a:ln>
        </p:spPr>
        <p:txBody>
          <a:bodyPr anchor="ctr"/>
          <a:lstStyle/>
          <a:p>
            <a:pPr algn="l">
              <a:defRPr sz="1650" b="0">
                <a:solidFill>
                  <a:srgbClr val="23323B"/>
                </a:solidFill>
              </a:defRPr>
            </a:pPr>
            <a:r>
              <a:rPr sz="1650" b="0">
                <a:solidFill>
                  <a:srgbClr val="23323B"/>
                </a:solidFill>
              </a:rPr>
              <a:t>The Holy Spirit empowers ordinary witnesses to speak and act in Jesus’ name.</a:t>
            </a:r>
          </a:p>
        </p:txBody>
      </p:sp>
      <p:sp>
        <p:nvSpPr>
          <p:cNvPr id="15" name="takeaway-band">
            <a:extLst>
              <a:ext uri="{FF2B5EF4-FFF2-40B4-BE49-F238E27FC236}">
                <a16:creationId xmlns:a16="http://schemas.microsoft.com/office/drawing/2014/main" id="{E5565508-E127-4A49-9F28-8A482144BCC8}"/>
              </a:ext>
            </a:extLst>
          </p:cNvPr>
          <p:cNvSpPr>
            <a:spLocks noGrp="1"/>
          </p:cNvSpPr>
          <p:nvPr/>
        </p:nvSpPr>
        <p:spPr>
          <a:xfrm>
            <a:off x="685800" y="5429250"/>
            <a:ext cx="10820400" cy="723900"/>
          </a:xfrm>
          <a:prstGeom prst="roundRect">
            <a:avLst>
              <a:gd name="adj" fmla="val 15789"/>
            </a:avLst>
          </a:prstGeom>
          <a:solidFill>
            <a:srgbClr val="142B3B"/>
          </a:solidFill>
          <a:ln w="9525">
            <a:solidFill>
              <a:srgbClr val="142B3B"/>
            </a:solidFill>
            <a:prstDash val="solid"/>
          </a:ln>
        </p:spPr>
        <p:txBody>
          <a:bodyPr/>
          <a:lstStyle/>
          <a:p>
            <a:endParaRPr lang="en-US"/>
          </a:p>
        </p:txBody>
      </p:sp>
      <p:sp>
        <p:nvSpPr>
          <p:cNvPr id="16" name="takeaway-label">
            <a:extLst>
              <a:ext uri="{FF2B5EF4-FFF2-40B4-BE49-F238E27FC236}">
                <a16:creationId xmlns:a16="http://schemas.microsoft.com/office/drawing/2014/main" id="{5D7F0F78-8FFD-413B-8285-7855B97140B8}"/>
              </a:ext>
            </a:extLst>
          </p:cNvPr>
          <p:cNvSpPr>
            <a:spLocks noGrp="1"/>
          </p:cNvSpPr>
          <p:nvPr/>
        </p:nvSpPr>
        <p:spPr>
          <a:xfrm>
            <a:off x="914400" y="5524500"/>
            <a:ext cx="1285875" cy="228600"/>
          </a:xfrm>
          <a:prstGeom prst="rect">
            <a:avLst/>
          </a:prstGeom>
          <a:noFill/>
          <a:ln w="0">
            <a:noFill/>
            <a:prstDash val="solid"/>
          </a:ln>
        </p:spPr>
        <p:txBody>
          <a:bodyPr anchor="ctr"/>
          <a:lstStyle/>
          <a:p>
            <a:pPr algn="l">
              <a:defRPr sz="1050" b="1">
                <a:solidFill>
                  <a:srgbClr val="C59A3D"/>
                </a:solidFill>
              </a:defRPr>
            </a:pPr>
            <a:r>
              <a:rPr sz="1050" b="1">
                <a:solidFill>
                  <a:srgbClr val="C59A3D"/>
                </a:solidFill>
              </a:rPr>
              <a:t>KEY IDEA</a:t>
            </a:r>
          </a:p>
        </p:txBody>
      </p:sp>
      <p:sp>
        <p:nvSpPr>
          <p:cNvPr id="17" name="takeaway">
            <a:extLst>
              <a:ext uri="{FF2B5EF4-FFF2-40B4-BE49-F238E27FC236}">
                <a16:creationId xmlns:a16="http://schemas.microsoft.com/office/drawing/2014/main" id="{6032BB9D-99DA-41D4-8DC9-6BE25D8EB47A}"/>
              </a:ext>
            </a:extLst>
          </p:cNvPr>
          <p:cNvSpPr>
            <a:spLocks noGrp="1"/>
          </p:cNvSpPr>
          <p:nvPr/>
        </p:nvSpPr>
        <p:spPr>
          <a:xfrm>
            <a:off x="2143125" y="5476875"/>
            <a:ext cx="8953500" cy="476250"/>
          </a:xfrm>
          <a:prstGeom prst="rect">
            <a:avLst/>
          </a:prstGeom>
          <a:noFill/>
          <a:ln w="0">
            <a:noFill/>
            <a:prstDash val="solid"/>
          </a:ln>
        </p:spPr>
        <p:txBody>
          <a:bodyPr anchor="ctr"/>
          <a:lstStyle/>
          <a:p>
            <a:pPr algn="l">
              <a:defRPr sz="1500" b="1">
                <a:solidFill>
                  <a:srgbClr val="FFFFFF"/>
                </a:solidFill>
              </a:defRPr>
            </a:pPr>
            <a:r>
              <a:rPr sz="1500" b="1">
                <a:solidFill>
                  <a:srgbClr val="FFFFFF"/>
                </a:solidFill>
              </a:rPr>
              <a:t>Acts is the continuing work of the risen Christ, carried out through the Holy Spirit.</a:t>
            </a:r>
          </a:p>
        </p:txBody>
      </p:sp>
    </p:spTree>
    <p:extLst>
      <p:ext uri="{BB962C8B-B14F-4D97-AF65-F5344CB8AC3E}">
        <p14:creationId xmlns:p14="http://schemas.microsoft.com/office/powerpoint/2010/main" val="593640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0" name="top-rule">
            <a:extLst>
              <a:ext uri="{FF2B5EF4-FFF2-40B4-BE49-F238E27FC236}">
                <a16:creationId xmlns:a16="http://schemas.microsoft.com/office/drawing/2014/main" id="{893B6550-C596-4995-A5D7-B0691C8E0FA5}"/>
              </a:ext>
            </a:extLst>
          </p:cNvPr>
          <p:cNvSpPr>
            <a:spLocks noGrp="1"/>
          </p:cNvSpPr>
          <p:nvPr/>
        </p:nvSpPr>
        <p:spPr>
          <a:xfrm>
            <a:off x="0" y="0"/>
            <a:ext cx="12192000" cy="114300"/>
          </a:xfrm>
          <a:prstGeom prst="rect">
            <a:avLst/>
          </a:prstGeom>
          <a:solidFill>
            <a:srgbClr val="C59A3D"/>
          </a:solidFill>
          <a:ln w="0">
            <a:noFill/>
            <a:prstDash val="solid"/>
          </a:ln>
        </p:spPr>
        <p:txBody>
          <a:bodyPr/>
          <a:lstStyle/>
          <a:p>
            <a:endParaRPr lang="en-US"/>
          </a:p>
        </p:txBody>
      </p:sp>
      <p:sp>
        <p:nvSpPr>
          <p:cNvPr id="2" name="section">
            <a:extLst>
              <a:ext uri="{FF2B5EF4-FFF2-40B4-BE49-F238E27FC236}">
                <a16:creationId xmlns:a16="http://schemas.microsoft.com/office/drawing/2014/main" id="{9011BEA5-CE1F-4EF3-BDFC-D7C62A93387C}"/>
              </a:ext>
            </a:extLst>
          </p:cNvPr>
          <p:cNvSpPr>
            <a:spLocks noGrp="1"/>
          </p:cNvSpPr>
          <p:nvPr/>
        </p:nvSpPr>
        <p:spPr>
          <a:xfrm>
            <a:off x="685800" y="266700"/>
            <a:ext cx="5715000" cy="28575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QUESTION 3</a:t>
            </a:r>
          </a:p>
        </p:txBody>
      </p:sp>
      <p:sp>
        <p:nvSpPr>
          <p:cNvPr id="3" name="slide-number">
            <a:extLst>
              <a:ext uri="{FF2B5EF4-FFF2-40B4-BE49-F238E27FC236}">
                <a16:creationId xmlns:a16="http://schemas.microsoft.com/office/drawing/2014/main" id="{98EE03A9-52FC-41ED-92A3-526CD6FCA8F3}"/>
              </a:ext>
            </a:extLst>
          </p:cNvPr>
          <p:cNvSpPr>
            <a:spLocks noGrp="1"/>
          </p:cNvSpPr>
          <p:nvPr/>
        </p:nvSpPr>
        <p:spPr>
          <a:xfrm>
            <a:off x="11096625" y="266700"/>
            <a:ext cx="419100" cy="285750"/>
          </a:xfrm>
          <a:prstGeom prst="rect">
            <a:avLst/>
          </a:prstGeom>
          <a:noFill/>
          <a:ln w="0">
            <a:noFill/>
            <a:prstDash val="solid"/>
          </a:ln>
        </p:spPr>
        <p:txBody>
          <a:bodyPr anchor="ctr"/>
          <a:lstStyle/>
          <a:p>
            <a:pPr algn="r">
              <a:defRPr sz="1200" b="1">
                <a:solidFill>
                  <a:srgbClr val="61717A"/>
                </a:solidFill>
              </a:defRPr>
            </a:pPr>
            <a:r>
              <a:rPr sz="1200" b="1">
                <a:solidFill>
                  <a:srgbClr val="61717A"/>
                </a:solidFill>
              </a:rPr>
              <a:t>07</a:t>
            </a:r>
          </a:p>
        </p:txBody>
      </p:sp>
      <p:sp>
        <p:nvSpPr>
          <p:cNvPr id="4" name="question-number">
            <a:extLst>
              <a:ext uri="{FF2B5EF4-FFF2-40B4-BE49-F238E27FC236}">
                <a16:creationId xmlns:a16="http://schemas.microsoft.com/office/drawing/2014/main" id="{0CDBC815-3156-46C3-A833-573CBD53FA7A}"/>
              </a:ext>
            </a:extLst>
          </p:cNvPr>
          <p:cNvSpPr>
            <a:spLocks noGrp="1"/>
          </p:cNvSpPr>
          <p:nvPr/>
        </p:nvSpPr>
        <p:spPr>
          <a:xfrm>
            <a:off x="685800" y="876300"/>
            <a:ext cx="1428750" cy="914400"/>
          </a:xfrm>
          <a:prstGeom prst="rect">
            <a:avLst/>
          </a:prstGeom>
          <a:noFill/>
          <a:ln w="0">
            <a:noFill/>
            <a:prstDash val="solid"/>
          </a:ln>
        </p:spPr>
        <p:txBody>
          <a:bodyPr anchor="ctr"/>
          <a:lstStyle/>
          <a:p>
            <a:pPr algn="l">
              <a:defRPr sz="5400" b="1">
                <a:solidFill>
                  <a:srgbClr val="C59A3D"/>
                </a:solidFill>
              </a:defRPr>
            </a:pPr>
            <a:r>
              <a:rPr sz="5400" b="1">
                <a:solidFill>
                  <a:srgbClr val="C59A3D"/>
                </a:solidFill>
              </a:rPr>
              <a:t>Q3</a:t>
            </a:r>
          </a:p>
        </p:txBody>
      </p:sp>
      <p:sp>
        <p:nvSpPr>
          <p:cNvPr id="5" name="question-title">
            <a:extLst>
              <a:ext uri="{FF2B5EF4-FFF2-40B4-BE49-F238E27FC236}">
                <a16:creationId xmlns:a16="http://schemas.microsoft.com/office/drawing/2014/main" id="{27DCFE67-6307-4FFA-B492-15B05F7ED358}"/>
              </a:ext>
            </a:extLst>
          </p:cNvPr>
          <p:cNvSpPr>
            <a:spLocks noGrp="1"/>
          </p:cNvSpPr>
          <p:nvPr/>
        </p:nvSpPr>
        <p:spPr>
          <a:xfrm>
            <a:off x="2143125" y="904875"/>
            <a:ext cx="9048750" cy="762000"/>
          </a:xfrm>
          <a:prstGeom prst="rect">
            <a:avLst/>
          </a:prstGeom>
          <a:noFill/>
          <a:ln w="0">
            <a:noFill/>
            <a:prstDash val="solid"/>
          </a:ln>
        </p:spPr>
        <p:txBody>
          <a:bodyPr anchor="ctr"/>
          <a:lstStyle/>
          <a:p>
            <a:pPr algn="l">
              <a:defRPr sz="2850" b="1">
                <a:solidFill>
                  <a:srgbClr val="142B3B"/>
                </a:solidFill>
              </a:defRPr>
            </a:pPr>
            <a:r>
              <a:rPr sz="2850" b="1">
                <a:solidFill>
                  <a:srgbClr val="142B3B"/>
                </a:solidFill>
              </a:rPr>
              <a:t>The purpose of Acts</a:t>
            </a:r>
          </a:p>
        </p:txBody>
      </p:sp>
      <p:sp>
        <p:nvSpPr>
          <p:cNvPr id="6" name="question-field">
            <a:extLst>
              <a:ext uri="{FF2B5EF4-FFF2-40B4-BE49-F238E27FC236}">
                <a16:creationId xmlns:a16="http://schemas.microsoft.com/office/drawing/2014/main" id="{0EAC5326-BD26-4B34-82ED-520DDB0B68E7}"/>
              </a:ext>
            </a:extLst>
          </p:cNvPr>
          <p:cNvSpPr>
            <a:spLocks noGrp="1"/>
          </p:cNvSpPr>
          <p:nvPr/>
        </p:nvSpPr>
        <p:spPr>
          <a:xfrm>
            <a:off x="685800" y="1952625"/>
            <a:ext cx="10820400" cy="3143250"/>
          </a:xfrm>
          <a:prstGeom prst="roundRect">
            <a:avLst>
              <a:gd name="adj" fmla="val 3636"/>
            </a:avLst>
          </a:prstGeom>
          <a:solidFill>
            <a:srgbClr val="FFFDF8"/>
          </a:solidFill>
          <a:ln w="9525">
            <a:solidFill>
              <a:srgbClr val="E8E3D7"/>
            </a:solidFill>
            <a:prstDash val="solid"/>
          </a:ln>
        </p:spPr>
        <p:txBody>
          <a:bodyPr/>
          <a:lstStyle/>
          <a:p>
            <a:endParaRPr lang="en-US"/>
          </a:p>
        </p:txBody>
      </p:sp>
      <p:sp>
        <p:nvSpPr>
          <p:cNvPr id="7" name="question">
            <a:extLst>
              <a:ext uri="{FF2B5EF4-FFF2-40B4-BE49-F238E27FC236}">
                <a16:creationId xmlns:a16="http://schemas.microsoft.com/office/drawing/2014/main" id="{B13A3C8C-C16F-4DE7-9CB6-A3354F410ECE}"/>
              </a:ext>
            </a:extLst>
          </p:cNvPr>
          <p:cNvSpPr>
            <a:spLocks noGrp="1"/>
          </p:cNvSpPr>
          <p:nvPr/>
        </p:nvSpPr>
        <p:spPr>
          <a:xfrm>
            <a:off x="1162050" y="2238375"/>
            <a:ext cx="9867900" cy="2571750"/>
          </a:xfrm>
          <a:prstGeom prst="rect">
            <a:avLst/>
          </a:prstGeom>
          <a:noFill/>
          <a:ln w="0">
            <a:noFill/>
            <a:prstDash val="solid"/>
          </a:ln>
        </p:spPr>
        <p:txBody>
          <a:bodyPr anchor="ctr"/>
          <a:lstStyle/>
          <a:p>
            <a:pPr algn="l">
              <a:defRPr sz="2325" b="1">
                <a:solidFill>
                  <a:srgbClr val="23323B"/>
                </a:solidFill>
              </a:defRPr>
            </a:pPr>
            <a:r>
              <a:rPr sz="2325" b="1">
                <a:solidFill>
                  <a:srgbClr val="23323B"/>
                </a:solidFill>
              </a:rPr>
              <a:t>What does Acts 1:8 tell you about the purpose of the book?</a:t>
            </a:r>
          </a:p>
        </p:txBody>
      </p:sp>
      <p:sp>
        <p:nvSpPr>
          <p:cNvPr id="8" name="discussion-rule">
            <a:extLst>
              <a:ext uri="{FF2B5EF4-FFF2-40B4-BE49-F238E27FC236}">
                <a16:creationId xmlns:a16="http://schemas.microsoft.com/office/drawing/2014/main" id="{D6435060-8034-4049-B84C-FBAE38F9BECF}"/>
              </a:ext>
            </a:extLst>
          </p:cNvPr>
          <p:cNvSpPr>
            <a:spLocks noGrp="1"/>
          </p:cNvSpPr>
          <p:nvPr/>
        </p:nvSpPr>
        <p:spPr>
          <a:xfrm>
            <a:off x="685800" y="5429250"/>
            <a:ext cx="1428750" cy="47625"/>
          </a:xfrm>
          <a:prstGeom prst="rect">
            <a:avLst/>
          </a:prstGeom>
          <a:solidFill>
            <a:srgbClr val="A34D36"/>
          </a:solidFill>
          <a:ln w="0">
            <a:noFill/>
            <a:prstDash val="solid"/>
          </a:ln>
        </p:spPr>
        <p:txBody>
          <a:bodyPr/>
          <a:lstStyle/>
          <a:p>
            <a:endParaRPr lang="en-US"/>
          </a:p>
        </p:txBody>
      </p:sp>
      <p:sp>
        <p:nvSpPr>
          <p:cNvPr id="9" name="discussion-kicker">
            <a:extLst>
              <a:ext uri="{FF2B5EF4-FFF2-40B4-BE49-F238E27FC236}">
                <a16:creationId xmlns:a16="http://schemas.microsoft.com/office/drawing/2014/main" id="{86CF3831-004B-4ECB-AFBA-875E61FDF35D}"/>
              </a:ext>
            </a:extLst>
          </p:cNvPr>
          <p:cNvSpPr>
            <a:spLocks noGrp="1"/>
          </p:cNvSpPr>
          <p:nvPr/>
        </p:nvSpPr>
        <p:spPr>
          <a:xfrm>
            <a:off x="2286000" y="5219700"/>
            <a:ext cx="8763000" cy="457200"/>
          </a:xfrm>
          <a:prstGeom prst="rect">
            <a:avLst/>
          </a:prstGeom>
          <a:noFill/>
          <a:ln w="0">
            <a:noFill/>
            <a:prstDash val="solid"/>
          </a:ln>
        </p:spPr>
        <p:txBody>
          <a:bodyPr anchor="ctr"/>
          <a:lstStyle/>
          <a:p>
            <a:pPr algn="l">
              <a:defRPr sz="1650" b="0">
                <a:solidFill>
                  <a:srgbClr val="61717A"/>
                </a:solidFill>
              </a:defRPr>
            </a:pPr>
            <a:r>
              <a:rPr sz="1650" b="0">
                <a:solidFill>
                  <a:srgbClr val="61717A"/>
                </a:solidFill>
              </a:rPr>
              <a:t>Power has a purpose: faithful witness in an expanding mission.</a:t>
            </a:r>
          </a:p>
        </p:txBody>
      </p:sp>
    </p:spTree>
    <p:extLst>
      <p:ext uri="{BB962C8B-B14F-4D97-AF65-F5344CB8AC3E}">
        <p14:creationId xmlns:p14="http://schemas.microsoft.com/office/powerpoint/2010/main" val="495085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1" name="top-rule">
            <a:extLst>
              <a:ext uri="{FF2B5EF4-FFF2-40B4-BE49-F238E27FC236}">
                <a16:creationId xmlns:a16="http://schemas.microsoft.com/office/drawing/2014/main" id="{B6BDC952-0F11-409B-9B09-529A1462186B}"/>
              </a:ext>
            </a:extLst>
          </p:cNvPr>
          <p:cNvSpPr>
            <a:spLocks noGrp="1"/>
          </p:cNvSpPr>
          <p:nvPr/>
        </p:nvSpPr>
        <p:spPr>
          <a:xfrm>
            <a:off x="0" y="0"/>
            <a:ext cx="12192000" cy="114300"/>
          </a:xfrm>
          <a:prstGeom prst="rect">
            <a:avLst/>
          </a:prstGeom>
          <a:solidFill>
            <a:srgbClr val="C59A3D"/>
          </a:solidFill>
          <a:ln w="0">
            <a:noFill/>
            <a:prstDash val="solid"/>
          </a:ln>
        </p:spPr>
        <p:txBody>
          <a:bodyPr/>
          <a:lstStyle/>
          <a:p>
            <a:endParaRPr lang="en-US"/>
          </a:p>
        </p:txBody>
      </p:sp>
      <p:sp>
        <p:nvSpPr>
          <p:cNvPr id="2" name="section">
            <a:extLst>
              <a:ext uri="{FF2B5EF4-FFF2-40B4-BE49-F238E27FC236}">
                <a16:creationId xmlns:a16="http://schemas.microsoft.com/office/drawing/2014/main" id="{3152B375-0C81-4F44-906C-892E8827DFCC}"/>
              </a:ext>
            </a:extLst>
          </p:cNvPr>
          <p:cNvSpPr>
            <a:spLocks noGrp="1"/>
          </p:cNvSpPr>
          <p:nvPr/>
        </p:nvSpPr>
        <p:spPr>
          <a:xfrm>
            <a:off x="685800" y="266700"/>
            <a:ext cx="5715000" cy="28575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QUESTION 3 • ANSWER REVEALED</a:t>
            </a:r>
          </a:p>
        </p:txBody>
      </p:sp>
      <p:sp>
        <p:nvSpPr>
          <p:cNvPr id="3" name="slide-number">
            <a:extLst>
              <a:ext uri="{FF2B5EF4-FFF2-40B4-BE49-F238E27FC236}">
                <a16:creationId xmlns:a16="http://schemas.microsoft.com/office/drawing/2014/main" id="{87CE47D8-0922-443F-BCA0-26D69007C2D7}"/>
              </a:ext>
            </a:extLst>
          </p:cNvPr>
          <p:cNvSpPr>
            <a:spLocks noGrp="1"/>
          </p:cNvSpPr>
          <p:nvPr/>
        </p:nvSpPr>
        <p:spPr>
          <a:xfrm>
            <a:off x="11096625" y="266700"/>
            <a:ext cx="419100" cy="285750"/>
          </a:xfrm>
          <a:prstGeom prst="rect">
            <a:avLst/>
          </a:prstGeom>
          <a:noFill/>
          <a:ln w="0">
            <a:noFill/>
            <a:prstDash val="solid"/>
          </a:ln>
        </p:spPr>
        <p:txBody>
          <a:bodyPr anchor="ctr"/>
          <a:lstStyle/>
          <a:p>
            <a:pPr algn="r">
              <a:defRPr sz="1200" b="1">
                <a:solidFill>
                  <a:srgbClr val="61717A"/>
                </a:solidFill>
              </a:defRPr>
            </a:pPr>
            <a:r>
              <a:rPr sz="1200" b="1">
                <a:solidFill>
                  <a:srgbClr val="61717A"/>
                </a:solidFill>
              </a:rPr>
              <a:t>08</a:t>
            </a:r>
          </a:p>
        </p:txBody>
      </p:sp>
      <p:sp>
        <p:nvSpPr>
          <p:cNvPr id="4" name="question-number">
            <a:extLst>
              <a:ext uri="{FF2B5EF4-FFF2-40B4-BE49-F238E27FC236}">
                <a16:creationId xmlns:a16="http://schemas.microsoft.com/office/drawing/2014/main" id="{87F0D22A-9774-45BC-8B87-88D65FB6DA6F}"/>
              </a:ext>
            </a:extLst>
          </p:cNvPr>
          <p:cNvSpPr>
            <a:spLocks noGrp="1"/>
          </p:cNvSpPr>
          <p:nvPr/>
        </p:nvSpPr>
        <p:spPr>
          <a:xfrm>
            <a:off x="685800" y="685800"/>
            <a:ext cx="1285875" cy="762000"/>
          </a:xfrm>
          <a:prstGeom prst="rect">
            <a:avLst/>
          </a:prstGeom>
          <a:noFill/>
          <a:ln w="0">
            <a:noFill/>
            <a:prstDash val="solid"/>
          </a:ln>
        </p:spPr>
        <p:txBody>
          <a:bodyPr anchor="ctr"/>
          <a:lstStyle/>
          <a:p>
            <a:pPr algn="l">
              <a:defRPr sz="4350" b="1">
                <a:solidFill>
                  <a:srgbClr val="C59A3D"/>
                </a:solidFill>
              </a:defRPr>
            </a:pPr>
            <a:r>
              <a:rPr sz="4350" b="1">
                <a:solidFill>
                  <a:srgbClr val="C59A3D"/>
                </a:solidFill>
              </a:rPr>
              <a:t>Q3</a:t>
            </a:r>
          </a:p>
        </p:txBody>
      </p:sp>
      <p:sp>
        <p:nvSpPr>
          <p:cNvPr id="5" name="question-title">
            <a:extLst>
              <a:ext uri="{FF2B5EF4-FFF2-40B4-BE49-F238E27FC236}">
                <a16:creationId xmlns:a16="http://schemas.microsoft.com/office/drawing/2014/main" id="{7BE50378-7765-478D-A1B2-54E6E83AEF76}"/>
              </a:ext>
            </a:extLst>
          </p:cNvPr>
          <p:cNvSpPr>
            <a:spLocks noGrp="1"/>
          </p:cNvSpPr>
          <p:nvPr/>
        </p:nvSpPr>
        <p:spPr>
          <a:xfrm>
            <a:off x="2047875" y="723900"/>
            <a:ext cx="9144000" cy="609600"/>
          </a:xfrm>
          <a:prstGeom prst="rect">
            <a:avLst/>
          </a:prstGeom>
          <a:noFill/>
          <a:ln w="0">
            <a:noFill/>
            <a:prstDash val="solid"/>
          </a:ln>
        </p:spPr>
        <p:txBody>
          <a:bodyPr anchor="ctr"/>
          <a:lstStyle/>
          <a:p>
            <a:pPr algn="l">
              <a:defRPr sz="2550" b="1">
                <a:solidFill>
                  <a:srgbClr val="142B3B"/>
                </a:solidFill>
              </a:defRPr>
            </a:pPr>
            <a:r>
              <a:rPr sz="2550" b="1">
                <a:solidFill>
                  <a:srgbClr val="142B3B"/>
                </a:solidFill>
              </a:rPr>
              <a:t>The purpose of Acts</a:t>
            </a:r>
          </a:p>
        </p:txBody>
      </p:sp>
      <p:sp>
        <p:nvSpPr>
          <p:cNvPr id="6" name="question-field">
            <a:extLst>
              <a:ext uri="{FF2B5EF4-FFF2-40B4-BE49-F238E27FC236}">
                <a16:creationId xmlns:a16="http://schemas.microsoft.com/office/drawing/2014/main" id="{9FF6CD56-783F-4F5A-9698-68621D8DC9CA}"/>
              </a:ext>
            </a:extLst>
          </p:cNvPr>
          <p:cNvSpPr>
            <a:spLocks noGrp="1"/>
          </p:cNvSpPr>
          <p:nvPr/>
        </p:nvSpPr>
        <p:spPr>
          <a:xfrm>
            <a:off x="685800" y="1504950"/>
            <a:ext cx="10820400" cy="1428750"/>
          </a:xfrm>
          <a:prstGeom prst="roundRect">
            <a:avLst>
              <a:gd name="adj" fmla="val 8000"/>
            </a:avLst>
          </a:prstGeom>
          <a:solidFill>
            <a:srgbClr val="FFFDF8"/>
          </a:solidFill>
          <a:ln w="9525">
            <a:solidFill>
              <a:srgbClr val="E8E3D7"/>
            </a:solidFill>
            <a:prstDash val="solid"/>
          </a:ln>
        </p:spPr>
        <p:txBody>
          <a:bodyPr/>
          <a:lstStyle/>
          <a:p>
            <a:endParaRPr lang="en-US"/>
          </a:p>
        </p:txBody>
      </p:sp>
      <p:sp>
        <p:nvSpPr>
          <p:cNvPr id="7" name="question">
            <a:extLst>
              <a:ext uri="{FF2B5EF4-FFF2-40B4-BE49-F238E27FC236}">
                <a16:creationId xmlns:a16="http://schemas.microsoft.com/office/drawing/2014/main" id="{C07CE2E9-4E2C-4D88-BCEA-3B792E7B3E47}"/>
              </a:ext>
            </a:extLst>
          </p:cNvPr>
          <p:cNvSpPr>
            <a:spLocks noGrp="1"/>
          </p:cNvSpPr>
          <p:nvPr/>
        </p:nvSpPr>
        <p:spPr>
          <a:xfrm>
            <a:off x="990600" y="1638300"/>
            <a:ext cx="10210800" cy="1162050"/>
          </a:xfrm>
          <a:prstGeom prst="rect">
            <a:avLst/>
          </a:prstGeom>
          <a:noFill/>
          <a:ln w="0">
            <a:noFill/>
            <a:prstDash val="solid"/>
          </a:ln>
        </p:spPr>
        <p:txBody>
          <a:bodyPr anchor="ctr"/>
          <a:lstStyle/>
          <a:p>
            <a:pPr algn="l">
              <a:defRPr sz="1800" b="1">
                <a:solidFill>
                  <a:srgbClr val="23323B"/>
                </a:solidFill>
              </a:defRPr>
            </a:pPr>
            <a:r>
              <a:rPr sz="1800" b="1">
                <a:solidFill>
                  <a:srgbClr val="23323B"/>
                </a:solidFill>
              </a:rPr>
              <a:t>What does Acts 1:8 tell you about the purpose of the book?</a:t>
            </a:r>
          </a:p>
        </p:txBody>
      </p:sp>
      <p:sp>
        <p:nvSpPr>
          <p:cNvPr id="8" name="reveal-label">
            <a:extLst>
              <a:ext uri="{FF2B5EF4-FFF2-40B4-BE49-F238E27FC236}">
                <a16:creationId xmlns:a16="http://schemas.microsoft.com/office/drawing/2014/main" id="{815D3971-9341-4BB6-B5C4-A25C0E991084}"/>
              </a:ext>
            </a:extLst>
          </p:cNvPr>
          <p:cNvSpPr>
            <a:spLocks noGrp="1"/>
          </p:cNvSpPr>
          <p:nvPr/>
        </p:nvSpPr>
        <p:spPr>
          <a:xfrm>
            <a:off x="685800" y="3105150"/>
            <a:ext cx="2381250" cy="26670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SUGGESTED ANSWER</a:t>
            </a:r>
          </a:p>
        </p:txBody>
      </p:sp>
      <p:sp>
        <p:nvSpPr>
          <p:cNvPr id="9" name="answer-1">
            <a:extLst>
              <a:ext uri="{FF2B5EF4-FFF2-40B4-BE49-F238E27FC236}">
                <a16:creationId xmlns:a16="http://schemas.microsoft.com/office/drawing/2014/main" id="{DAB41C5A-16AA-48EC-A0E1-40F14607B1E5}"/>
              </a:ext>
            </a:extLst>
          </p:cNvPr>
          <p:cNvSpPr>
            <a:spLocks noGrp="1"/>
          </p:cNvSpPr>
          <p:nvPr/>
        </p:nvSpPr>
        <p:spPr>
          <a:xfrm>
            <a:off x="685800" y="3429000"/>
            <a:ext cx="3492500" cy="1809750"/>
          </a:xfrm>
          <a:prstGeom prst="roundRect">
            <a:avLst>
              <a:gd name="adj" fmla="val 6316"/>
            </a:avLst>
          </a:prstGeom>
          <a:solidFill>
            <a:srgbClr val="FFFDF8"/>
          </a:solidFill>
          <a:ln w="9525">
            <a:solidFill>
              <a:srgbClr val="E8E3D7"/>
            </a:solidFill>
            <a:prstDash val="solid"/>
          </a:ln>
        </p:spPr>
        <p:txBody>
          <a:bodyPr/>
          <a:lstStyle/>
          <a:p>
            <a:endParaRPr lang="en-US"/>
          </a:p>
        </p:txBody>
      </p:sp>
      <p:sp>
        <p:nvSpPr>
          <p:cNvPr id="10" name="answer-label-1">
            <a:extLst>
              <a:ext uri="{FF2B5EF4-FFF2-40B4-BE49-F238E27FC236}">
                <a16:creationId xmlns:a16="http://schemas.microsoft.com/office/drawing/2014/main" id="{CB43514E-7031-42DE-A726-80EFA7B87FB4}"/>
              </a:ext>
            </a:extLst>
          </p:cNvPr>
          <p:cNvSpPr>
            <a:spLocks noGrp="1"/>
          </p:cNvSpPr>
          <p:nvPr/>
        </p:nvSpPr>
        <p:spPr>
          <a:xfrm>
            <a:off x="914400" y="3543300"/>
            <a:ext cx="3035300" cy="238125"/>
          </a:xfrm>
          <a:prstGeom prst="rect">
            <a:avLst/>
          </a:prstGeom>
          <a:noFill/>
          <a:ln w="0">
            <a:noFill/>
            <a:prstDash val="solid"/>
          </a:ln>
        </p:spPr>
        <p:txBody>
          <a:bodyPr anchor="ctr"/>
          <a:lstStyle/>
          <a:p>
            <a:pPr algn="l">
              <a:defRPr sz="1050" b="1">
                <a:solidFill>
                  <a:srgbClr val="A34D36"/>
                </a:solidFill>
              </a:defRPr>
            </a:pPr>
            <a:r>
              <a:rPr sz="1050" b="1">
                <a:solidFill>
                  <a:srgbClr val="A34D36"/>
                </a:solidFill>
              </a:rPr>
              <a:t>ACTS 1–7</a:t>
            </a:r>
          </a:p>
        </p:txBody>
      </p:sp>
      <p:sp>
        <p:nvSpPr>
          <p:cNvPr id="11" name="answer-text-1">
            <a:extLst>
              <a:ext uri="{FF2B5EF4-FFF2-40B4-BE49-F238E27FC236}">
                <a16:creationId xmlns:a16="http://schemas.microsoft.com/office/drawing/2014/main" id="{9CE0289E-E9E8-4F62-AE3B-DD0ECFC74EF9}"/>
              </a:ext>
            </a:extLst>
          </p:cNvPr>
          <p:cNvSpPr>
            <a:spLocks noGrp="1"/>
          </p:cNvSpPr>
          <p:nvPr/>
        </p:nvSpPr>
        <p:spPr>
          <a:xfrm>
            <a:off x="914400" y="3810000"/>
            <a:ext cx="3035300" cy="1352550"/>
          </a:xfrm>
          <a:prstGeom prst="rect">
            <a:avLst/>
          </a:prstGeom>
          <a:noFill/>
          <a:ln w="0">
            <a:noFill/>
            <a:prstDash val="solid"/>
          </a:ln>
        </p:spPr>
        <p:txBody>
          <a:bodyPr anchor="ctr"/>
          <a:lstStyle/>
          <a:p>
            <a:pPr algn="l">
              <a:defRPr sz="1500" b="0">
                <a:solidFill>
                  <a:srgbClr val="23323B"/>
                </a:solidFill>
              </a:defRPr>
            </a:pPr>
            <a:r>
              <a:rPr sz="1500" b="0">
                <a:solidFill>
                  <a:srgbClr val="23323B"/>
                </a:solidFill>
              </a:rPr>
              <a:t>Jerusalem: the Spirit comes and the church’s public witness begins.</a:t>
            </a:r>
          </a:p>
        </p:txBody>
      </p:sp>
      <p:sp>
        <p:nvSpPr>
          <p:cNvPr id="12" name="answer-2">
            <a:extLst>
              <a:ext uri="{FF2B5EF4-FFF2-40B4-BE49-F238E27FC236}">
                <a16:creationId xmlns:a16="http://schemas.microsoft.com/office/drawing/2014/main" id="{04ECE688-F342-4384-A6E1-5AA54A2A02F6}"/>
              </a:ext>
            </a:extLst>
          </p:cNvPr>
          <p:cNvSpPr>
            <a:spLocks noGrp="1"/>
          </p:cNvSpPr>
          <p:nvPr/>
        </p:nvSpPr>
        <p:spPr>
          <a:xfrm>
            <a:off x="4349750" y="3429000"/>
            <a:ext cx="3492500" cy="1809750"/>
          </a:xfrm>
          <a:prstGeom prst="roundRect">
            <a:avLst>
              <a:gd name="adj" fmla="val 6316"/>
            </a:avLst>
          </a:prstGeom>
          <a:solidFill>
            <a:srgbClr val="F0E9DA"/>
          </a:solidFill>
          <a:ln w="9525">
            <a:solidFill>
              <a:srgbClr val="E8E3D7"/>
            </a:solidFill>
            <a:prstDash val="solid"/>
          </a:ln>
        </p:spPr>
        <p:txBody>
          <a:bodyPr/>
          <a:lstStyle/>
          <a:p>
            <a:endParaRPr lang="en-US"/>
          </a:p>
        </p:txBody>
      </p:sp>
      <p:sp>
        <p:nvSpPr>
          <p:cNvPr id="13" name="answer-label-2">
            <a:extLst>
              <a:ext uri="{FF2B5EF4-FFF2-40B4-BE49-F238E27FC236}">
                <a16:creationId xmlns:a16="http://schemas.microsoft.com/office/drawing/2014/main" id="{F63DC76B-D4C2-4127-8334-08017950850C}"/>
              </a:ext>
            </a:extLst>
          </p:cNvPr>
          <p:cNvSpPr>
            <a:spLocks noGrp="1"/>
          </p:cNvSpPr>
          <p:nvPr/>
        </p:nvSpPr>
        <p:spPr>
          <a:xfrm>
            <a:off x="4578350" y="3543300"/>
            <a:ext cx="3035300" cy="238125"/>
          </a:xfrm>
          <a:prstGeom prst="rect">
            <a:avLst/>
          </a:prstGeom>
          <a:noFill/>
          <a:ln w="0">
            <a:noFill/>
            <a:prstDash val="solid"/>
          </a:ln>
        </p:spPr>
        <p:txBody>
          <a:bodyPr anchor="ctr"/>
          <a:lstStyle/>
          <a:p>
            <a:pPr algn="l">
              <a:defRPr sz="1050" b="1">
                <a:solidFill>
                  <a:srgbClr val="6E8773"/>
                </a:solidFill>
              </a:defRPr>
            </a:pPr>
            <a:r>
              <a:rPr sz="1050" b="1">
                <a:solidFill>
                  <a:srgbClr val="6E8773"/>
                </a:solidFill>
              </a:rPr>
              <a:t>ACTS 8–12</a:t>
            </a:r>
          </a:p>
        </p:txBody>
      </p:sp>
      <p:sp>
        <p:nvSpPr>
          <p:cNvPr id="14" name="answer-text-2">
            <a:extLst>
              <a:ext uri="{FF2B5EF4-FFF2-40B4-BE49-F238E27FC236}">
                <a16:creationId xmlns:a16="http://schemas.microsoft.com/office/drawing/2014/main" id="{A555EADE-4171-4821-B044-FBFB4D8EB32F}"/>
              </a:ext>
            </a:extLst>
          </p:cNvPr>
          <p:cNvSpPr>
            <a:spLocks noGrp="1"/>
          </p:cNvSpPr>
          <p:nvPr/>
        </p:nvSpPr>
        <p:spPr>
          <a:xfrm>
            <a:off x="4578350" y="3810000"/>
            <a:ext cx="3035300" cy="1352550"/>
          </a:xfrm>
          <a:prstGeom prst="rect">
            <a:avLst/>
          </a:prstGeom>
          <a:noFill/>
          <a:ln w="0">
            <a:noFill/>
            <a:prstDash val="solid"/>
          </a:ln>
        </p:spPr>
        <p:txBody>
          <a:bodyPr anchor="ctr"/>
          <a:lstStyle/>
          <a:p>
            <a:pPr algn="l">
              <a:defRPr sz="1500" b="0">
                <a:solidFill>
                  <a:srgbClr val="23323B"/>
                </a:solidFill>
              </a:defRPr>
            </a:pPr>
            <a:r>
              <a:rPr sz="1500" b="0">
                <a:solidFill>
                  <a:srgbClr val="23323B"/>
                </a:solidFill>
              </a:rPr>
              <a:t>Judea and Samaria: persecution scatters believers and new peoples receive the word.</a:t>
            </a:r>
          </a:p>
        </p:txBody>
      </p:sp>
      <p:sp>
        <p:nvSpPr>
          <p:cNvPr id="15" name="answer-3">
            <a:extLst>
              <a:ext uri="{FF2B5EF4-FFF2-40B4-BE49-F238E27FC236}">
                <a16:creationId xmlns:a16="http://schemas.microsoft.com/office/drawing/2014/main" id="{8AC14A82-6C89-4005-8B4D-C8544A38D669}"/>
              </a:ext>
            </a:extLst>
          </p:cNvPr>
          <p:cNvSpPr>
            <a:spLocks noGrp="1"/>
          </p:cNvSpPr>
          <p:nvPr/>
        </p:nvSpPr>
        <p:spPr>
          <a:xfrm>
            <a:off x="8013700" y="3429000"/>
            <a:ext cx="3492500" cy="1809750"/>
          </a:xfrm>
          <a:prstGeom prst="roundRect">
            <a:avLst>
              <a:gd name="adj" fmla="val 6316"/>
            </a:avLst>
          </a:prstGeom>
          <a:solidFill>
            <a:srgbClr val="FFFDF8"/>
          </a:solidFill>
          <a:ln w="9525">
            <a:solidFill>
              <a:srgbClr val="E8E3D7"/>
            </a:solidFill>
            <a:prstDash val="solid"/>
          </a:ln>
        </p:spPr>
        <p:txBody>
          <a:bodyPr/>
          <a:lstStyle/>
          <a:p>
            <a:endParaRPr lang="en-US"/>
          </a:p>
        </p:txBody>
      </p:sp>
      <p:sp>
        <p:nvSpPr>
          <p:cNvPr id="16" name="answer-label-3">
            <a:extLst>
              <a:ext uri="{FF2B5EF4-FFF2-40B4-BE49-F238E27FC236}">
                <a16:creationId xmlns:a16="http://schemas.microsoft.com/office/drawing/2014/main" id="{9B40EF57-8ABC-4ADD-ADF2-F18C148D8576}"/>
              </a:ext>
            </a:extLst>
          </p:cNvPr>
          <p:cNvSpPr>
            <a:spLocks noGrp="1"/>
          </p:cNvSpPr>
          <p:nvPr/>
        </p:nvSpPr>
        <p:spPr>
          <a:xfrm>
            <a:off x="8242300" y="3543300"/>
            <a:ext cx="3035300" cy="238125"/>
          </a:xfrm>
          <a:prstGeom prst="rect">
            <a:avLst/>
          </a:prstGeom>
          <a:noFill/>
          <a:ln w="0">
            <a:noFill/>
            <a:prstDash val="solid"/>
          </a:ln>
        </p:spPr>
        <p:txBody>
          <a:bodyPr anchor="ctr"/>
          <a:lstStyle/>
          <a:p>
            <a:pPr algn="l">
              <a:defRPr sz="1050" b="1">
                <a:solidFill>
                  <a:srgbClr val="A34D36"/>
                </a:solidFill>
              </a:defRPr>
            </a:pPr>
            <a:r>
              <a:rPr sz="1050" b="1">
                <a:solidFill>
                  <a:srgbClr val="A34D36"/>
                </a:solidFill>
              </a:rPr>
              <a:t>ACTS 13–28</a:t>
            </a:r>
          </a:p>
        </p:txBody>
      </p:sp>
      <p:sp>
        <p:nvSpPr>
          <p:cNvPr id="17" name="answer-text-3">
            <a:extLst>
              <a:ext uri="{FF2B5EF4-FFF2-40B4-BE49-F238E27FC236}">
                <a16:creationId xmlns:a16="http://schemas.microsoft.com/office/drawing/2014/main" id="{154C74DF-325A-448D-A950-5482871623FF}"/>
              </a:ext>
            </a:extLst>
          </p:cNvPr>
          <p:cNvSpPr>
            <a:spLocks noGrp="1"/>
          </p:cNvSpPr>
          <p:nvPr/>
        </p:nvSpPr>
        <p:spPr>
          <a:xfrm>
            <a:off x="8242300" y="3810000"/>
            <a:ext cx="3035300" cy="1352550"/>
          </a:xfrm>
          <a:prstGeom prst="rect">
            <a:avLst/>
          </a:prstGeom>
          <a:noFill/>
          <a:ln w="0">
            <a:noFill/>
            <a:prstDash val="solid"/>
          </a:ln>
        </p:spPr>
        <p:txBody>
          <a:bodyPr anchor="ctr"/>
          <a:lstStyle/>
          <a:p>
            <a:pPr algn="l">
              <a:defRPr sz="1500" b="0">
                <a:solidFill>
                  <a:srgbClr val="23323B"/>
                </a:solidFill>
              </a:defRPr>
            </a:pPr>
            <a:r>
              <a:rPr sz="1500" b="0">
                <a:solidFill>
                  <a:srgbClr val="23323B"/>
                </a:solidFill>
              </a:rPr>
              <a:t>The nations: Paul’s journeys carry the gospel toward Rome and beyond.</a:t>
            </a:r>
          </a:p>
        </p:txBody>
      </p:sp>
      <p:sp>
        <p:nvSpPr>
          <p:cNvPr id="18" name="takeaway-band">
            <a:extLst>
              <a:ext uri="{FF2B5EF4-FFF2-40B4-BE49-F238E27FC236}">
                <a16:creationId xmlns:a16="http://schemas.microsoft.com/office/drawing/2014/main" id="{F9FE82B0-667F-4329-A111-4DC5BA1434B4}"/>
              </a:ext>
            </a:extLst>
          </p:cNvPr>
          <p:cNvSpPr>
            <a:spLocks noGrp="1"/>
          </p:cNvSpPr>
          <p:nvPr/>
        </p:nvSpPr>
        <p:spPr>
          <a:xfrm>
            <a:off x="685800" y="5429250"/>
            <a:ext cx="10820400" cy="723900"/>
          </a:xfrm>
          <a:prstGeom prst="roundRect">
            <a:avLst>
              <a:gd name="adj" fmla="val 15789"/>
            </a:avLst>
          </a:prstGeom>
          <a:solidFill>
            <a:srgbClr val="142B3B"/>
          </a:solidFill>
          <a:ln w="9525">
            <a:solidFill>
              <a:srgbClr val="142B3B"/>
            </a:solidFill>
            <a:prstDash val="solid"/>
          </a:ln>
        </p:spPr>
        <p:txBody>
          <a:bodyPr/>
          <a:lstStyle/>
          <a:p>
            <a:endParaRPr lang="en-US"/>
          </a:p>
        </p:txBody>
      </p:sp>
      <p:sp>
        <p:nvSpPr>
          <p:cNvPr id="19" name="takeaway-label">
            <a:extLst>
              <a:ext uri="{FF2B5EF4-FFF2-40B4-BE49-F238E27FC236}">
                <a16:creationId xmlns:a16="http://schemas.microsoft.com/office/drawing/2014/main" id="{02D3B49B-4A25-4E73-B84B-EF4B72FDEA04}"/>
              </a:ext>
            </a:extLst>
          </p:cNvPr>
          <p:cNvSpPr>
            <a:spLocks noGrp="1"/>
          </p:cNvSpPr>
          <p:nvPr/>
        </p:nvSpPr>
        <p:spPr>
          <a:xfrm>
            <a:off x="914400" y="5524500"/>
            <a:ext cx="1285875" cy="228600"/>
          </a:xfrm>
          <a:prstGeom prst="rect">
            <a:avLst/>
          </a:prstGeom>
          <a:noFill/>
          <a:ln w="0">
            <a:noFill/>
            <a:prstDash val="solid"/>
          </a:ln>
        </p:spPr>
        <p:txBody>
          <a:bodyPr anchor="ctr"/>
          <a:lstStyle/>
          <a:p>
            <a:pPr algn="l">
              <a:defRPr sz="1050" b="1">
                <a:solidFill>
                  <a:srgbClr val="C59A3D"/>
                </a:solidFill>
              </a:defRPr>
            </a:pPr>
            <a:r>
              <a:rPr sz="1050" b="1">
                <a:solidFill>
                  <a:srgbClr val="C59A3D"/>
                </a:solidFill>
              </a:rPr>
              <a:t>KEY IDEA</a:t>
            </a:r>
          </a:p>
        </p:txBody>
      </p:sp>
      <p:sp>
        <p:nvSpPr>
          <p:cNvPr id="20" name="takeaway">
            <a:extLst>
              <a:ext uri="{FF2B5EF4-FFF2-40B4-BE49-F238E27FC236}">
                <a16:creationId xmlns:a16="http://schemas.microsoft.com/office/drawing/2014/main" id="{939558B8-E1CD-44B1-85F5-1E152D640359}"/>
              </a:ext>
            </a:extLst>
          </p:cNvPr>
          <p:cNvSpPr>
            <a:spLocks noGrp="1"/>
          </p:cNvSpPr>
          <p:nvPr/>
        </p:nvSpPr>
        <p:spPr>
          <a:xfrm>
            <a:off x="2143125" y="5476875"/>
            <a:ext cx="8953500" cy="476250"/>
          </a:xfrm>
          <a:prstGeom prst="rect">
            <a:avLst/>
          </a:prstGeom>
          <a:noFill/>
          <a:ln w="0">
            <a:noFill/>
            <a:prstDash val="solid"/>
          </a:ln>
        </p:spPr>
        <p:txBody>
          <a:bodyPr anchor="ctr"/>
          <a:lstStyle/>
          <a:p>
            <a:pPr algn="l">
              <a:defRPr sz="1500" b="1">
                <a:solidFill>
                  <a:srgbClr val="FFFFFF"/>
                </a:solidFill>
              </a:defRPr>
            </a:pPr>
            <a:r>
              <a:rPr sz="1500" b="1">
                <a:solidFill>
                  <a:srgbClr val="FFFFFF"/>
                </a:solidFill>
              </a:rPr>
              <a:t>The Spirit propels the gospel from a local beginning toward a worldwide horizon.</a:t>
            </a:r>
          </a:p>
        </p:txBody>
      </p:sp>
    </p:spTree>
    <p:extLst>
      <p:ext uri="{BB962C8B-B14F-4D97-AF65-F5344CB8AC3E}">
        <p14:creationId xmlns:p14="http://schemas.microsoft.com/office/powerpoint/2010/main" val="891217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0" name="top-rule">
            <a:extLst>
              <a:ext uri="{FF2B5EF4-FFF2-40B4-BE49-F238E27FC236}">
                <a16:creationId xmlns:a16="http://schemas.microsoft.com/office/drawing/2014/main" id="{F68F8326-DD12-47E7-B132-4643608C869F}"/>
              </a:ext>
            </a:extLst>
          </p:cNvPr>
          <p:cNvSpPr>
            <a:spLocks noGrp="1"/>
          </p:cNvSpPr>
          <p:nvPr/>
        </p:nvSpPr>
        <p:spPr>
          <a:xfrm>
            <a:off x="0" y="0"/>
            <a:ext cx="12192000" cy="114300"/>
          </a:xfrm>
          <a:prstGeom prst="rect">
            <a:avLst/>
          </a:prstGeom>
          <a:solidFill>
            <a:srgbClr val="C59A3D"/>
          </a:solidFill>
          <a:ln w="0">
            <a:noFill/>
            <a:prstDash val="solid"/>
          </a:ln>
        </p:spPr>
        <p:txBody>
          <a:bodyPr/>
          <a:lstStyle/>
          <a:p>
            <a:endParaRPr lang="en-US"/>
          </a:p>
        </p:txBody>
      </p:sp>
      <p:sp>
        <p:nvSpPr>
          <p:cNvPr id="2" name="section">
            <a:extLst>
              <a:ext uri="{FF2B5EF4-FFF2-40B4-BE49-F238E27FC236}">
                <a16:creationId xmlns:a16="http://schemas.microsoft.com/office/drawing/2014/main" id="{99E9DA57-4F0E-444E-9DFD-56C91967CC1F}"/>
              </a:ext>
            </a:extLst>
          </p:cNvPr>
          <p:cNvSpPr>
            <a:spLocks noGrp="1"/>
          </p:cNvSpPr>
          <p:nvPr/>
        </p:nvSpPr>
        <p:spPr>
          <a:xfrm>
            <a:off x="685800" y="266700"/>
            <a:ext cx="5715000" cy="28575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QUESTION 4</a:t>
            </a:r>
          </a:p>
        </p:txBody>
      </p:sp>
      <p:sp>
        <p:nvSpPr>
          <p:cNvPr id="3" name="slide-number">
            <a:extLst>
              <a:ext uri="{FF2B5EF4-FFF2-40B4-BE49-F238E27FC236}">
                <a16:creationId xmlns:a16="http://schemas.microsoft.com/office/drawing/2014/main" id="{383F9A39-A27C-4B2F-8BDD-1F58698AE9E7}"/>
              </a:ext>
            </a:extLst>
          </p:cNvPr>
          <p:cNvSpPr>
            <a:spLocks noGrp="1"/>
          </p:cNvSpPr>
          <p:nvPr/>
        </p:nvSpPr>
        <p:spPr>
          <a:xfrm>
            <a:off x="11096625" y="266700"/>
            <a:ext cx="419100" cy="285750"/>
          </a:xfrm>
          <a:prstGeom prst="rect">
            <a:avLst/>
          </a:prstGeom>
          <a:noFill/>
          <a:ln w="0">
            <a:noFill/>
            <a:prstDash val="solid"/>
          </a:ln>
        </p:spPr>
        <p:txBody>
          <a:bodyPr anchor="ctr"/>
          <a:lstStyle/>
          <a:p>
            <a:pPr algn="r">
              <a:defRPr sz="1200" b="1">
                <a:solidFill>
                  <a:srgbClr val="61717A"/>
                </a:solidFill>
              </a:defRPr>
            </a:pPr>
            <a:r>
              <a:rPr sz="1200" b="1">
                <a:solidFill>
                  <a:srgbClr val="61717A"/>
                </a:solidFill>
              </a:rPr>
              <a:t>09</a:t>
            </a:r>
          </a:p>
        </p:txBody>
      </p:sp>
      <p:sp>
        <p:nvSpPr>
          <p:cNvPr id="4" name="question-number">
            <a:extLst>
              <a:ext uri="{FF2B5EF4-FFF2-40B4-BE49-F238E27FC236}">
                <a16:creationId xmlns:a16="http://schemas.microsoft.com/office/drawing/2014/main" id="{9CE6B1AD-B7C0-40C1-83E4-36B5556D2A92}"/>
              </a:ext>
            </a:extLst>
          </p:cNvPr>
          <p:cNvSpPr>
            <a:spLocks noGrp="1"/>
          </p:cNvSpPr>
          <p:nvPr/>
        </p:nvSpPr>
        <p:spPr>
          <a:xfrm>
            <a:off x="685800" y="876300"/>
            <a:ext cx="1428750" cy="914400"/>
          </a:xfrm>
          <a:prstGeom prst="rect">
            <a:avLst/>
          </a:prstGeom>
          <a:noFill/>
          <a:ln w="0">
            <a:noFill/>
            <a:prstDash val="solid"/>
          </a:ln>
        </p:spPr>
        <p:txBody>
          <a:bodyPr anchor="ctr"/>
          <a:lstStyle/>
          <a:p>
            <a:pPr algn="l">
              <a:defRPr sz="5400" b="1">
                <a:solidFill>
                  <a:srgbClr val="C59A3D"/>
                </a:solidFill>
              </a:defRPr>
            </a:pPr>
            <a:r>
              <a:rPr sz="5400" b="1">
                <a:solidFill>
                  <a:srgbClr val="C59A3D"/>
                </a:solidFill>
              </a:rPr>
              <a:t>Q4</a:t>
            </a:r>
          </a:p>
        </p:txBody>
      </p:sp>
      <p:sp>
        <p:nvSpPr>
          <p:cNvPr id="5" name="question-title">
            <a:extLst>
              <a:ext uri="{FF2B5EF4-FFF2-40B4-BE49-F238E27FC236}">
                <a16:creationId xmlns:a16="http://schemas.microsoft.com/office/drawing/2014/main" id="{8055839F-AD57-4A6A-9E41-5F358C6EABFE}"/>
              </a:ext>
            </a:extLst>
          </p:cNvPr>
          <p:cNvSpPr>
            <a:spLocks noGrp="1"/>
          </p:cNvSpPr>
          <p:nvPr/>
        </p:nvSpPr>
        <p:spPr>
          <a:xfrm>
            <a:off x="2143125" y="904875"/>
            <a:ext cx="9048750" cy="762000"/>
          </a:xfrm>
          <a:prstGeom prst="rect">
            <a:avLst/>
          </a:prstGeom>
          <a:noFill/>
          <a:ln w="0">
            <a:noFill/>
            <a:prstDash val="solid"/>
          </a:ln>
        </p:spPr>
        <p:txBody>
          <a:bodyPr anchor="ctr"/>
          <a:lstStyle/>
          <a:p>
            <a:pPr algn="l">
              <a:defRPr sz="2850" b="1">
                <a:solidFill>
                  <a:srgbClr val="142B3B"/>
                </a:solidFill>
              </a:defRPr>
            </a:pPr>
            <a:r>
              <a:rPr sz="2850" b="1">
                <a:solidFill>
                  <a:srgbClr val="142B3B"/>
                </a:solidFill>
              </a:rPr>
              <a:t>The progress reports in Acts</a:t>
            </a:r>
          </a:p>
        </p:txBody>
      </p:sp>
      <p:sp>
        <p:nvSpPr>
          <p:cNvPr id="6" name="question-field">
            <a:extLst>
              <a:ext uri="{FF2B5EF4-FFF2-40B4-BE49-F238E27FC236}">
                <a16:creationId xmlns:a16="http://schemas.microsoft.com/office/drawing/2014/main" id="{64875A8D-6AAA-4621-B84A-6D7B846F6963}"/>
              </a:ext>
            </a:extLst>
          </p:cNvPr>
          <p:cNvSpPr>
            <a:spLocks noGrp="1"/>
          </p:cNvSpPr>
          <p:nvPr/>
        </p:nvSpPr>
        <p:spPr>
          <a:xfrm>
            <a:off x="685800" y="1952625"/>
            <a:ext cx="10820400" cy="3143250"/>
          </a:xfrm>
          <a:prstGeom prst="roundRect">
            <a:avLst>
              <a:gd name="adj" fmla="val 3636"/>
            </a:avLst>
          </a:prstGeom>
          <a:solidFill>
            <a:srgbClr val="FFFDF8"/>
          </a:solidFill>
          <a:ln w="9525">
            <a:solidFill>
              <a:srgbClr val="E8E3D7"/>
            </a:solidFill>
            <a:prstDash val="solid"/>
          </a:ln>
        </p:spPr>
        <p:txBody>
          <a:bodyPr/>
          <a:lstStyle/>
          <a:p>
            <a:endParaRPr lang="en-US"/>
          </a:p>
        </p:txBody>
      </p:sp>
      <p:sp>
        <p:nvSpPr>
          <p:cNvPr id="7" name="question">
            <a:extLst>
              <a:ext uri="{FF2B5EF4-FFF2-40B4-BE49-F238E27FC236}">
                <a16:creationId xmlns:a16="http://schemas.microsoft.com/office/drawing/2014/main" id="{D2AC96FB-F902-43B7-851F-B051A0E01579}"/>
              </a:ext>
            </a:extLst>
          </p:cNvPr>
          <p:cNvSpPr>
            <a:spLocks noGrp="1"/>
          </p:cNvSpPr>
          <p:nvPr/>
        </p:nvSpPr>
        <p:spPr>
          <a:xfrm>
            <a:off x="1162050" y="2238375"/>
            <a:ext cx="9867900" cy="2571750"/>
          </a:xfrm>
          <a:prstGeom prst="rect">
            <a:avLst/>
          </a:prstGeom>
          <a:noFill/>
          <a:ln w="0">
            <a:noFill/>
            <a:prstDash val="solid"/>
          </a:ln>
        </p:spPr>
        <p:txBody>
          <a:bodyPr anchor="ctr"/>
          <a:lstStyle/>
          <a:p>
            <a:pPr algn="l">
              <a:defRPr sz="1950" b="1">
                <a:solidFill>
                  <a:srgbClr val="23323B"/>
                </a:solidFill>
              </a:defRPr>
            </a:pPr>
            <a:r>
              <a:rPr sz="1950" b="1">
                <a:solidFill>
                  <a:srgbClr val="23323B"/>
                </a:solidFill>
              </a:rPr>
              <a:t>Read 1:15, 2:41, 4:4, 5:14, 6:7, 9:31, 12:24, 16:5, 19:20, and 28:31.</a:t>
            </a:r>
          </a:p>
          <a:p>
            <a:endParaRPr sz="1950" b="1">
              <a:solidFill>
                <a:srgbClr val="23323B"/>
              </a:solidFill>
            </a:endParaRPr>
          </a:p>
          <a:p>
            <a:pPr algn="l">
              <a:defRPr sz="1950" b="1">
                <a:solidFill>
                  <a:srgbClr val="23323B"/>
                </a:solidFill>
              </a:defRPr>
            </a:pPr>
            <a:r>
              <a:rPr sz="1950" b="1">
                <a:solidFill>
                  <a:srgbClr val="23323B"/>
                </a:solidFill>
              </a:rPr>
              <a:t>a. What do these verses have in common, and what progression do you see?</a:t>
            </a:r>
          </a:p>
          <a:p>
            <a:endParaRPr sz="1950" b="1">
              <a:solidFill>
                <a:srgbClr val="23323B"/>
              </a:solidFill>
            </a:endParaRPr>
          </a:p>
          <a:p>
            <a:pPr algn="l">
              <a:defRPr sz="1950" b="1">
                <a:solidFill>
                  <a:srgbClr val="23323B"/>
                </a:solidFill>
              </a:defRPr>
            </a:pPr>
            <a:r>
              <a:rPr sz="1950" b="1">
                <a:solidFill>
                  <a:srgbClr val="23323B"/>
                </a:solidFill>
              </a:rPr>
              <a:t>b. What does this pattern tell you about Acts?</a:t>
            </a:r>
          </a:p>
        </p:txBody>
      </p:sp>
      <p:sp>
        <p:nvSpPr>
          <p:cNvPr id="8" name="discussion-rule">
            <a:extLst>
              <a:ext uri="{FF2B5EF4-FFF2-40B4-BE49-F238E27FC236}">
                <a16:creationId xmlns:a16="http://schemas.microsoft.com/office/drawing/2014/main" id="{F20A5AC3-9F36-4713-9687-A1D35D38719F}"/>
              </a:ext>
            </a:extLst>
          </p:cNvPr>
          <p:cNvSpPr>
            <a:spLocks noGrp="1"/>
          </p:cNvSpPr>
          <p:nvPr/>
        </p:nvSpPr>
        <p:spPr>
          <a:xfrm>
            <a:off x="685800" y="5429250"/>
            <a:ext cx="1428750" cy="47625"/>
          </a:xfrm>
          <a:prstGeom prst="rect">
            <a:avLst/>
          </a:prstGeom>
          <a:solidFill>
            <a:srgbClr val="A34D36"/>
          </a:solidFill>
          <a:ln w="0">
            <a:noFill/>
            <a:prstDash val="solid"/>
          </a:ln>
        </p:spPr>
        <p:txBody>
          <a:bodyPr/>
          <a:lstStyle/>
          <a:p>
            <a:endParaRPr lang="en-US"/>
          </a:p>
        </p:txBody>
      </p:sp>
      <p:sp>
        <p:nvSpPr>
          <p:cNvPr id="9" name="discussion-kicker">
            <a:extLst>
              <a:ext uri="{FF2B5EF4-FFF2-40B4-BE49-F238E27FC236}">
                <a16:creationId xmlns:a16="http://schemas.microsoft.com/office/drawing/2014/main" id="{21D968C0-6678-48F5-A5A3-83F750AFFE26}"/>
              </a:ext>
            </a:extLst>
          </p:cNvPr>
          <p:cNvSpPr>
            <a:spLocks noGrp="1"/>
          </p:cNvSpPr>
          <p:nvPr/>
        </p:nvSpPr>
        <p:spPr>
          <a:xfrm>
            <a:off x="2286000" y="5219700"/>
            <a:ext cx="8763000" cy="457200"/>
          </a:xfrm>
          <a:prstGeom prst="rect">
            <a:avLst/>
          </a:prstGeom>
          <a:noFill/>
          <a:ln w="0">
            <a:noFill/>
            <a:prstDash val="solid"/>
          </a:ln>
        </p:spPr>
        <p:txBody>
          <a:bodyPr anchor="ctr"/>
          <a:lstStyle/>
          <a:p>
            <a:pPr algn="l">
              <a:defRPr sz="1650" b="0">
                <a:solidFill>
                  <a:srgbClr val="61717A"/>
                </a:solidFill>
              </a:defRPr>
            </a:pPr>
            <a:r>
              <a:rPr sz="1650" b="0">
                <a:solidFill>
                  <a:srgbClr val="61717A"/>
                </a:solidFill>
              </a:rPr>
              <a:t>Notice what grows—even when the messengers face resistance.</a:t>
            </a:r>
          </a:p>
        </p:txBody>
      </p:sp>
    </p:spTree>
    <p:extLst>
      <p:ext uri="{BB962C8B-B14F-4D97-AF65-F5344CB8AC3E}">
        <p14:creationId xmlns:p14="http://schemas.microsoft.com/office/powerpoint/2010/main" val="243487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3" name="top-rule">
            <a:extLst>
              <a:ext uri="{FF2B5EF4-FFF2-40B4-BE49-F238E27FC236}">
                <a16:creationId xmlns:a16="http://schemas.microsoft.com/office/drawing/2014/main" id="{38DEA2A0-5C05-474A-86B8-3595759693B6}"/>
              </a:ext>
            </a:extLst>
          </p:cNvPr>
          <p:cNvSpPr>
            <a:spLocks noGrp="1"/>
          </p:cNvSpPr>
          <p:nvPr/>
        </p:nvSpPr>
        <p:spPr>
          <a:xfrm>
            <a:off x="0" y="0"/>
            <a:ext cx="12192000" cy="114300"/>
          </a:xfrm>
          <a:prstGeom prst="rect">
            <a:avLst/>
          </a:prstGeom>
          <a:solidFill>
            <a:srgbClr val="C59A3D"/>
          </a:solidFill>
          <a:ln w="0">
            <a:noFill/>
            <a:prstDash val="solid"/>
          </a:ln>
        </p:spPr>
        <p:txBody>
          <a:bodyPr/>
          <a:lstStyle/>
          <a:p>
            <a:endParaRPr lang="en-US"/>
          </a:p>
        </p:txBody>
      </p:sp>
      <p:sp>
        <p:nvSpPr>
          <p:cNvPr id="2" name="section">
            <a:extLst>
              <a:ext uri="{FF2B5EF4-FFF2-40B4-BE49-F238E27FC236}">
                <a16:creationId xmlns:a16="http://schemas.microsoft.com/office/drawing/2014/main" id="{459CF127-B4ED-4FC2-AFFC-FB489693EE5E}"/>
              </a:ext>
            </a:extLst>
          </p:cNvPr>
          <p:cNvSpPr>
            <a:spLocks noGrp="1"/>
          </p:cNvSpPr>
          <p:nvPr/>
        </p:nvSpPr>
        <p:spPr>
          <a:xfrm>
            <a:off x="685800" y="266700"/>
            <a:ext cx="5715000" cy="28575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RABBIT HOLE • QUESTION 4</a:t>
            </a:r>
          </a:p>
        </p:txBody>
      </p:sp>
      <p:sp>
        <p:nvSpPr>
          <p:cNvPr id="3" name="slide-number">
            <a:extLst>
              <a:ext uri="{FF2B5EF4-FFF2-40B4-BE49-F238E27FC236}">
                <a16:creationId xmlns:a16="http://schemas.microsoft.com/office/drawing/2014/main" id="{850CBF2C-5460-46A0-B942-EDD338CA295D}"/>
              </a:ext>
            </a:extLst>
          </p:cNvPr>
          <p:cNvSpPr>
            <a:spLocks noGrp="1"/>
          </p:cNvSpPr>
          <p:nvPr/>
        </p:nvSpPr>
        <p:spPr>
          <a:xfrm>
            <a:off x="11096625" y="266700"/>
            <a:ext cx="419100" cy="285750"/>
          </a:xfrm>
          <a:prstGeom prst="rect">
            <a:avLst/>
          </a:prstGeom>
          <a:noFill/>
          <a:ln w="0">
            <a:noFill/>
            <a:prstDash val="solid"/>
          </a:ln>
        </p:spPr>
        <p:txBody>
          <a:bodyPr anchor="ctr"/>
          <a:lstStyle/>
          <a:p>
            <a:pPr algn="r">
              <a:defRPr sz="1200" b="1">
                <a:solidFill>
                  <a:srgbClr val="61717A"/>
                </a:solidFill>
              </a:defRPr>
            </a:pPr>
            <a:r>
              <a:rPr sz="1200" b="1">
                <a:solidFill>
                  <a:srgbClr val="61717A"/>
                </a:solidFill>
              </a:rPr>
              <a:t>10</a:t>
            </a:r>
          </a:p>
        </p:txBody>
      </p:sp>
      <p:sp>
        <p:nvSpPr>
          <p:cNvPr id="4" name="rabbit-title">
            <a:extLst>
              <a:ext uri="{FF2B5EF4-FFF2-40B4-BE49-F238E27FC236}">
                <a16:creationId xmlns:a16="http://schemas.microsoft.com/office/drawing/2014/main" id="{48996D5A-9AB5-4B6F-96FD-5D9A8536BCB1}"/>
              </a:ext>
            </a:extLst>
          </p:cNvPr>
          <p:cNvSpPr>
            <a:spLocks noGrp="1"/>
          </p:cNvSpPr>
          <p:nvPr/>
        </p:nvSpPr>
        <p:spPr>
          <a:xfrm>
            <a:off x="685800" y="838200"/>
            <a:ext cx="10820400" cy="628650"/>
          </a:xfrm>
          <a:prstGeom prst="rect">
            <a:avLst/>
          </a:prstGeom>
          <a:noFill/>
          <a:ln w="0">
            <a:noFill/>
            <a:prstDash val="solid"/>
          </a:ln>
        </p:spPr>
        <p:txBody>
          <a:bodyPr anchor="ctr"/>
          <a:lstStyle/>
          <a:p>
            <a:pPr algn="l">
              <a:defRPr sz="3000" b="1">
                <a:solidFill>
                  <a:srgbClr val="142B3B"/>
                </a:solidFill>
              </a:defRPr>
            </a:pPr>
            <a:r>
              <a:rPr sz="3000" b="1">
                <a:solidFill>
                  <a:srgbClr val="142B3B"/>
                </a:solidFill>
              </a:rPr>
              <a:t>How should a church measure progress?</a:t>
            </a:r>
          </a:p>
        </p:txBody>
      </p:sp>
      <p:sp>
        <p:nvSpPr>
          <p:cNvPr id="5" name="rabbit-context">
            <a:extLst>
              <a:ext uri="{FF2B5EF4-FFF2-40B4-BE49-F238E27FC236}">
                <a16:creationId xmlns:a16="http://schemas.microsoft.com/office/drawing/2014/main" id="{FD6AD0D3-47FA-48EC-9FE6-773E1FC0F8B1}"/>
              </a:ext>
            </a:extLst>
          </p:cNvPr>
          <p:cNvSpPr>
            <a:spLocks noGrp="1"/>
          </p:cNvSpPr>
          <p:nvPr/>
        </p:nvSpPr>
        <p:spPr>
          <a:xfrm>
            <a:off x="685800" y="1638300"/>
            <a:ext cx="10820400" cy="742950"/>
          </a:xfrm>
          <a:prstGeom prst="rect">
            <a:avLst/>
          </a:prstGeom>
          <a:noFill/>
          <a:ln w="0">
            <a:noFill/>
            <a:prstDash val="solid"/>
          </a:ln>
        </p:spPr>
        <p:txBody>
          <a:bodyPr anchor="ctr"/>
          <a:lstStyle/>
          <a:p>
            <a:pPr algn="l">
              <a:defRPr sz="1800" b="0">
                <a:solidFill>
                  <a:srgbClr val="23323B"/>
                </a:solidFill>
              </a:defRPr>
            </a:pPr>
            <a:r>
              <a:rPr sz="1800" b="0">
                <a:solidFill>
                  <a:srgbClr val="23323B"/>
                </a:solidFill>
              </a:rPr>
              <a:t>Acts repeatedly highlights the growth of God’s word and the multiplication or strengthening of disciples—even when believers face conflict, persecution, and loss.</a:t>
            </a:r>
          </a:p>
        </p:txBody>
      </p:sp>
      <p:sp>
        <p:nvSpPr>
          <p:cNvPr id="6" name="rabbit-focus">
            <a:extLst>
              <a:ext uri="{FF2B5EF4-FFF2-40B4-BE49-F238E27FC236}">
                <a16:creationId xmlns:a16="http://schemas.microsoft.com/office/drawing/2014/main" id="{D997590B-E2E0-4A02-A5C6-EBEECCF63749}"/>
              </a:ext>
            </a:extLst>
          </p:cNvPr>
          <p:cNvSpPr>
            <a:spLocks noGrp="1"/>
          </p:cNvSpPr>
          <p:nvPr/>
        </p:nvSpPr>
        <p:spPr>
          <a:xfrm>
            <a:off x="685800" y="2667000"/>
            <a:ext cx="4191000" cy="2724150"/>
          </a:xfrm>
          <a:prstGeom prst="roundRect">
            <a:avLst>
              <a:gd name="adj" fmla="val 4196"/>
            </a:avLst>
          </a:prstGeom>
          <a:solidFill>
            <a:srgbClr val="142B3B"/>
          </a:solidFill>
          <a:ln w="9525">
            <a:solidFill>
              <a:srgbClr val="142B3B"/>
            </a:solidFill>
            <a:prstDash val="solid"/>
          </a:ln>
        </p:spPr>
        <p:txBody>
          <a:bodyPr/>
          <a:lstStyle/>
          <a:p>
            <a:endParaRPr lang="en-US"/>
          </a:p>
        </p:txBody>
      </p:sp>
      <p:sp>
        <p:nvSpPr>
          <p:cNvPr id="7" name="rabbit-focus-label">
            <a:extLst>
              <a:ext uri="{FF2B5EF4-FFF2-40B4-BE49-F238E27FC236}">
                <a16:creationId xmlns:a16="http://schemas.microsoft.com/office/drawing/2014/main" id="{ED3E7FDC-31AB-4F89-A1B7-26AE6A07F267}"/>
              </a:ext>
            </a:extLst>
          </p:cNvPr>
          <p:cNvSpPr>
            <a:spLocks noGrp="1"/>
          </p:cNvSpPr>
          <p:nvPr/>
        </p:nvSpPr>
        <p:spPr>
          <a:xfrm>
            <a:off x="990600" y="2914650"/>
            <a:ext cx="3429000" cy="266700"/>
          </a:xfrm>
          <a:prstGeom prst="rect">
            <a:avLst/>
          </a:prstGeom>
          <a:noFill/>
          <a:ln w="0">
            <a:noFill/>
            <a:prstDash val="solid"/>
          </a:ln>
        </p:spPr>
        <p:txBody>
          <a:bodyPr anchor="ctr"/>
          <a:lstStyle/>
          <a:p>
            <a:pPr algn="l">
              <a:defRPr sz="1200" b="1">
                <a:solidFill>
                  <a:srgbClr val="C59A3D"/>
                </a:solidFill>
              </a:defRPr>
            </a:pPr>
            <a:r>
              <a:rPr sz="1200" b="1">
                <a:solidFill>
                  <a:srgbClr val="C59A3D"/>
                </a:solidFill>
              </a:rPr>
              <a:t>THE TENSION</a:t>
            </a:r>
          </a:p>
        </p:txBody>
      </p:sp>
      <p:sp>
        <p:nvSpPr>
          <p:cNvPr id="8" name="rabbit-focus-text">
            <a:extLst>
              <a:ext uri="{FF2B5EF4-FFF2-40B4-BE49-F238E27FC236}">
                <a16:creationId xmlns:a16="http://schemas.microsoft.com/office/drawing/2014/main" id="{FE6B4D5A-19A2-4BD6-BB73-223AD118F8FC}"/>
              </a:ext>
            </a:extLst>
          </p:cNvPr>
          <p:cNvSpPr>
            <a:spLocks noGrp="1"/>
          </p:cNvSpPr>
          <p:nvPr/>
        </p:nvSpPr>
        <p:spPr>
          <a:xfrm>
            <a:off x="990600" y="3295650"/>
            <a:ext cx="3429000" cy="1657350"/>
          </a:xfrm>
          <a:prstGeom prst="rect">
            <a:avLst/>
          </a:prstGeom>
          <a:noFill/>
          <a:ln w="0">
            <a:noFill/>
            <a:prstDash val="solid"/>
          </a:ln>
        </p:spPr>
        <p:txBody>
          <a:bodyPr anchor="ctr"/>
          <a:lstStyle/>
          <a:p>
            <a:pPr algn="l">
              <a:defRPr sz="2100" b="1">
                <a:solidFill>
                  <a:srgbClr val="FFFFFF"/>
                </a:solidFill>
              </a:defRPr>
            </a:pPr>
            <a:r>
              <a:rPr sz="2100" b="1">
                <a:solidFill>
                  <a:srgbClr val="FFFFFF"/>
                </a:solidFill>
              </a:rPr>
              <a:t>Is visible growth always evidence of faithfulness?</a:t>
            </a:r>
          </a:p>
          <a:p>
            <a:endParaRPr sz="2100" b="1">
              <a:solidFill>
                <a:srgbClr val="FFFFFF"/>
              </a:solidFill>
            </a:endParaRPr>
          </a:p>
          <a:p>
            <a:pPr algn="l">
              <a:defRPr sz="2100" b="1">
                <a:solidFill>
                  <a:srgbClr val="FFFFFF"/>
                </a:solidFill>
              </a:defRPr>
            </a:pPr>
            <a:r>
              <a:rPr sz="2100" b="1">
                <a:solidFill>
                  <a:srgbClr val="FFFFFF"/>
                </a:solidFill>
              </a:rPr>
              <a:t>Can faithfulness be real when the numbers do not increase?</a:t>
            </a:r>
          </a:p>
        </p:txBody>
      </p:sp>
      <p:sp>
        <p:nvSpPr>
          <p:cNvPr id="9" name="rabbit-prompts-label">
            <a:extLst>
              <a:ext uri="{FF2B5EF4-FFF2-40B4-BE49-F238E27FC236}">
                <a16:creationId xmlns:a16="http://schemas.microsoft.com/office/drawing/2014/main" id="{52BE36C3-6293-452F-9282-570B39337D7F}"/>
              </a:ext>
            </a:extLst>
          </p:cNvPr>
          <p:cNvSpPr>
            <a:spLocks noGrp="1"/>
          </p:cNvSpPr>
          <p:nvPr/>
        </p:nvSpPr>
        <p:spPr>
          <a:xfrm>
            <a:off x="5391150" y="2762250"/>
            <a:ext cx="1714500" cy="26670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DISCUSS</a:t>
            </a:r>
          </a:p>
        </p:txBody>
      </p:sp>
      <p:sp>
        <p:nvSpPr>
          <p:cNvPr id="10" name="rabbit-prompts">
            <a:extLst>
              <a:ext uri="{FF2B5EF4-FFF2-40B4-BE49-F238E27FC236}">
                <a16:creationId xmlns:a16="http://schemas.microsoft.com/office/drawing/2014/main" id="{4CF1CBDE-FBFE-4206-A230-A38B46F26A8D}"/>
              </a:ext>
            </a:extLst>
          </p:cNvPr>
          <p:cNvSpPr>
            <a:spLocks noGrp="1"/>
          </p:cNvSpPr>
          <p:nvPr/>
        </p:nvSpPr>
        <p:spPr>
          <a:xfrm>
            <a:off x="5391150" y="3143250"/>
            <a:ext cx="5905500" cy="2133600"/>
          </a:xfrm>
          <a:prstGeom prst="rect">
            <a:avLst/>
          </a:prstGeom>
          <a:noFill/>
          <a:ln w="0">
            <a:noFill/>
            <a:prstDash val="solid"/>
          </a:ln>
        </p:spPr>
        <p:txBody>
          <a:bodyPr anchor="ctr"/>
          <a:lstStyle/>
          <a:p>
            <a:pPr algn="l">
              <a:defRPr sz="1800" b="1">
                <a:solidFill>
                  <a:srgbClr val="23323B"/>
                </a:solidFill>
              </a:defRPr>
            </a:pPr>
            <a:r>
              <a:rPr sz="1800" b="1">
                <a:solidFill>
                  <a:srgbClr val="23323B"/>
                </a:solidFill>
              </a:rPr>
              <a:t>• What measures do churches commonly use today?</a:t>
            </a:r>
          </a:p>
          <a:p>
            <a:endParaRPr sz="1800" b="1">
              <a:solidFill>
                <a:srgbClr val="23323B"/>
              </a:solidFill>
            </a:endParaRPr>
          </a:p>
          <a:p>
            <a:pPr algn="l">
              <a:defRPr sz="1800" b="1">
                <a:solidFill>
                  <a:srgbClr val="23323B"/>
                </a:solidFill>
              </a:defRPr>
            </a:pPr>
            <a:r>
              <a:rPr sz="1800" b="1">
                <a:solidFill>
                  <a:srgbClr val="23323B"/>
                </a:solidFill>
              </a:rPr>
              <a:t>• Which measures actually appear in Acts?</a:t>
            </a:r>
          </a:p>
          <a:p>
            <a:endParaRPr sz="1800" b="1">
              <a:solidFill>
                <a:srgbClr val="23323B"/>
              </a:solidFill>
            </a:endParaRPr>
          </a:p>
          <a:p>
            <a:pPr algn="l">
              <a:defRPr sz="1800" b="1">
                <a:solidFill>
                  <a:srgbClr val="23323B"/>
                </a:solidFill>
              </a:defRPr>
            </a:pPr>
            <a:r>
              <a:rPr sz="1800" b="1">
                <a:solidFill>
                  <a:srgbClr val="23323B"/>
                </a:solidFill>
              </a:rPr>
              <a:t>• How should opposition and suffering change our definition of success?</a:t>
            </a:r>
          </a:p>
        </p:txBody>
      </p:sp>
      <p:sp>
        <p:nvSpPr>
          <p:cNvPr id="11" name="rabbit-bottom-rule">
            <a:extLst>
              <a:ext uri="{FF2B5EF4-FFF2-40B4-BE49-F238E27FC236}">
                <a16:creationId xmlns:a16="http://schemas.microsoft.com/office/drawing/2014/main" id="{471BADE3-C480-4A58-B1CF-CB481DE19A2D}"/>
              </a:ext>
            </a:extLst>
          </p:cNvPr>
          <p:cNvSpPr>
            <a:spLocks noGrp="1"/>
          </p:cNvSpPr>
          <p:nvPr/>
        </p:nvSpPr>
        <p:spPr>
          <a:xfrm>
            <a:off x="685800" y="5772150"/>
            <a:ext cx="10820400" cy="38100"/>
          </a:xfrm>
          <a:prstGeom prst="rect">
            <a:avLst/>
          </a:prstGeom>
          <a:solidFill>
            <a:srgbClr val="C59A3D"/>
          </a:solidFill>
          <a:ln w="0">
            <a:noFill/>
            <a:prstDash val="solid"/>
          </a:ln>
        </p:spPr>
        <p:txBody>
          <a:bodyPr/>
          <a:lstStyle/>
          <a:p>
            <a:endParaRPr lang="en-US"/>
          </a:p>
        </p:txBody>
      </p:sp>
      <p:sp>
        <p:nvSpPr>
          <p:cNvPr id="12" name="rabbit-takeaway">
            <a:extLst>
              <a:ext uri="{FF2B5EF4-FFF2-40B4-BE49-F238E27FC236}">
                <a16:creationId xmlns:a16="http://schemas.microsoft.com/office/drawing/2014/main" id="{EF6ED98F-E617-4F1C-B36E-516E6933595C}"/>
              </a:ext>
            </a:extLst>
          </p:cNvPr>
          <p:cNvSpPr>
            <a:spLocks noGrp="1"/>
          </p:cNvSpPr>
          <p:nvPr/>
        </p:nvSpPr>
        <p:spPr>
          <a:xfrm>
            <a:off x="685800" y="5905500"/>
            <a:ext cx="10820400" cy="342900"/>
          </a:xfrm>
          <a:prstGeom prst="rect">
            <a:avLst/>
          </a:prstGeom>
          <a:noFill/>
          <a:ln w="0">
            <a:noFill/>
            <a:prstDash val="solid"/>
          </a:ln>
        </p:spPr>
        <p:txBody>
          <a:bodyPr anchor="ctr"/>
          <a:lstStyle/>
          <a:p>
            <a:pPr algn="ctr">
              <a:defRPr sz="1500" b="1">
                <a:solidFill>
                  <a:srgbClr val="61717A"/>
                </a:solidFill>
              </a:defRPr>
            </a:pPr>
            <a:r>
              <a:rPr sz="1500" b="1">
                <a:solidFill>
                  <a:srgbClr val="61717A"/>
                </a:solidFill>
              </a:rPr>
              <a:t>Luke’s reports invite us to distinguish faithfulness, fruitfulness, and comfort.</a:t>
            </a:r>
          </a:p>
        </p:txBody>
      </p:sp>
    </p:spTree>
    <p:extLst>
      <p:ext uri="{BB962C8B-B14F-4D97-AF65-F5344CB8AC3E}">
        <p14:creationId xmlns:p14="http://schemas.microsoft.com/office/powerpoint/2010/main" val="1804474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8" name="top-rule">
            <a:extLst>
              <a:ext uri="{FF2B5EF4-FFF2-40B4-BE49-F238E27FC236}">
                <a16:creationId xmlns:a16="http://schemas.microsoft.com/office/drawing/2014/main" id="{746A32AB-B53B-4EB0-80EA-0D0AE92228D4}"/>
              </a:ext>
            </a:extLst>
          </p:cNvPr>
          <p:cNvSpPr>
            <a:spLocks noGrp="1"/>
          </p:cNvSpPr>
          <p:nvPr/>
        </p:nvSpPr>
        <p:spPr>
          <a:xfrm>
            <a:off x="0" y="0"/>
            <a:ext cx="12192000" cy="114300"/>
          </a:xfrm>
          <a:prstGeom prst="rect">
            <a:avLst/>
          </a:prstGeom>
          <a:solidFill>
            <a:srgbClr val="C59A3D"/>
          </a:solidFill>
          <a:ln w="0">
            <a:noFill/>
            <a:prstDash val="solid"/>
          </a:ln>
        </p:spPr>
        <p:txBody>
          <a:bodyPr/>
          <a:lstStyle/>
          <a:p>
            <a:endParaRPr lang="en-US"/>
          </a:p>
        </p:txBody>
      </p:sp>
      <p:sp>
        <p:nvSpPr>
          <p:cNvPr id="2" name="section">
            <a:extLst>
              <a:ext uri="{FF2B5EF4-FFF2-40B4-BE49-F238E27FC236}">
                <a16:creationId xmlns:a16="http://schemas.microsoft.com/office/drawing/2014/main" id="{82021E50-3107-413F-A6A1-6FB26798222F}"/>
              </a:ext>
            </a:extLst>
          </p:cNvPr>
          <p:cNvSpPr>
            <a:spLocks noGrp="1"/>
          </p:cNvSpPr>
          <p:nvPr/>
        </p:nvSpPr>
        <p:spPr>
          <a:xfrm>
            <a:off x="685800" y="266700"/>
            <a:ext cx="5715000" cy="28575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QUESTION 4 • ANSWER REVEALED</a:t>
            </a:r>
          </a:p>
        </p:txBody>
      </p:sp>
      <p:sp>
        <p:nvSpPr>
          <p:cNvPr id="3" name="slide-number">
            <a:extLst>
              <a:ext uri="{FF2B5EF4-FFF2-40B4-BE49-F238E27FC236}">
                <a16:creationId xmlns:a16="http://schemas.microsoft.com/office/drawing/2014/main" id="{8CE6C70E-604B-4FE8-BE16-760DD5D8C134}"/>
              </a:ext>
            </a:extLst>
          </p:cNvPr>
          <p:cNvSpPr>
            <a:spLocks noGrp="1"/>
          </p:cNvSpPr>
          <p:nvPr/>
        </p:nvSpPr>
        <p:spPr>
          <a:xfrm>
            <a:off x="11096625" y="266700"/>
            <a:ext cx="419100" cy="285750"/>
          </a:xfrm>
          <a:prstGeom prst="rect">
            <a:avLst/>
          </a:prstGeom>
          <a:noFill/>
          <a:ln w="0">
            <a:noFill/>
            <a:prstDash val="solid"/>
          </a:ln>
        </p:spPr>
        <p:txBody>
          <a:bodyPr anchor="ctr"/>
          <a:lstStyle/>
          <a:p>
            <a:pPr algn="r">
              <a:defRPr sz="1200" b="1">
                <a:solidFill>
                  <a:srgbClr val="61717A"/>
                </a:solidFill>
              </a:defRPr>
            </a:pPr>
            <a:r>
              <a:rPr sz="1200" b="1">
                <a:solidFill>
                  <a:srgbClr val="61717A"/>
                </a:solidFill>
              </a:rPr>
              <a:t>11</a:t>
            </a:r>
          </a:p>
        </p:txBody>
      </p:sp>
      <p:sp>
        <p:nvSpPr>
          <p:cNvPr id="4" name="question-number">
            <a:extLst>
              <a:ext uri="{FF2B5EF4-FFF2-40B4-BE49-F238E27FC236}">
                <a16:creationId xmlns:a16="http://schemas.microsoft.com/office/drawing/2014/main" id="{6AB5AEF8-E136-4786-A707-82DEE718F9BD}"/>
              </a:ext>
            </a:extLst>
          </p:cNvPr>
          <p:cNvSpPr>
            <a:spLocks noGrp="1"/>
          </p:cNvSpPr>
          <p:nvPr/>
        </p:nvSpPr>
        <p:spPr>
          <a:xfrm>
            <a:off x="685800" y="685800"/>
            <a:ext cx="1285875" cy="762000"/>
          </a:xfrm>
          <a:prstGeom prst="rect">
            <a:avLst/>
          </a:prstGeom>
          <a:noFill/>
          <a:ln w="0">
            <a:noFill/>
            <a:prstDash val="solid"/>
          </a:ln>
        </p:spPr>
        <p:txBody>
          <a:bodyPr anchor="ctr"/>
          <a:lstStyle/>
          <a:p>
            <a:pPr algn="l">
              <a:defRPr sz="4350" b="1">
                <a:solidFill>
                  <a:srgbClr val="C59A3D"/>
                </a:solidFill>
              </a:defRPr>
            </a:pPr>
            <a:r>
              <a:rPr sz="4350" b="1">
                <a:solidFill>
                  <a:srgbClr val="C59A3D"/>
                </a:solidFill>
              </a:rPr>
              <a:t>Q4</a:t>
            </a:r>
          </a:p>
        </p:txBody>
      </p:sp>
      <p:sp>
        <p:nvSpPr>
          <p:cNvPr id="5" name="question-title">
            <a:extLst>
              <a:ext uri="{FF2B5EF4-FFF2-40B4-BE49-F238E27FC236}">
                <a16:creationId xmlns:a16="http://schemas.microsoft.com/office/drawing/2014/main" id="{FBC1F725-D6B6-4C09-9931-8481EACFD9D1}"/>
              </a:ext>
            </a:extLst>
          </p:cNvPr>
          <p:cNvSpPr>
            <a:spLocks noGrp="1"/>
          </p:cNvSpPr>
          <p:nvPr/>
        </p:nvSpPr>
        <p:spPr>
          <a:xfrm>
            <a:off x="2047875" y="723900"/>
            <a:ext cx="9144000" cy="609600"/>
          </a:xfrm>
          <a:prstGeom prst="rect">
            <a:avLst/>
          </a:prstGeom>
          <a:noFill/>
          <a:ln w="0">
            <a:noFill/>
            <a:prstDash val="solid"/>
          </a:ln>
        </p:spPr>
        <p:txBody>
          <a:bodyPr anchor="ctr"/>
          <a:lstStyle/>
          <a:p>
            <a:pPr algn="l">
              <a:defRPr sz="2550" b="1">
                <a:solidFill>
                  <a:srgbClr val="142B3B"/>
                </a:solidFill>
              </a:defRPr>
            </a:pPr>
            <a:r>
              <a:rPr sz="2550" b="1">
                <a:solidFill>
                  <a:srgbClr val="142B3B"/>
                </a:solidFill>
              </a:rPr>
              <a:t>The progress reports in Acts</a:t>
            </a:r>
          </a:p>
        </p:txBody>
      </p:sp>
      <p:sp>
        <p:nvSpPr>
          <p:cNvPr id="6" name="question-field">
            <a:extLst>
              <a:ext uri="{FF2B5EF4-FFF2-40B4-BE49-F238E27FC236}">
                <a16:creationId xmlns:a16="http://schemas.microsoft.com/office/drawing/2014/main" id="{61AA4AF4-D721-41D5-9F3A-D934771E4B52}"/>
              </a:ext>
            </a:extLst>
          </p:cNvPr>
          <p:cNvSpPr>
            <a:spLocks noGrp="1"/>
          </p:cNvSpPr>
          <p:nvPr/>
        </p:nvSpPr>
        <p:spPr>
          <a:xfrm>
            <a:off x="685800" y="1504950"/>
            <a:ext cx="10820400" cy="1428750"/>
          </a:xfrm>
          <a:prstGeom prst="roundRect">
            <a:avLst>
              <a:gd name="adj" fmla="val 8000"/>
            </a:avLst>
          </a:prstGeom>
          <a:solidFill>
            <a:srgbClr val="FFFDF8"/>
          </a:solidFill>
          <a:ln w="9525">
            <a:solidFill>
              <a:srgbClr val="E8E3D7"/>
            </a:solidFill>
            <a:prstDash val="solid"/>
          </a:ln>
        </p:spPr>
        <p:txBody>
          <a:bodyPr/>
          <a:lstStyle/>
          <a:p>
            <a:endParaRPr lang="en-US"/>
          </a:p>
        </p:txBody>
      </p:sp>
      <p:sp>
        <p:nvSpPr>
          <p:cNvPr id="7" name="question">
            <a:extLst>
              <a:ext uri="{FF2B5EF4-FFF2-40B4-BE49-F238E27FC236}">
                <a16:creationId xmlns:a16="http://schemas.microsoft.com/office/drawing/2014/main" id="{6AFC7A49-8579-4A5F-B7E8-7A705210FF83}"/>
              </a:ext>
            </a:extLst>
          </p:cNvPr>
          <p:cNvSpPr>
            <a:spLocks noGrp="1"/>
          </p:cNvSpPr>
          <p:nvPr/>
        </p:nvSpPr>
        <p:spPr>
          <a:xfrm>
            <a:off x="990600" y="1638300"/>
            <a:ext cx="10210800" cy="1162050"/>
          </a:xfrm>
          <a:prstGeom prst="rect">
            <a:avLst/>
          </a:prstGeom>
          <a:noFill/>
          <a:ln w="0">
            <a:noFill/>
            <a:prstDash val="solid"/>
          </a:ln>
        </p:spPr>
        <p:txBody>
          <a:bodyPr anchor="ctr"/>
          <a:lstStyle/>
          <a:p>
            <a:pPr algn="l">
              <a:defRPr sz="1575" b="1">
                <a:solidFill>
                  <a:srgbClr val="23323B"/>
                </a:solidFill>
              </a:defRPr>
            </a:pPr>
            <a:r>
              <a:rPr sz="1575" b="1">
                <a:solidFill>
                  <a:srgbClr val="23323B"/>
                </a:solidFill>
              </a:rPr>
              <a:t>Read 1:15, 2:41, 4:4, 5:14, 6:7, 9:31, 12:24, 16:5, 19:20, and 28:31.</a:t>
            </a:r>
          </a:p>
          <a:p>
            <a:endParaRPr sz="1575" b="1">
              <a:solidFill>
                <a:srgbClr val="23323B"/>
              </a:solidFill>
            </a:endParaRPr>
          </a:p>
          <a:p>
            <a:pPr algn="l">
              <a:defRPr sz="1575" b="1">
                <a:solidFill>
                  <a:srgbClr val="23323B"/>
                </a:solidFill>
              </a:defRPr>
            </a:pPr>
            <a:r>
              <a:rPr sz="1575" b="1">
                <a:solidFill>
                  <a:srgbClr val="23323B"/>
                </a:solidFill>
              </a:rPr>
              <a:t>a. What do these verses have in common, and what progression do you see?</a:t>
            </a:r>
          </a:p>
          <a:p>
            <a:endParaRPr sz="1575" b="1">
              <a:solidFill>
                <a:srgbClr val="23323B"/>
              </a:solidFill>
            </a:endParaRPr>
          </a:p>
          <a:p>
            <a:pPr algn="l">
              <a:defRPr sz="1575" b="1">
                <a:solidFill>
                  <a:srgbClr val="23323B"/>
                </a:solidFill>
              </a:defRPr>
            </a:pPr>
            <a:r>
              <a:rPr sz="1575" b="1">
                <a:solidFill>
                  <a:srgbClr val="23323B"/>
                </a:solidFill>
              </a:rPr>
              <a:t>b. What does this pattern tell you about Acts?</a:t>
            </a:r>
          </a:p>
        </p:txBody>
      </p:sp>
      <p:sp>
        <p:nvSpPr>
          <p:cNvPr id="8" name="reveal-label">
            <a:extLst>
              <a:ext uri="{FF2B5EF4-FFF2-40B4-BE49-F238E27FC236}">
                <a16:creationId xmlns:a16="http://schemas.microsoft.com/office/drawing/2014/main" id="{DD28C4D8-2A62-44A8-BCDC-514F227CB8C3}"/>
              </a:ext>
            </a:extLst>
          </p:cNvPr>
          <p:cNvSpPr>
            <a:spLocks noGrp="1"/>
          </p:cNvSpPr>
          <p:nvPr/>
        </p:nvSpPr>
        <p:spPr>
          <a:xfrm>
            <a:off x="685800" y="3105150"/>
            <a:ext cx="2381250" cy="26670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SUGGESTED ANSWER</a:t>
            </a:r>
          </a:p>
        </p:txBody>
      </p:sp>
      <p:sp>
        <p:nvSpPr>
          <p:cNvPr id="9" name="answer-1">
            <a:extLst>
              <a:ext uri="{FF2B5EF4-FFF2-40B4-BE49-F238E27FC236}">
                <a16:creationId xmlns:a16="http://schemas.microsoft.com/office/drawing/2014/main" id="{3965E11F-2C13-432F-AC44-18577E0125DB}"/>
              </a:ext>
            </a:extLst>
          </p:cNvPr>
          <p:cNvSpPr>
            <a:spLocks noGrp="1"/>
          </p:cNvSpPr>
          <p:nvPr/>
        </p:nvSpPr>
        <p:spPr>
          <a:xfrm>
            <a:off x="685800" y="3429000"/>
            <a:ext cx="5324475" cy="1809750"/>
          </a:xfrm>
          <a:prstGeom prst="roundRect">
            <a:avLst>
              <a:gd name="adj" fmla="val 6316"/>
            </a:avLst>
          </a:prstGeom>
          <a:solidFill>
            <a:srgbClr val="FFFDF8"/>
          </a:solidFill>
          <a:ln w="9525">
            <a:solidFill>
              <a:srgbClr val="E8E3D7"/>
            </a:solidFill>
            <a:prstDash val="solid"/>
          </a:ln>
        </p:spPr>
        <p:txBody>
          <a:bodyPr/>
          <a:lstStyle/>
          <a:p>
            <a:endParaRPr lang="en-US"/>
          </a:p>
        </p:txBody>
      </p:sp>
      <p:sp>
        <p:nvSpPr>
          <p:cNvPr id="10" name="answer-label-1">
            <a:extLst>
              <a:ext uri="{FF2B5EF4-FFF2-40B4-BE49-F238E27FC236}">
                <a16:creationId xmlns:a16="http://schemas.microsoft.com/office/drawing/2014/main" id="{CFC3177A-BAB3-40B5-8D3E-46C8FAF12409}"/>
              </a:ext>
            </a:extLst>
          </p:cNvPr>
          <p:cNvSpPr>
            <a:spLocks noGrp="1"/>
          </p:cNvSpPr>
          <p:nvPr/>
        </p:nvSpPr>
        <p:spPr>
          <a:xfrm>
            <a:off x="914400" y="3543300"/>
            <a:ext cx="4867275" cy="238125"/>
          </a:xfrm>
          <a:prstGeom prst="rect">
            <a:avLst/>
          </a:prstGeom>
          <a:noFill/>
          <a:ln w="0">
            <a:noFill/>
            <a:prstDash val="solid"/>
          </a:ln>
        </p:spPr>
        <p:txBody>
          <a:bodyPr anchor="ctr"/>
          <a:lstStyle/>
          <a:p>
            <a:pPr algn="l">
              <a:defRPr sz="1050" b="1">
                <a:solidFill>
                  <a:srgbClr val="A34D36"/>
                </a:solidFill>
              </a:defRPr>
            </a:pPr>
            <a:r>
              <a:rPr sz="1050" b="1">
                <a:solidFill>
                  <a:srgbClr val="A34D36"/>
                </a:solidFill>
              </a:rPr>
              <a:t>A • IN COMMON</a:t>
            </a:r>
          </a:p>
        </p:txBody>
      </p:sp>
      <p:sp>
        <p:nvSpPr>
          <p:cNvPr id="11" name="answer-text-1">
            <a:extLst>
              <a:ext uri="{FF2B5EF4-FFF2-40B4-BE49-F238E27FC236}">
                <a16:creationId xmlns:a16="http://schemas.microsoft.com/office/drawing/2014/main" id="{6B6836FD-CEBB-4DD9-B3FA-10D6C55480DB}"/>
              </a:ext>
            </a:extLst>
          </p:cNvPr>
          <p:cNvSpPr>
            <a:spLocks noGrp="1"/>
          </p:cNvSpPr>
          <p:nvPr/>
        </p:nvSpPr>
        <p:spPr>
          <a:xfrm>
            <a:off x="914400" y="3810000"/>
            <a:ext cx="4867275" cy="1352550"/>
          </a:xfrm>
          <a:prstGeom prst="rect">
            <a:avLst/>
          </a:prstGeom>
          <a:noFill/>
          <a:ln w="0">
            <a:noFill/>
            <a:prstDash val="solid"/>
          </a:ln>
        </p:spPr>
        <p:txBody>
          <a:bodyPr anchor="ctr"/>
          <a:lstStyle/>
          <a:p>
            <a:pPr algn="l">
              <a:defRPr sz="1650" b="0">
                <a:solidFill>
                  <a:srgbClr val="23323B"/>
                </a:solidFill>
              </a:defRPr>
            </a:pPr>
            <a:r>
              <a:rPr sz="1650" b="0">
                <a:solidFill>
                  <a:srgbClr val="23323B"/>
                </a:solidFill>
              </a:rPr>
              <a:t>The number of believers and the influence of God’s word keep increasing.</a:t>
            </a:r>
          </a:p>
        </p:txBody>
      </p:sp>
      <p:sp>
        <p:nvSpPr>
          <p:cNvPr id="12" name="answer-2">
            <a:extLst>
              <a:ext uri="{FF2B5EF4-FFF2-40B4-BE49-F238E27FC236}">
                <a16:creationId xmlns:a16="http://schemas.microsoft.com/office/drawing/2014/main" id="{DC6DDDD1-FE83-4BCB-BED1-D63A4E4A872A}"/>
              </a:ext>
            </a:extLst>
          </p:cNvPr>
          <p:cNvSpPr>
            <a:spLocks noGrp="1"/>
          </p:cNvSpPr>
          <p:nvPr/>
        </p:nvSpPr>
        <p:spPr>
          <a:xfrm>
            <a:off x="6181725" y="3429000"/>
            <a:ext cx="5324475" cy="1809750"/>
          </a:xfrm>
          <a:prstGeom prst="roundRect">
            <a:avLst>
              <a:gd name="adj" fmla="val 6316"/>
            </a:avLst>
          </a:prstGeom>
          <a:solidFill>
            <a:srgbClr val="F0E9DA"/>
          </a:solidFill>
          <a:ln w="9525">
            <a:solidFill>
              <a:srgbClr val="E8E3D7"/>
            </a:solidFill>
            <a:prstDash val="solid"/>
          </a:ln>
        </p:spPr>
        <p:txBody>
          <a:bodyPr/>
          <a:lstStyle/>
          <a:p>
            <a:endParaRPr lang="en-US"/>
          </a:p>
        </p:txBody>
      </p:sp>
      <p:sp>
        <p:nvSpPr>
          <p:cNvPr id="13" name="answer-label-2">
            <a:extLst>
              <a:ext uri="{FF2B5EF4-FFF2-40B4-BE49-F238E27FC236}">
                <a16:creationId xmlns:a16="http://schemas.microsoft.com/office/drawing/2014/main" id="{EFD60DA8-1501-422D-A1C2-30D2103966E6}"/>
              </a:ext>
            </a:extLst>
          </p:cNvPr>
          <p:cNvSpPr>
            <a:spLocks noGrp="1"/>
          </p:cNvSpPr>
          <p:nvPr/>
        </p:nvSpPr>
        <p:spPr>
          <a:xfrm>
            <a:off x="6410325" y="3543300"/>
            <a:ext cx="4867275" cy="238125"/>
          </a:xfrm>
          <a:prstGeom prst="rect">
            <a:avLst/>
          </a:prstGeom>
          <a:noFill/>
          <a:ln w="0">
            <a:noFill/>
            <a:prstDash val="solid"/>
          </a:ln>
        </p:spPr>
        <p:txBody>
          <a:bodyPr anchor="ctr"/>
          <a:lstStyle/>
          <a:p>
            <a:pPr algn="l">
              <a:defRPr sz="1050" b="1">
                <a:solidFill>
                  <a:srgbClr val="6E8773"/>
                </a:solidFill>
              </a:defRPr>
            </a:pPr>
            <a:r>
              <a:rPr sz="1050" b="1">
                <a:solidFill>
                  <a:srgbClr val="6E8773"/>
                </a:solidFill>
              </a:rPr>
              <a:t>B • THE PATTERN</a:t>
            </a:r>
          </a:p>
        </p:txBody>
      </p:sp>
      <p:sp>
        <p:nvSpPr>
          <p:cNvPr id="14" name="answer-text-2">
            <a:extLst>
              <a:ext uri="{FF2B5EF4-FFF2-40B4-BE49-F238E27FC236}">
                <a16:creationId xmlns:a16="http://schemas.microsoft.com/office/drawing/2014/main" id="{D947ACCA-B432-4784-ACF7-F7CDF78A5B4D}"/>
              </a:ext>
            </a:extLst>
          </p:cNvPr>
          <p:cNvSpPr>
            <a:spLocks noGrp="1"/>
          </p:cNvSpPr>
          <p:nvPr/>
        </p:nvSpPr>
        <p:spPr>
          <a:xfrm>
            <a:off x="6410325" y="3810000"/>
            <a:ext cx="4867275" cy="1352550"/>
          </a:xfrm>
          <a:prstGeom prst="rect">
            <a:avLst/>
          </a:prstGeom>
          <a:noFill/>
          <a:ln w="0">
            <a:noFill/>
            <a:prstDash val="solid"/>
          </a:ln>
        </p:spPr>
        <p:txBody>
          <a:bodyPr anchor="ctr"/>
          <a:lstStyle/>
          <a:p>
            <a:pPr algn="l">
              <a:defRPr sz="1650" b="0">
                <a:solidFill>
                  <a:srgbClr val="23323B"/>
                </a:solidFill>
              </a:defRPr>
            </a:pPr>
            <a:r>
              <a:rPr sz="1650" b="0">
                <a:solidFill>
                  <a:srgbClr val="23323B"/>
                </a:solidFill>
              </a:rPr>
              <a:t>Acts traces continuing growth—from a small Jerusalem gathering to unhindered witness in Rome.</a:t>
            </a:r>
          </a:p>
        </p:txBody>
      </p:sp>
      <p:sp>
        <p:nvSpPr>
          <p:cNvPr id="15" name="takeaway-band">
            <a:extLst>
              <a:ext uri="{FF2B5EF4-FFF2-40B4-BE49-F238E27FC236}">
                <a16:creationId xmlns:a16="http://schemas.microsoft.com/office/drawing/2014/main" id="{2D9A4611-ED46-4DD1-842A-062F77DDB1DC}"/>
              </a:ext>
            </a:extLst>
          </p:cNvPr>
          <p:cNvSpPr>
            <a:spLocks noGrp="1"/>
          </p:cNvSpPr>
          <p:nvPr/>
        </p:nvSpPr>
        <p:spPr>
          <a:xfrm>
            <a:off x="685800" y="5429250"/>
            <a:ext cx="10820400" cy="723900"/>
          </a:xfrm>
          <a:prstGeom prst="roundRect">
            <a:avLst>
              <a:gd name="adj" fmla="val 15789"/>
            </a:avLst>
          </a:prstGeom>
          <a:solidFill>
            <a:srgbClr val="142B3B"/>
          </a:solidFill>
          <a:ln w="9525">
            <a:solidFill>
              <a:srgbClr val="142B3B"/>
            </a:solidFill>
            <a:prstDash val="solid"/>
          </a:ln>
        </p:spPr>
        <p:txBody>
          <a:bodyPr/>
          <a:lstStyle/>
          <a:p>
            <a:endParaRPr lang="en-US"/>
          </a:p>
        </p:txBody>
      </p:sp>
      <p:sp>
        <p:nvSpPr>
          <p:cNvPr id="16" name="takeaway-label">
            <a:extLst>
              <a:ext uri="{FF2B5EF4-FFF2-40B4-BE49-F238E27FC236}">
                <a16:creationId xmlns:a16="http://schemas.microsoft.com/office/drawing/2014/main" id="{29B19999-009E-46D5-AF8D-E84C2AF7B577}"/>
              </a:ext>
            </a:extLst>
          </p:cNvPr>
          <p:cNvSpPr>
            <a:spLocks noGrp="1"/>
          </p:cNvSpPr>
          <p:nvPr/>
        </p:nvSpPr>
        <p:spPr>
          <a:xfrm>
            <a:off x="914400" y="5524500"/>
            <a:ext cx="1285875" cy="228600"/>
          </a:xfrm>
          <a:prstGeom prst="rect">
            <a:avLst/>
          </a:prstGeom>
          <a:noFill/>
          <a:ln w="0">
            <a:noFill/>
            <a:prstDash val="solid"/>
          </a:ln>
        </p:spPr>
        <p:txBody>
          <a:bodyPr anchor="ctr"/>
          <a:lstStyle/>
          <a:p>
            <a:pPr algn="l">
              <a:defRPr sz="1050" b="1">
                <a:solidFill>
                  <a:srgbClr val="C59A3D"/>
                </a:solidFill>
              </a:defRPr>
            </a:pPr>
            <a:r>
              <a:rPr sz="1050" b="1">
                <a:solidFill>
                  <a:srgbClr val="C59A3D"/>
                </a:solidFill>
              </a:rPr>
              <a:t>KEY IDEA</a:t>
            </a:r>
          </a:p>
        </p:txBody>
      </p:sp>
      <p:sp>
        <p:nvSpPr>
          <p:cNvPr id="17" name="takeaway">
            <a:extLst>
              <a:ext uri="{FF2B5EF4-FFF2-40B4-BE49-F238E27FC236}">
                <a16:creationId xmlns:a16="http://schemas.microsoft.com/office/drawing/2014/main" id="{244B3968-B0A1-4A41-A4DA-EB04DCB5A1A1}"/>
              </a:ext>
            </a:extLst>
          </p:cNvPr>
          <p:cNvSpPr>
            <a:spLocks noGrp="1"/>
          </p:cNvSpPr>
          <p:nvPr/>
        </p:nvSpPr>
        <p:spPr>
          <a:xfrm>
            <a:off x="2143125" y="5476875"/>
            <a:ext cx="8953500" cy="476250"/>
          </a:xfrm>
          <a:prstGeom prst="rect">
            <a:avLst/>
          </a:prstGeom>
          <a:noFill/>
          <a:ln w="0">
            <a:noFill/>
            <a:prstDash val="solid"/>
          </a:ln>
        </p:spPr>
        <p:txBody>
          <a:bodyPr anchor="ctr"/>
          <a:lstStyle/>
          <a:p>
            <a:pPr algn="l">
              <a:defRPr sz="1500" b="1">
                <a:solidFill>
                  <a:srgbClr val="FFFFFF"/>
                </a:solidFill>
              </a:defRPr>
            </a:pPr>
            <a:r>
              <a:rPr sz="1500" b="1">
                <a:solidFill>
                  <a:srgbClr val="FFFFFF"/>
                </a:solidFill>
              </a:rPr>
              <a:t>The repeated reports show the gospel advancing despite opposition and difficulty.</a:t>
            </a:r>
          </a:p>
        </p:txBody>
      </p:sp>
    </p:spTree>
    <p:extLst>
      <p:ext uri="{BB962C8B-B14F-4D97-AF65-F5344CB8AC3E}">
        <p14:creationId xmlns:p14="http://schemas.microsoft.com/office/powerpoint/2010/main" val="1327088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0" name="top-rule">
            <a:extLst>
              <a:ext uri="{FF2B5EF4-FFF2-40B4-BE49-F238E27FC236}">
                <a16:creationId xmlns:a16="http://schemas.microsoft.com/office/drawing/2014/main" id="{41C0F261-8D0B-44DE-8D2F-EE74DC9C5A0C}"/>
              </a:ext>
            </a:extLst>
          </p:cNvPr>
          <p:cNvSpPr>
            <a:spLocks noGrp="1"/>
          </p:cNvSpPr>
          <p:nvPr/>
        </p:nvSpPr>
        <p:spPr>
          <a:xfrm>
            <a:off x="0" y="0"/>
            <a:ext cx="12192000" cy="114300"/>
          </a:xfrm>
          <a:prstGeom prst="rect">
            <a:avLst/>
          </a:prstGeom>
          <a:solidFill>
            <a:srgbClr val="C59A3D"/>
          </a:solidFill>
          <a:ln w="0">
            <a:noFill/>
            <a:prstDash val="solid"/>
          </a:ln>
        </p:spPr>
        <p:txBody>
          <a:bodyPr/>
          <a:lstStyle/>
          <a:p>
            <a:endParaRPr lang="en-US"/>
          </a:p>
        </p:txBody>
      </p:sp>
      <p:sp>
        <p:nvSpPr>
          <p:cNvPr id="2" name="section">
            <a:extLst>
              <a:ext uri="{FF2B5EF4-FFF2-40B4-BE49-F238E27FC236}">
                <a16:creationId xmlns:a16="http://schemas.microsoft.com/office/drawing/2014/main" id="{8F1DEF3D-A9BB-471A-A283-D3F8D4D5F5E2}"/>
              </a:ext>
            </a:extLst>
          </p:cNvPr>
          <p:cNvSpPr>
            <a:spLocks noGrp="1"/>
          </p:cNvSpPr>
          <p:nvPr/>
        </p:nvSpPr>
        <p:spPr>
          <a:xfrm>
            <a:off x="685800" y="266700"/>
            <a:ext cx="5715000" cy="28575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QUESTION 6</a:t>
            </a:r>
          </a:p>
        </p:txBody>
      </p:sp>
      <p:sp>
        <p:nvSpPr>
          <p:cNvPr id="3" name="slide-number">
            <a:extLst>
              <a:ext uri="{FF2B5EF4-FFF2-40B4-BE49-F238E27FC236}">
                <a16:creationId xmlns:a16="http://schemas.microsoft.com/office/drawing/2014/main" id="{A32C90FC-BEC3-40BF-80E9-F64057DCD26E}"/>
              </a:ext>
            </a:extLst>
          </p:cNvPr>
          <p:cNvSpPr>
            <a:spLocks noGrp="1"/>
          </p:cNvSpPr>
          <p:nvPr/>
        </p:nvSpPr>
        <p:spPr>
          <a:xfrm>
            <a:off x="11096625" y="266700"/>
            <a:ext cx="419100" cy="285750"/>
          </a:xfrm>
          <a:prstGeom prst="rect">
            <a:avLst/>
          </a:prstGeom>
          <a:noFill/>
          <a:ln w="0">
            <a:noFill/>
            <a:prstDash val="solid"/>
          </a:ln>
        </p:spPr>
        <p:txBody>
          <a:bodyPr anchor="ctr"/>
          <a:lstStyle/>
          <a:p>
            <a:pPr algn="r">
              <a:defRPr sz="1200" b="1">
                <a:solidFill>
                  <a:srgbClr val="61717A"/>
                </a:solidFill>
              </a:defRPr>
            </a:pPr>
            <a:r>
              <a:rPr sz="1200" b="1">
                <a:solidFill>
                  <a:srgbClr val="61717A"/>
                </a:solidFill>
              </a:rPr>
              <a:t>12</a:t>
            </a:r>
          </a:p>
        </p:txBody>
      </p:sp>
      <p:sp>
        <p:nvSpPr>
          <p:cNvPr id="4" name="question-number">
            <a:extLst>
              <a:ext uri="{FF2B5EF4-FFF2-40B4-BE49-F238E27FC236}">
                <a16:creationId xmlns:a16="http://schemas.microsoft.com/office/drawing/2014/main" id="{FF9C75C8-BFE4-4166-936D-4A61A8032401}"/>
              </a:ext>
            </a:extLst>
          </p:cNvPr>
          <p:cNvSpPr>
            <a:spLocks noGrp="1"/>
          </p:cNvSpPr>
          <p:nvPr/>
        </p:nvSpPr>
        <p:spPr>
          <a:xfrm>
            <a:off x="685800" y="876300"/>
            <a:ext cx="1428750" cy="914400"/>
          </a:xfrm>
          <a:prstGeom prst="rect">
            <a:avLst/>
          </a:prstGeom>
          <a:noFill/>
          <a:ln w="0">
            <a:noFill/>
            <a:prstDash val="solid"/>
          </a:ln>
        </p:spPr>
        <p:txBody>
          <a:bodyPr anchor="ctr"/>
          <a:lstStyle/>
          <a:p>
            <a:pPr algn="l">
              <a:defRPr sz="5400" b="1">
                <a:solidFill>
                  <a:srgbClr val="C59A3D"/>
                </a:solidFill>
              </a:defRPr>
            </a:pPr>
            <a:r>
              <a:rPr sz="5400" b="1">
                <a:solidFill>
                  <a:srgbClr val="C59A3D"/>
                </a:solidFill>
              </a:rPr>
              <a:t>Q6</a:t>
            </a:r>
          </a:p>
        </p:txBody>
      </p:sp>
      <p:sp>
        <p:nvSpPr>
          <p:cNvPr id="5" name="question-title">
            <a:extLst>
              <a:ext uri="{FF2B5EF4-FFF2-40B4-BE49-F238E27FC236}">
                <a16:creationId xmlns:a16="http://schemas.microsoft.com/office/drawing/2014/main" id="{C2B5C436-017A-4E66-8B70-06BBA8A59740}"/>
              </a:ext>
            </a:extLst>
          </p:cNvPr>
          <p:cNvSpPr>
            <a:spLocks noGrp="1"/>
          </p:cNvSpPr>
          <p:nvPr/>
        </p:nvSpPr>
        <p:spPr>
          <a:xfrm>
            <a:off x="2143125" y="904875"/>
            <a:ext cx="9048750" cy="762000"/>
          </a:xfrm>
          <a:prstGeom prst="rect">
            <a:avLst/>
          </a:prstGeom>
          <a:noFill/>
          <a:ln w="0">
            <a:noFill/>
            <a:prstDash val="solid"/>
          </a:ln>
        </p:spPr>
        <p:txBody>
          <a:bodyPr anchor="ctr"/>
          <a:lstStyle/>
          <a:p>
            <a:pPr algn="l">
              <a:defRPr sz="2850" b="1">
                <a:solidFill>
                  <a:srgbClr val="142B3B"/>
                </a:solidFill>
              </a:defRPr>
            </a:pPr>
            <a:r>
              <a:rPr sz="2850" b="1">
                <a:solidFill>
                  <a:srgbClr val="142B3B"/>
                </a:solidFill>
              </a:rPr>
              <a:t>The main character in Acts</a:t>
            </a:r>
          </a:p>
        </p:txBody>
      </p:sp>
      <p:sp>
        <p:nvSpPr>
          <p:cNvPr id="6" name="question-field">
            <a:extLst>
              <a:ext uri="{FF2B5EF4-FFF2-40B4-BE49-F238E27FC236}">
                <a16:creationId xmlns:a16="http://schemas.microsoft.com/office/drawing/2014/main" id="{44CC5216-E05E-43D5-B308-2BC7A6E3A7C6}"/>
              </a:ext>
            </a:extLst>
          </p:cNvPr>
          <p:cNvSpPr>
            <a:spLocks noGrp="1"/>
          </p:cNvSpPr>
          <p:nvPr/>
        </p:nvSpPr>
        <p:spPr>
          <a:xfrm>
            <a:off x="685800" y="1952625"/>
            <a:ext cx="10820400" cy="3143250"/>
          </a:xfrm>
          <a:prstGeom prst="roundRect">
            <a:avLst>
              <a:gd name="adj" fmla="val 3636"/>
            </a:avLst>
          </a:prstGeom>
          <a:solidFill>
            <a:srgbClr val="FFFDF8"/>
          </a:solidFill>
          <a:ln w="9525">
            <a:solidFill>
              <a:srgbClr val="E8E3D7"/>
            </a:solidFill>
            <a:prstDash val="solid"/>
          </a:ln>
        </p:spPr>
        <p:txBody>
          <a:bodyPr/>
          <a:lstStyle/>
          <a:p>
            <a:endParaRPr lang="en-US"/>
          </a:p>
        </p:txBody>
      </p:sp>
      <p:sp>
        <p:nvSpPr>
          <p:cNvPr id="7" name="question">
            <a:extLst>
              <a:ext uri="{FF2B5EF4-FFF2-40B4-BE49-F238E27FC236}">
                <a16:creationId xmlns:a16="http://schemas.microsoft.com/office/drawing/2014/main" id="{DEF455F0-C03E-43E0-905F-A7964E9363FB}"/>
              </a:ext>
            </a:extLst>
          </p:cNvPr>
          <p:cNvSpPr>
            <a:spLocks noGrp="1"/>
          </p:cNvSpPr>
          <p:nvPr/>
        </p:nvSpPr>
        <p:spPr>
          <a:xfrm>
            <a:off x="1162050" y="2238375"/>
            <a:ext cx="9867900" cy="2571750"/>
          </a:xfrm>
          <a:prstGeom prst="rect">
            <a:avLst/>
          </a:prstGeom>
          <a:noFill/>
          <a:ln w="0">
            <a:noFill/>
            <a:prstDash val="solid"/>
          </a:ln>
        </p:spPr>
        <p:txBody>
          <a:bodyPr anchor="ctr"/>
          <a:lstStyle/>
          <a:p>
            <a:pPr algn="l">
              <a:defRPr sz="1950" b="1">
                <a:solidFill>
                  <a:srgbClr val="23323B"/>
                </a:solidFill>
              </a:defRPr>
            </a:pPr>
            <a:r>
              <a:rPr sz="1950" b="1">
                <a:solidFill>
                  <a:srgbClr val="23323B"/>
                </a:solidFill>
              </a:rPr>
              <a:t>Who is the main character who dominates Acts, and what effects does he produce?</a:t>
            </a:r>
          </a:p>
        </p:txBody>
      </p:sp>
      <p:sp>
        <p:nvSpPr>
          <p:cNvPr id="8" name="discussion-rule">
            <a:extLst>
              <a:ext uri="{FF2B5EF4-FFF2-40B4-BE49-F238E27FC236}">
                <a16:creationId xmlns:a16="http://schemas.microsoft.com/office/drawing/2014/main" id="{484BC01D-0D65-49E0-AC7B-F446DDEF3F99}"/>
              </a:ext>
            </a:extLst>
          </p:cNvPr>
          <p:cNvSpPr>
            <a:spLocks noGrp="1"/>
          </p:cNvSpPr>
          <p:nvPr/>
        </p:nvSpPr>
        <p:spPr>
          <a:xfrm>
            <a:off x="685800" y="5429250"/>
            <a:ext cx="1428750" cy="47625"/>
          </a:xfrm>
          <a:prstGeom prst="rect">
            <a:avLst/>
          </a:prstGeom>
          <a:solidFill>
            <a:srgbClr val="A34D36"/>
          </a:solidFill>
          <a:ln w="0">
            <a:noFill/>
            <a:prstDash val="solid"/>
          </a:ln>
        </p:spPr>
        <p:txBody>
          <a:bodyPr/>
          <a:lstStyle/>
          <a:p>
            <a:endParaRPr lang="en-US"/>
          </a:p>
        </p:txBody>
      </p:sp>
      <p:sp>
        <p:nvSpPr>
          <p:cNvPr id="9" name="discussion-kicker">
            <a:extLst>
              <a:ext uri="{FF2B5EF4-FFF2-40B4-BE49-F238E27FC236}">
                <a16:creationId xmlns:a16="http://schemas.microsoft.com/office/drawing/2014/main" id="{DDA0CAE9-C03F-4AED-92F2-E1F00CD623C0}"/>
              </a:ext>
            </a:extLst>
          </p:cNvPr>
          <p:cNvSpPr>
            <a:spLocks noGrp="1"/>
          </p:cNvSpPr>
          <p:nvPr/>
        </p:nvSpPr>
        <p:spPr>
          <a:xfrm>
            <a:off x="2286000" y="5219700"/>
            <a:ext cx="8763000" cy="457200"/>
          </a:xfrm>
          <a:prstGeom prst="rect">
            <a:avLst/>
          </a:prstGeom>
          <a:noFill/>
          <a:ln w="0">
            <a:noFill/>
            <a:prstDash val="solid"/>
          </a:ln>
        </p:spPr>
        <p:txBody>
          <a:bodyPr anchor="ctr"/>
          <a:lstStyle/>
          <a:p>
            <a:pPr algn="l">
              <a:defRPr sz="1650" b="0">
                <a:solidFill>
                  <a:srgbClr val="61717A"/>
                </a:solidFill>
              </a:defRPr>
            </a:pPr>
            <a:r>
              <a:rPr sz="1650" b="0">
                <a:solidFill>
                  <a:srgbClr val="61717A"/>
                </a:solidFill>
              </a:rPr>
              <a:t>Track who initiates, empowers, redirects, and confirms the mission.</a:t>
            </a:r>
          </a:p>
        </p:txBody>
      </p:sp>
    </p:spTree>
    <p:extLst>
      <p:ext uri="{BB962C8B-B14F-4D97-AF65-F5344CB8AC3E}">
        <p14:creationId xmlns:p14="http://schemas.microsoft.com/office/powerpoint/2010/main" val="198701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1" name="top-rule">
            <a:extLst>
              <a:ext uri="{FF2B5EF4-FFF2-40B4-BE49-F238E27FC236}">
                <a16:creationId xmlns:a16="http://schemas.microsoft.com/office/drawing/2014/main" id="{542A31E9-6C81-4B3A-AE55-2BB9F1188F1D}"/>
              </a:ext>
            </a:extLst>
          </p:cNvPr>
          <p:cNvSpPr>
            <a:spLocks noGrp="1"/>
          </p:cNvSpPr>
          <p:nvPr/>
        </p:nvSpPr>
        <p:spPr>
          <a:xfrm>
            <a:off x="0" y="0"/>
            <a:ext cx="12192000" cy="114300"/>
          </a:xfrm>
          <a:prstGeom prst="rect">
            <a:avLst/>
          </a:prstGeom>
          <a:solidFill>
            <a:srgbClr val="C59A3D"/>
          </a:solidFill>
          <a:ln w="0">
            <a:noFill/>
            <a:prstDash val="solid"/>
          </a:ln>
        </p:spPr>
        <p:txBody>
          <a:bodyPr/>
          <a:lstStyle/>
          <a:p>
            <a:endParaRPr lang="en-US"/>
          </a:p>
        </p:txBody>
      </p:sp>
      <p:sp>
        <p:nvSpPr>
          <p:cNvPr id="2" name="section">
            <a:extLst>
              <a:ext uri="{FF2B5EF4-FFF2-40B4-BE49-F238E27FC236}">
                <a16:creationId xmlns:a16="http://schemas.microsoft.com/office/drawing/2014/main" id="{C0968015-7BE9-4EF7-8F64-D7F0CB81BC32}"/>
              </a:ext>
            </a:extLst>
          </p:cNvPr>
          <p:cNvSpPr>
            <a:spLocks noGrp="1"/>
          </p:cNvSpPr>
          <p:nvPr/>
        </p:nvSpPr>
        <p:spPr>
          <a:xfrm>
            <a:off x="685800" y="266700"/>
            <a:ext cx="5715000" cy="28575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QUESTION 6 • ANSWER REVEALED</a:t>
            </a:r>
          </a:p>
        </p:txBody>
      </p:sp>
      <p:sp>
        <p:nvSpPr>
          <p:cNvPr id="3" name="slide-number">
            <a:extLst>
              <a:ext uri="{FF2B5EF4-FFF2-40B4-BE49-F238E27FC236}">
                <a16:creationId xmlns:a16="http://schemas.microsoft.com/office/drawing/2014/main" id="{B30A687C-933A-4EEC-97A6-43C1952D67FE}"/>
              </a:ext>
            </a:extLst>
          </p:cNvPr>
          <p:cNvSpPr>
            <a:spLocks noGrp="1"/>
          </p:cNvSpPr>
          <p:nvPr/>
        </p:nvSpPr>
        <p:spPr>
          <a:xfrm>
            <a:off x="11096625" y="266700"/>
            <a:ext cx="419100" cy="285750"/>
          </a:xfrm>
          <a:prstGeom prst="rect">
            <a:avLst/>
          </a:prstGeom>
          <a:noFill/>
          <a:ln w="0">
            <a:noFill/>
            <a:prstDash val="solid"/>
          </a:ln>
        </p:spPr>
        <p:txBody>
          <a:bodyPr anchor="ctr"/>
          <a:lstStyle/>
          <a:p>
            <a:pPr algn="r">
              <a:defRPr sz="1200" b="1">
                <a:solidFill>
                  <a:srgbClr val="61717A"/>
                </a:solidFill>
              </a:defRPr>
            </a:pPr>
            <a:r>
              <a:rPr sz="1200" b="1">
                <a:solidFill>
                  <a:srgbClr val="61717A"/>
                </a:solidFill>
              </a:rPr>
              <a:t>13</a:t>
            </a:r>
          </a:p>
        </p:txBody>
      </p:sp>
      <p:sp>
        <p:nvSpPr>
          <p:cNvPr id="4" name="question-number">
            <a:extLst>
              <a:ext uri="{FF2B5EF4-FFF2-40B4-BE49-F238E27FC236}">
                <a16:creationId xmlns:a16="http://schemas.microsoft.com/office/drawing/2014/main" id="{5813D37E-7646-4A25-BB1D-BC8BCECDAD79}"/>
              </a:ext>
            </a:extLst>
          </p:cNvPr>
          <p:cNvSpPr>
            <a:spLocks noGrp="1"/>
          </p:cNvSpPr>
          <p:nvPr/>
        </p:nvSpPr>
        <p:spPr>
          <a:xfrm>
            <a:off x="685800" y="685800"/>
            <a:ext cx="1285875" cy="762000"/>
          </a:xfrm>
          <a:prstGeom prst="rect">
            <a:avLst/>
          </a:prstGeom>
          <a:noFill/>
          <a:ln w="0">
            <a:noFill/>
            <a:prstDash val="solid"/>
          </a:ln>
        </p:spPr>
        <p:txBody>
          <a:bodyPr anchor="ctr"/>
          <a:lstStyle/>
          <a:p>
            <a:pPr algn="l">
              <a:defRPr sz="4350" b="1">
                <a:solidFill>
                  <a:srgbClr val="C59A3D"/>
                </a:solidFill>
              </a:defRPr>
            </a:pPr>
            <a:r>
              <a:rPr sz="4350" b="1">
                <a:solidFill>
                  <a:srgbClr val="C59A3D"/>
                </a:solidFill>
              </a:rPr>
              <a:t>Q6</a:t>
            </a:r>
          </a:p>
        </p:txBody>
      </p:sp>
      <p:sp>
        <p:nvSpPr>
          <p:cNvPr id="5" name="question-title">
            <a:extLst>
              <a:ext uri="{FF2B5EF4-FFF2-40B4-BE49-F238E27FC236}">
                <a16:creationId xmlns:a16="http://schemas.microsoft.com/office/drawing/2014/main" id="{F05CA532-89BC-4A28-9B17-2AA57EC48FE6}"/>
              </a:ext>
            </a:extLst>
          </p:cNvPr>
          <p:cNvSpPr>
            <a:spLocks noGrp="1"/>
          </p:cNvSpPr>
          <p:nvPr/>
        </p:nvSpPr>
        <p:spPr>
          <a:xfrm>
            <a:off x="2047875" y="723900"/>
            <a:ext cx="9144000" cy="609600"/>
          </a:xfrm>
          <a:prstGeom prst="rect">
            <a:avLst/>
          </a:prstGeom>
          <a:noFill/>
          <a:ln w="0">
            <a:noFill/>
            <a:prstDash val="solid"/>
          </a:ln>
        </p:spPr>
        <p:txBody>
          <a:bodyPr anchor="ctr"/>
          <a:lstStyle/>
          <a:p>
            <a:pPr algn="l">
              <a:defRPr sz="2550" b="1">
                <a:solidFill>
                  <a:srgbClr val="142B3B"/>
                </a:solidFill>
              </a:defRPr>
            </a:pPr>
            <a:r>
              <a:rPr sz="2550" b="1">
                <a:solidFill>
                  <a:srgbClr val="142B3B"/>
                </a:solidFill>
              </a:rPr>
              <a:t>The main character in Acts</a:t>
            </a:r>
          </a:p>
        </p:txBody>
      </p:sp>
      <p:sp>
        <p:nvSpPr>
          <p:cNvPr id="6" name="question-field">
            <a:extLst>
              <a:ext uri="{FF2B5EF4-FFF2-40B4-BE49-F238E27FC236}">
                <a16:creationId xmlns:a16="http://schemas.microsoft.com/office/drawing/2014/main" id="{7E5360E8-E955-4020-B239-D2808418C084}"/>
              </a:ext>
            </a:extLst>
          </p:cNvPr>
          <p:cNvSpPr>
            <a:spLocks noGrp="1"/>
          </p:cNvSpPr>
          <p:nvPr/>
        </p:nvSpPr>
        <p:spPr>
          <a:xfrm>
            <a:off x="685800" y="1504950"/>
            <a:ext cx="10820400" cy="1428750"/>
          </a:xfrm>
          <a:prstGeom prst="roundRect">
            <a:avLst>
              <a:gd name="adj" fmla="val 8000"/>
            </a:avLst>
          </a:prstGeom>
          <a:solidFill>
            <a:srgbClr val="FFFDF8"/>
          </a:solidFill>
          <a:ln w="9525">
            <a:solidFill>
              <a:srgbClr val="E8E3D7"/>
            </a:solidFill>
            <a:prstDash val="solid"/>
          </a:ln>
        </p:spPr>
        <p:txBody>
          <a:bodyPr/>
          <a:lstStyle/>
          <a:p>
            <a:endParaRPr lang="en-US"/>
          </a:p>
        </p:txBody>
      </p:sp>
      <p:sp>
        <p:nvSpPr>
          <p:cNvPr id="7" name="question">
            <a:extLst>
              <a:ext uri="{FF2B5EF4-FFF2-40B4-BE49-F238E27FC236}">
                <a16:creationId xmlns:a16="http://schemas.microsoft.com/office/drawing/2014/main" id="{4682B822-B675-4F11-BE73-8C32AC98AB8A}"/>
              </a:ext>
            </a:extLst>
          </p:cNvPr>
          <p:cNvSpPr>
            <a:spLocks noGrp="1"/>
          </p:cNvSpPr>
          <p:nvPr/>
        </p:nvSpPr>
        <p:spPr>
          <a:xfrm>
            <a:off x="990600" y="1638300"/>
            <a:ext cx="10210800" cy="1162050"/>
          </a:xfrm>
          <a:prstGeom prst="rect">
            <a:avLst/>
          </a:prstGeom>
          <a:noFill/>
          <a:ln w="0">
            <a:noFill/>
            <a:prstDash val="solid"/>
          </a:ln>
        </p:spPr>
        <p:txBody>
          <a:bodyPr anchor="ctr"/>
          <a:lstStyle/>
          <a:p>
            <a:pPr algn="l">
              <a:defRPr sz="1575" b="1">
                <a:solidFill>
                  <a:srgbClr val="23323B"/>
                </a:solidFill>
              </a:defRPr>
            </a:pPr>
            <a:r>
              <a:rPr sz="1575" b="1">
                <a:solidFill>
                  <a:srgbClr val="23323B"/>
                </a:solidFill>
              </a:rPr>
              <a:t>Who is the main character who dominates Acts, and what effects does he produce?</a:t>
            </a:r>
          </a:p>
        </p:txBody>
      </p:sp>
      <p:sp>
        <p:nvSpPr>
          <p:cNvPr id="8" name="reveal-label">
            <a:extLst>
              <a:ext uri="{FF2B5EF4-FFF2-40B4-BE49-F238E27FC236}">
                <a16:creationId xmlns:a16="http://schemas.microsoft.com/office/drawing/2014/main" id="{91352C30-A76F-4DC0-9418-9324C8AEE0A3}"/>
              </a:ext>
            </a:extLst>
          </p:cNvPr>
          <p:cNvSpPr>
            <a:spLocks noGrp="1"/>
          </p:cNvSpPr>
          <p:nvPr/>
        </p:nvSpPr>
        <p:spPr>
          <a:xfrm>
            <a:off x="685800" y="3105150"/>
            <a:ext cx="2381250" cy="26670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SUGGESTED ANSWER</a:t>
            </a:r>
          </a:p>
        </p:txBody>
      </p:sp>
      <p:sp>
        <p:nvSpPr>
          <p:cNvPr id="9" name="answer-1">
            <a:extLst>
              <a:ext uri="{FF2B5EF4-FFF2-40B4-BE49-F238E27FC236}">
                <a16:creationId xmlns:a16="http://schemas.microsoft.com/office/drawing/2014/main" id="{21ED8B19-532B-4278-8BB2-6AA80147D3BE}"/>
              </a:ext>
            </a:extLst>
          </p:cNvPr>
          <p:cNvSpPr>
            <a:spLocks noGrp="1"/>
          </p:cNvSpPr>
          <p:nvPr/>
        </p:nvSpPr>
        <p:spPr>
          <a:xfrm>
            <a:off x="685800" y="3429000"/>
            <a:ext cx="3492500" cy="1809750"/>
          </a:xfrm>
          <a:prstGeom prst="roundRect">
            <a:avLst>
              <a:gd name="adj" fmla="val 6316"/>
            </a:avLst>
          </a:prstGeom>
          <a:solidFill>
            <a:srgbClr val="FFFDF8"/>
          </a:solidFill>
          <a:ln w="9525">
            <a:solidFill>
              <a:srgbClr val="E8E3D7"/>
            </a:solidFill>
            <a:prstDash val="solid"/>
          </a:ln>
        </p:spPr>
        <p:txBody>
          <a:bodyPr/>
          <a:lstStyle/>
          <a:p>
            <a:endParaRPr lang="en-US"/>
          </a:p>
        </p:txBody>
      </p:sp>
      <p:sp>
        <p:nvSpPr>
          <p:cNvPr id="10" name="answer-label-1">
            <a:extLst>
              <a:ext uri="{FF2B5EF4-FFF2-40B4-BE49-F238E27FC236}">
                <a16:creationId xmlns:a16="http://schemas.microsoft.com/office/drawing/2014/main" id="{EB54A456-E7F5-4A39-8ABC-1D1C21DACC1A}"/>
              </a:ext>
            </a:extLst>
          </p:cNvPr>
          <p:cNvSpPr>
            <a:spLocks noGrp="1"/>
          </p:cNvSpPr>
          <p:nvPr/>
        </p:nvSpPr>
        <p:spPr>
          <a:xfrm>
            <a:off x="914400" y="3543300"/>
            <a:ext cx="3035300" cy="238125"/>
          </a:xfrm>
          <a:prstGeom prst="rect">
            <a:avLst/>
          </a:prstGeom>
          <a:noFill/>
          <a:ln w="0">
            <a:noFill/>
            <a:prstDash val="solid"/>
          </a:ln>
        </p:spPr>
        <p:txBody>
          <a:bodyPr anchor="ctr"/>
          <a:lstStyle/>
          <a:p>
            <a:pPr algn="l">
              <a:defRPr sz="1050" b="1">
                <a:solidFill>
                  <a:srgbClr val="A34D36"/>
                </a:solidFill>
              </a:defRPr>
            </a:pPr>
            <a:r>
              <a:rPr sz="1050" b="1">
                <a:solidFill>
                  <a:srgbClr val="A34D36"/>
                </a:solidFill>
              </a:rPr>
              <a:t>POWER</a:t>
            </a:r>
          </a:p>
        </p:txBody>
      </p:sp>
      <p:sp>
        <p:nvSpPr>
          <p:cNvPr id="11" name="answer-text-1">
            <a:extLst>
              <a:ext uri="{FF2B5EF4-FFF2-40B4-BE49-F238E27FC236}">
                <a16:creationId xmlns:a16="http://schemas.microsoft.com/office/drawing/2014/main" id="{76254B05-0218-45A5-B761-F59D8C30B900}"/>
              </a:ext>
            </a:extLst>
          </p:cNvPr>
          <p:cNvSpPr>
            <a:spLocks noGrp="1"/>
          </p:cNvSpPr>
          <p:nvPr/>
        </p:nvSpPr>
        <p:spPr>
          <a:xfrm>
            <a:off x="914400" y="3810000"/>
            <a:ext cx="3035300" cy="1352550"/>
          </a:xfrm>
          <a:prstGeom prst="rect">
            <a:avLst/>
          </a:prstGeom>
          <a:noFill/>
          <a:ln w="0">
            <a:noFill/>
            <a:prstDash val="solid"/>
          </a:ln>
        </p:spPr>
        <p:txBody>
          <a:bodyPr anchor="ctr"/>
          <a:lstStyle/>
          <a:p>
            <a:pPr algn="l">
              <a:defRPr sz="1500" b="0">
                <a:solidFill>
                  <a:srgbClr val="23323B"/>
                </a:solidFill>
              </a:defRPr>
            </a:pPr>
            <a:r>
              <a:rPr sz="1500" b="0">
                <a:solidFill>
                  <a:srgbClr val="23323B"/>
                </a:solidFill>
              </a:rPr>
              <a:t>The Spirit enables bold, Christ-centered witness beyond natural ability.</a:t>
            </a:r>
          </a:p>
        </p:txBody>
      </p:sp>
      <p:sp>
        <p:nvSpPr>
          <p:cNvPr id="12" name="answer-2">
            <a:extLst>
              <a:ext uri="{FF2B5EF4-FFF2-40B4-BE49-F238E27FC236}">
                <a16:creationId xmlns:a16="http://schemas.microsoft.com/office/drawing/2014/main" id="{7FFD29DA-7D85-443E-89A0-FC1855783391}"/>
              </a:ext>
            </a:extLst>
          </p:cNvPr>
          <p:cNvSpPr>
            <a:spLocks noGrp="1"/>
          </p:cNvSpPr>
          <p:nvPr/>
        </p:nvSpPr>
        <p:spPr>
          <a:xfrm>
            <a:off x="4349750" y="3429000"/>
            <a:ext cx="3492500" cy="1809750"/>
          </a:xfrm>
          <a:prstGeom prst="roundRect">
            <a:avLst>
              <a:gd name="adj" fmla="val 6316"/>
            </a:avLst>
          </a:prstGeom>
          <a:solidFill>
            <a:srgbClr val="F0E9DA"/>
          </a:solidFill>
          <a:ln w="9525">
            <a:solidFill>
              <a:srgbClr val="E8E3D7"/>
            </a:solidFill>
            <a:prstDash val="solid"/>
          </a:ln>
        </p:spPr>
        <p:txBody>
          <a:bodyPr/>
          <a:lstStyle/>
          <a:p>
            <a:endParaRPr lang="en-US"/>
          </a:p>
        </p:txBody>
      </p:sp>
      <p:sp>
        <p:nvSpPr>
          <p:cNvPr id="13" name="answer-label-2">
            <a:extLst>
              <a:ext uri="{FF2B5EF4-FFF2-40B4-BE49-F238E27FC236}">
                <a16:creationId xmlns:a16="http://schemas.microsoft.com/office/drawing/2014/main" id="{0359CC8D-F251-4FB6-8AD3-BFEBBB7EE113}"/>
              </a:ext>
            </a:extLst>
          </p:cNvPr>
          <p:cNvSpPr>
            <a:spLocks noGrp="1"/>
          </p:cNvSpPr>
          <p:nvPr/>
        </p:nvSpPr>
        <p:spPr>
          <a:xfrm>
            <a:off x="4578350" y="3543300"/>
            <a:ext cx="3035300" cy="238125"/>
          </a:xfrm>
          <a:prstGeom prst="rect">
            <a:avLst/>
          </a:prstGeom>
          <a:noFill/>
          <a:ln w="0">
            <a:noFill/>
            <a:prstDash val="solid"/>
          </a:ln>
        </p:spPr>
        <p:txBody>
          <a:bodyPr anchor="ctr"/>
          <a:lstStyle/>
          <a:p>
            <a:pPr algn="l">
              <a:defRPr sz="1050" b="1">
                <a:solidFill>
                  <a:srgbClr val="6E8773"/>
                </a:solidFill>
              </a:defRPr>
            </a:pPr>
            <a:r>
              <a:rPr sz="1050" b="1">
                <a:solidFill>
                  <a:srgbClr val="6E8773"/>
                </a:solidFill>
              </a:rPr>
              <a:t>DIRECTION</a:t>
            </a:r>
          </a:p>
        </p:txBody>
      </p:sp>
      <p:sp>
        <p:nvSpPr>
          <p:cNvPr id="14" name="answer-text-2">
            <a:extLst>
              <a:ext uri="{FF2B5EF4-FFF2-40B4-BE49-F238E27FC236}">
                <a16:creationId xmlns:a16="http://schemas.microsoft.com/office/drawing/2014/main" id="{7A0BF9E9-7330-4CC0-B03A-B8BAC30FE559}"/>
              </a:ext>
            </a:extLst>
          </p:cNvPr>
          <p:cNvSpPr>
            <a:spLocks noGrp="1"/>
          </p:cNvSpPr>
          <p:nvPr/>
        </p:nvSpPr>
        <p:spPr>
          <a:xfrm>
            <a:off x="4578350" y="3810000"/>
            <a:ext cx="3035300" cy="1352550"/>
          </a:xfrm>
          <a:prstGeom prst="rect">
            <a:avLst/>
          </a:prstGeom>
          <a:noFill/>
          <a:ln w="0">
            <a:noFill/>
            <a:prstDash val="solid"/>
          </a:ln>
        </p:spPr>
        <p:txBody>
          <a:bodyPr anchor="ctr"/>
          <a:lstStyle/>
          <a:p>
            <a:pPr algn="l">
              <a:defRPr sz="1500" b="0">
                <a:solidFill>
                  <a:srgbClr val="23323B"/>
                </a:solidFill>
              </a:defRPr>
            </a:pPr>
            <a:r>
              <a:rPr sz="1500" b="0">
                <a:solidFill>
                  <a:srgbClr val="23323B"/>
                </a:solidFill>
              </a:rPr>
              <a:t>The Spirit sends workers, redirects plans, and opens new fields.</a:t>
            </a:r>
          </a:p>
        </p:txBody>
      </p:sp>
      <p:sp>
        <p:nvSpPr>
          <p:cNvPr id="15" name="answer-3">
            <a:extLst>
              <a:ext uri="{FF2B5EF4-FFF2-40B4-BE49-F238E27FC236}">
                <a16:creationId xmlns:a16="http://schemas.microsoft.com/office/drawing/2014/main" id="{491C09D5-02BF-48E6-B95E-88A209766772}"/>
              </a:ext>
            </a:extLst>
          </p:cNvPr>
          <p:cNvSpPr>
            <a:spLocks noGrp="1"/>
          </p:cNvSpPr>
          <p:nvPr/>
        </p:nvSpPr>
        <p:spPr>
          <a:xfrm>
            <a:off x="8013700" y="3429000"/>
            <a:ext cx="3492500" cy="1809750"/>
          </a:xfrm>
          <a:prstGeom prst="roundRect">
            <a:avLst>
              <a:gd name="adj" fmla="val 6316"/>
            </a:avLst>
          </a:prstGeom>
          <a:solidFill>
            <a:srgbClr val="FFFDF8"/>
          </a:solidFill>
          <a:ln w="9525">
            <a:solidFill>
              <a:srgbClr val="E8E3D7"/>
            </a:solidFill>
            <a:prstDash val="solid"/>
          </a:ln>
        </p:spPr>
        <p:txBody>
          <a:bodyPr/>
          <a:lstStyle/>
          <a:p>
            <a:endParaRPr lang="en-US"/>
          </a:p>
        </p:txBody>
      </p:sp>
      <p:sp>
        <p:nvSpPr>
          <p:cNvPr id="16" name="answer-label-3">
            <a:extLst>
              <a:ext uri="{FF2B5EF4-FFF2-40B4-BE49-F238E27FC236}">
                <a16:creationId xmlns:a16="http://schemas.microsoft.com/office/drawing/2014/main" id="{A23AF556-DCAD-4C3D-8BA5-B467456415DA}"/>
              </a:ext>
            </a:extLst>
          </p:cNvPr>
          <p:cNvSpPr>
            <a:spLocks noGrp="1"/>
          </p:cNvSpPr>
          <p:nvPr/>
        </p:nvSpPr>
        <p:spPr>
          <a:xfrm>
            <a:off x="8242300" y="3543300"/>
            <a:ext cx="3035300" cy="238125"/>
          </a:xfrm>
          <a:prstGeom prst="rect">
            <a:avLst/>
          </a:prstGeom>
          <a:noFill/>
          <a:ln w="0">
            <a:noFill/>
            <a:prstDash val="solid"/>
          </a:ln>
        </p:spPr>
        <p:txBody>
          <a:bodyPr anchor="ctr"/>
          <a:lstStyle/>
          <a:p>
            <a:pPr algn="l">
              <a:defRPr sz="1050" b="1">
                <a:solidFill>
                  <a:srgbClr val="A34D36"/>
                </a:solidFill>
              </a:defRPr>
            </a:pPr>
            <a:r>
              <a:rPr sz="1050" b="1">
                <a:solidFill>
                  <a:srgbClr val="A34D36"/>
                </a:solidFill>
              </a:rPr>
              <a:t>INCLUSION</a:t>
            </a:r>
          </a:p>
        </p:txBody>
      </p:sp>
      <p:sp>
        <p:nvSpPr>
          <p:cNvPr id="17" name="answer-text-3">
            <a:extLst>
              <a:ext uri="{FF2B5EF4-FFF2-40B4-BE49-F238E27FC236}">
                <a16:creationId xmlns:a16="http://schemas.microsoft.com/office/drawing/2014/main" id="{DAD3ACD0-3DE7-420C-89DB-A807F8258780}"/>
              </a:ext>
            </a:extLst>
          </p:cNvPr>
          <p:cNvSpPr>
            <a:spLocks noGrp="1"/>
          </p:cNvSpPr>
          <p:nvPr/>
        </p:nvSpPr>
        <p:spPr>
          <a:xfrm>
            <a:off x="8242300" y="3810000"/>
            <a:ext cx="3035300" cy="1352550"/>
          </a:xfrm>
          <a:prstGeom prst="rect">
            <a:avLst/>
          </a:prstGeom>
          <a:noFill/>
          <a:ln w="0">
            <a:noFill/>
            <a:prstDash val="solid"/>
          </a:ln>
        </p:spPr>
        <p:txBody>
          <a:bodyPr anchor="ctr"/>
          <a:lstStyle/>
          <a:p>
            <a:pPr algn="l">
              <a:defRPr sz="1500" b="0">
                <a:solidFill>
                  <a:srgbClr val="23323B"/>
                </a:solidFill>
              </a:defRPr>
            </a:pPr>
            <a:r>
              <a:rPr sz="1500" b="0">
                <a:solidFill>
                  <a:srgbClr val="23323B"/>
                </a:solidFill>
              </a:rPr>
              <a:t>The Spirit confirms that Gentiles receive the same gift and belong to God’s people.</a:t>
            </a:r>
          </a:p>
        </p:txBody>
      </p:sp>
      <p:sp>
        <p:nvSpPr>
          <p:cNvPr id="18" name="takeaway-band">
            <a:extLst>
              <a:ext uri="{FF2B5EF4-FFF2-40B4-BE49-F238E27FC236}">
                <a16:creationId xmlns:a16="http://schemas.microsoft.com/office/drawing/2014/main" id="{75D8F642-90DF-4A56-A690-B0BA83E7B473}"/>
              </a:ext>
            </a:extLst>
          </p:cNvPr>
          <p:cNvSpPr>
            <a:spLocks noGrp="1"/>
          </p:cNvSpPr>
          <p:nvPr/>
        </p:nvSpPr>
        <p:spPr>
          <a:xfrm>
            <a:off x="685800" y="5429250"/>
            <a:ext cx="10820400" cy="723900"/>
          </a:xfrm>
          <a:prstGeom prst="roundRect">
            <a:avLst>
              <a:gd name="adj" fmla="val 15789"/>
            </a:avLst>
          </a:prstGeom>
          <a:solidFill>
            <a:srgbClr val="142B3B"/>
          </a:solidFill>
          <a:ln w="9525">
            <a:solidFill>
              <a:srgbClr val="142B3B"/>
            </a:solidFill>
            <a:prstDash val="solid"/>
          </a:ln>
        </p:spPr>
        <p:txBody>
          <a:bodyPr/>
          <a:lstStyle/>
          <a:p>
            <a:endParaRPr lang="en-US"/>
          </a:p>
        </p:txBody>
      </p:sp>
      <p:sp>
        <p:nvSpPr>
          <p:cNvPr id="19" name="takeaway-label">
            <a:extLst>
              <a:ext uri="{FF2B5EF4-FFF2-40B4-BE49-F238E27FC236}">
                <a16:creationId xmlns:a16="http://schemas.microsoft.com/office/drawing/2014/main" id="{3FBFAB1A-F625-4201-820A-1CBF952CAD7F}"/>
              </a:ext>
            </a:extLst>
          </p:cNvPr>
          <p:cNvSpPr>
            <a:spLocks noGrp="1"/>
          </p:cNvSpPr>
          <p:nvPr/>
        </p:nvSpPr>
        <p:spPr>
          <a:xfrm>
            <a:off x="914400" y="5524500"/>
            <a:ext cx="1285875" cy="228600"/>
          </a:xfrm>
          <a:prstGeom prst="rect">
            <a:avLst/>
          </a:prstGeom>
          <a:noFill/>
          <a:ln w="0">
            <a:noFill/>
            <a:prstDash val="solid"/>
          </a:ln>
        </p:spPr>
        <p:txBody>
          <a:bodyPr anchor="ctr"/>
          <a:lstStyle/>
          <a:p>
            <a:pPr algn="l">
              <a:defRPr sz="1050" b="1">
                <a:solidFill>
                  <a:srgbClr val="C59A3D"/>
                </a:solidFill>
              </a:defRPr>
            </a:pPr>
            <a:r>
              <a:rPr sz="1050" b="1">
                <a:solidFill>
                  <a:srgbClr val="C59A3D"/>
                </a:solidFill>
              </a:rPr>
              <a:t>KEY IDEA</a:t>
            </a:r>
          </a:p>
        </p:txBody>
      </p:sp>
      <p:sp>
        <p:nvSpPr>
          <p:cNvPr id="20" name="takeaway">
            <a:extLst>
              <a:ext uri="{FF2B5EF4-FFF2-40B4-BE49-F238E27FC236}">
                <a16:creationId xmlns:a16="http://schemas.microsoft.com/office/drawing/2014/main" id="{1D4E3069-9140-4E25-93C7-1D236CC01381}"/>
              </a:ext>
            </a:extLst>
          </p:cNvPr>
          <p:cNvSpPr>
            <a:spLocks noGrp="1"/>
          </p:cNvSpPr>
          <p:nvPr/>
        </p:nvSpPr>
        <p:spPr>
          <a:xfrm>
            <a:off x="2143125" y="5476875"/>
            <a:ext cx="8953500" cy="476250"/>
          </a:xfrm>
          <a:prstGeom prst="rect">
            <a:avLst/>
          </a:prstGeom>
          <a:noFill/>
          <a:ln w="0">
            <a:noFill/>
            <a:prstDash val="solid"/>
          </a:ln>
        </p:spPr>
        <p:txBody>
          <a:bodyPr anchor="ctr"/>
          <a:lstStyle/>
          <a:p>
            <a:pPr algn="l">
              <a:defRPr sz="1500" b="1">
                <a:solidFill>
                  <a:srgbClr val="FFFFFF"/>
                </a:solidFill>
              </a:defRPr>
            </a:pPr>
            <a:r>
              <a:rPr sz="1500" b="1">
                <a:solidFill>
                  <a:srgbClr val="FFFFFF"/>
                </a:solidFill>
              </a:rPr>
              <a:t>The church advances because the Spirit is present, active, and sovereign.</a:t>
            </a:r>
          </a:p>
        </p:txBody>
      </p:sp>
    </p:spTree>
    <p:extLst>
      <p:ext uri="{BB962C8B-B14F-4D97-AF65-F5344CB8AC3E}">
        <p14:creationId xmlns:p14="http://schemas.microsoft.com/office/powerpoint/2010/main" val="263418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0" name="top-rule">
            <a:extLst>
              <a:ext uri="{FF2B5EF4-FFF2-40B4-BE49-F238E27FC236}">
                <a16:creationId xmlns:a16="http://schemas.microsoft.com/office/drawing/2014/main" id="{50E058C9-50EE-45F3-88AE-E322E0467519}"/>
              </a:ext>
            </a:extLst>
          </p:cNvPr>
          <p:cNvSpPr>
            <a:spLocks noGrp="1"/>
          </p:cNvSpPr>
          <p:nvPr/>
        </p:nvSpPr>
        <p:spPr>
          <a:xfrm>
            <a:off x="0" y="0"/>
            <a:ext cx="12192000" cy="114300"/>
          </a:xfrm>
          <a:prstGeom prst="rect">
            <a:avLst/>
          </a:prstGeom>
          <a:solidFill>
            <a:srgbClr val="C59A3D"/>
          </a:solidFill>
          <a:ln w="0">
            <a:noFill/>
            <a:prstDash val="solid"/>
          </a:ln>
        </p:spPr>
        <p:txBody>
          <a:bodyPr/>
          <a:lstStyle/>
          <a:p>
            <a:endParaRPr lang="en-US"/>
          </a:p>
        </p:txBody>
      </p:sp>
      <p:sp>
        <p:nvSpPr>
          <p:cNvPr id="2" name="section">
            <a:extLst>
              <a:ext uri="{FF2B5EF4-FFF2-40B4-BE49-F238E27FC236}">
                <a16:creationId xmlns:a16="http://schemas.microsoft.com/office/drawing/2014/main" id="{8CDD63E0-E705-41A8-87A2-8EB57832301E}"/>
              </a:ext>
            </a:extLst>
          </p:cNvPr>
          <p:cNvSpPr>
            <a:spLocks noGrp="1"/>
          </p:cNvSpPr>
          <p:nvPr/>
        </p:nvSpPr>
        <p:spPr>
          <a:xfrm>
            <a:off x="685800" y="266700"/>
            <a:ext cx="5715000" cy="28575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QUESTION 7</a:t>
            </a:r>
          </a:p>
        </p:txBody>
      </p:sp>
      <p:sp>
        <p:nvSpPr>
          <p:cNvPr id="3" name="slide-number">
            <a:extLst>
              <a:ext uri="{FF2B5EF4-FFF2-40B4-BE49-F238E27FC236}">
                <a16:creationId xmlns:a16="http://schemas.microsoft.com/office/drawing/2014/main" id="{CF6F7DBD-B745-4C36-9009-0C84ADE458A8}"/>
              </a:ext>
            </a:extLst>
          </p:cNvPr>
          <p:cNvSpPr>
            <a:spLocks noGrp="1"/>
          </p:cNvSpPr>
          <p:nvPr/>
        </p:nvSpPr>
        <p:spPr>
          <a:xfrm>
            <a:off x="11096625" y="266700"/>
            <a:ext cx="419100" cy="285750"/>
          </a:xfrm>
          <a:prstGeom prst="rect">
            <a:avLst/>
          </a:prstGeom>
          <a:noFill/>
          <a:ln w="0">
            <a:noFill/>
            <a:prstDash val="solid"/>
          </a:ln>
        </p:spPr>
        <p:txBody>
          <a:bodyPr anchor="ctr"/>
          <a:lstStyle/>
          <a:p>
            <a:pPr algn="r">
              <a:defRPr sz="1200" b="1">
                <a:solidFill>
                  <a:srgbClr val="61717A"/>
                </a:solidFill>
              </a:defRPr>
            </a:pPr>
            <a:r>
              <a:rPr sz="1200" b="1">
                <a:solidFill>
                  <a:srgbClr val="61717A"/>
                </a:solidFill>
              </a:rPr>
              <a:t>14</a:t>
            </a:r>
          </a:p>
        </p:txBody>
      </p:sp>
      <p:sp>
        <p:nvSpPr>
          <p:cNvPr id="4" name="question-number">
            <a:extLst>
              <a:ext uri="{FF2B5EF4-FFF2-40B4-BE49-F238E27FC236}">
                <a16:creationId xmlns:a16="http://schemas.microsoft.com/office/drawing/2014/main" id="{D2D557C3-9BD0-4C48-969A-CBDED8EF319A}"/>
              </a:ext>
            </a:extLst>
          </p:cNvPr>
          <p:cNvSpPr>
            <a:spLocks noGrp="1"/>
          </p:cNvSpPr>
          <p:nvPr/>
        </p:nvSpPr>
        <p:spPr>
          <a:xfrm>
            <a:off x="685800" y="876300"/>
            <a:ext cx="1428750" cy="914400"/>
          </a:xfrm>
          <a:prstGeom prst="rect">
            <a:avLst/>
          </a:prstGeom>
          <a:noFill/>
          <a:ln w="0">
            <a:noFill/>
            <a:prstDash val="solid"/>
          </a:ln>
        </p:spPr>
        <p:txBody>
          <a:bodyPr anchor="ctr"/>
          <a:lstStyle/>
          <a:p>
            <a:pPr algn="l">
              <a:defRPr sz="5400" b="1">
                <a:solidFill>
                  <a:srgbClr val="C59A3D"/>
                </a:solidFill>
              </a:defRPr>
            </a:pPr>
            <a:r>
              <a:rPr sz="5400" b="1">
                <a:solidFill>
                  <a:srgbClr val="C59A3D"/>
                </a:solidFill>
              </a:rPr>
              <a:t>Q7</a:t>
            </a:r>
          </a:p>
        </p:txBody>
      </p:sp>
      <p:sp>
        <p:nvSpPr>
          <p:cNvPr id="5" name="question-title">
            <a:extLst>
              <a:ext uri="{FF2B5EF4-FFF2-40B4-BE49-F238E27FC236}">
                <a16:creationId xmlns:a16="http://schemas.microsoft.com/office/drawing/2014/main" id="{5272F0CC-DEFB-45BD-A592-4E885D1BE2B6}"/>
              </a:ext>
            </a:extLst>
          </p:cNvPr>
          <p:cNvSpPr>
            <a:spLocks noGrp="1"/>
          </p:cNvSpPr>
          <p:nvPr/>
        </p:nvSpPr>
        <p:spPr>
          <a:xfrm>
            <a:off x="2143125" y="904875"/>
            <a:ext cx="9048750" cy="762000"/>
          </a:xfrm>
          <a:prstGeom prst="rect">
            <a:avLst/>
          </a:prstGeom>
          <a:noFill/>
          <a:ln w="0">
            <a:noFill/>
            <a:prstDash val="solid"/>
          </a:ln>
        </p:spPr>
        <p:txBody>
          <a:bodyPr anchor="ctr"/>
          <a:lstStyle/>
          <a:p>
            <a:pPr algn="l">
              <a:defRPr sz="2850" b="1">
                <a:solidFill>
                  <a:srgbClr val="142B3B"/>
                </a:solidFill>
              </a:defRPr>
            </a:pPr>
            <a:r>
              <a:rPr sz="2850" b="1">
                <a:solidFill>
                  <a:srgbClr val="142B3B"/>
                </a:solidFill>
              </a:rPr>
              <a:t>The central themes of Acts</a:t>
            </a:r>
          </a:p>
        </p:txBody>
      </p:sp>
      <p:sp>
        <p:nvSpPr>
          <p:cNvPr id="6" name="question-field">
            <a:extLst>
              <a:ext uri="{FF2B5EF4-FFF2-40B4-BE49-F238E27FC236}">
                <a16:creationId xmlns:a16="http://schemas.microsoft.com/office/drawing/2014/main" id="{8D6A30E0-F2EE-47A2-A013-E3EFB3C054CD}"/>
              </a:ext>
            </a:extLst>
          </p:cNvPr>
          <p:cNvSpPr>
            <a:spLocks noGrp="1"/>
          </p:cNvSpPr>
          <p:nvPr/>
        </p:nvSpPr>
        <p:spPr>
          <a:xfrm>
            <a:off x="685800" y="1952625"/>
            <a:ext cx="10820400" cy="3143250"/>
          </a:xfrm>
          <a:prstGeom prst="roundRect">
            <a:avLst>
              <a:gd name="adj" fmla="val 3636"/>
            </a:avLst>
          </a:prstGeom>
          <a:solidFill>
            <a:srgbClr val="FFFDF8"/>
          </a:solidFill>
          <a:ln w="9525">
            <a:solidFill>
              <a:srgbClr val="E8E3D7"/>
            </a:solidFill>
            <a:prstDash val="solid"/>
          </a:ln>
        </p:spPr>
        <p:txBody>
          <a:bodyPr/>
          <a:lstStyle/>
          <a:p>
            <a:endParaRPr lang="en-US"/>
          </a:p>
        </p:txBody>
      </p:sp>
      <p:sp>
        <p:nvSpPr>
          <p:cNvPr id="7" name="question">
            <a:extLst>
              <a:ext uri="{FF2B5EF4-FFF2-40B4-BE49-F238E27FC236}">
                <a16:creationId xmlns:a16="http://schemas.microsoft.com/office/drawing/2014/main" id="{FF84E8B9-46A2-464E-824F-1CEFCC89AAAF}"/>
              </a:ext>
            </a:extLst>
          </p:cNvPr>
          <p:cNvSpPr>
            <a:spLocks noGrp="1"/>
          </p:cNvSpPr>
          <p:nvPr/>
        </p:nvSpPr>
        <p:spPr>
          <a:xfrm>
            <a:off x="1162050" y="2238375"/>
            <a:ext cx="9867900" cy="2571750"/>
          </a:xfrm>
          <a:prstGeom prst="rect">
            <a:avLst/>
          </a:prstGeom>
          <a:noFill/>
          <a:ln w="0">
            <a:noFill/>
            <a:prstDash val="solid"/>
          </a:ln>
        </p:spPr>
        <p:txBody>
          <a:bodyPr anchor="ctr"/>
          <a:lstStyle/>
          <a:p>
            <a:pPr algn="l">
              <a:defRPr sz="2325" b="1">
                <a:solidFill>
                  <a:srgbClr val="23323B"/>
                </a:solidFill>
              </a:defRPr>
            </a:pPr>
            <a:r>
              <a:rPr sz="2325" b="1">
                <a:solidFill>
                  <a:srgbClr val="23323B"/>
                </a:solidFill>
              </a:rPr>
              <a:t>From your observations so far, what seem to be the central themes, messages, or purposes of Acts?</a:t>
            </a:r>
          </a:p>
        </p:txBody>
      </p:sp>
      <p:sp>
        <p:nvSpPr>
          <p:cNvPr id="8" name="discussion-rule">
            <a:extLst>
              <a:ext uri="{FF2B5EF4-FFF2-40B4-BE49-F238E27FC236}">
                <a16:creationId xmlns:a16="http://schemas.microsoft.com/office/drawing/2014/main" id="{B21E106F-C245-454A-8CCB-F4D74BA571F7}"/>
              </a:ext>
            </a:extLst>
          </p:cNvPr>
          <p:cNvSpPr>
            <a:spLocks noGrp="1"/>
          </p:cNvSpPr>
          <p:nvPr/>
        </p:nvSpPr>
        <p:spPr>
          <a:xfrm>
            <a:off x="685800" y="5429250"/>
            <a:ext cx="1428750" cy="47625"/>
          </a:xfrm>
          <a:prstGeom prst="rect">
            <a:avLst/>
          </a:prstGeom>
          <a:solidFill>
            <a:srgbClr val="A34D36"/>
          </a:solidFill>
          <a:ln w="0">
            <a:noFill/>
            <a:prstDash val="solid"/>
          </a:ln>
        </p:spPr>
        <p:txBody>
          <a:bodyPr/>
          <a:lstStyle/>
          <a:p>
            <a:endParaRPr lang="en-US"/>
          </a:p>
        </p:txBody>
      </p:sp>
      <p:sp>
        <p:nvSpPr>
          <p:cNvPr id="9" name="discussion-kicker">
            <a:extLst>
              <a:ext uri="{FF2B5EF4-FFF2-40B4-BE49-F238E27FC236}">
                <a16:creationId xmlns:a16="http://schemas.microsoft.com/office/drawing/2014/main" id="{2C582770-4940-49F2-8B63-69C04444E188}"/>
              </a:ext>
            </a:extLst>
          </p:cNvPr>
          <p:cNvSpPr>
            <a:spLocks noGrp="1"/>
          </p:cNvSpPr>
          <p:nvPr/>
        </p:nvSpPr>
        <p:spPr>
          <a:xfrm>
            <a:off x="2286000" y="5219700"/>
            <a:ext cx="8763000" cy="457200"/>
          </a:xfrm>
          <a:prstGeom prst="rect">
            <a:avLst/>
          </a:prstGeom>
          <a:noFill/>
          <a:ln w="0">
            <a:noFill/>
            <a:prstDash val="solid"/>
          </a:ln>
        </p:spPr>
        <p:txBody>
          <a:bodyPr anchor="ctr"/>
          <a:lstStyle/>
          <a:p>
            <a:pPr algn="l">
              <a:defRPr sz="1650" b="0">
                <a:solidFill>
                  <a:srgbClr val="61717A"/>
                </a:solidFill>
              </a:defRPr>
            </a:pPr>
            <a:r>
              <a:rPr sz="1650" b="0">
                <a:solidFill>
                  <a:srgbClr val="61717A"/>
                </a:solidFill>
              </a:rPr>
              <a:t>Themes are lenses: they help us see meaning across many episodes.</a:t>
            </a:r>
          </a:p>
        </p:txBody>
      </p:sp>
    </p:spTree>
    <p:extLst>
      <p:ext uri="{BB962C8B-B14F-4D97-AF65-F5344CB8AC3E}">
        <p14:creationId xmlns:p14="http://schemas.microsoft.com/office/powerpoint/2010/main" val="1510003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1" name="top-rule">
            <a:extLst>
              <a:ext uri="{FF2B5EF4-FFF2-40B4-BE49-F238E27FC236}">
                <a16:creationId xmlns:a16="http://schemas.microsoft.com/office/drawing/2014/main" id="{C5508C4F-526D-4EAD-935D-50693174873F}"/>
              </a:ext>
            </a:extLst>
          </p:cNvPr>
          <p:cNvSpPr>
            <a:spLocks noGrp="1"/>
          </p:cNvSpPr>
          <p:nvPr/>
        </p:nvSpPr>
        <p:spPr>
          <a:xfrm>
            <a:off x="0" y="0"/>
            <a:ext cx="12192000" cy="114300"/>
          </a:xfrm>
          <a:prstGeom prst="rect">
            <a:avLst/>
          </a:prstGeom>
          <a:solidFill>
            <a:srgbClr val="C59A3D"/>
          </a:solidFill>
          <a:ln w="0">
            <a:noFill/>
            <a:prstDash val="solid"/>
          </a:ln>
        </p:spPr>
        <p:txBody>
          <a:bodyPr/>
          <a:lstStyle/>
          <a:p>
            <a:endParaRPr lang="en-US"/>
          </a:p>
        </p:txBody>
      </p:sp>
      <p:sp>
        <p:nvSpPr>
          <p:cNvPr id="2" name="section">
            <a:extLst>
              <a:ext uri="{FF2B5EF4-FFF2-40B4-BE49-F238E27FC236}">
                <a16:creationId xmlns:a16="http://schemas.microsoft.com/office/drawing/2014/main" id="{D733AC86-D3BE-4A82-97BD-88FE5D4491D9}"/>
              </a:ext>
            </a:extLst>
          </p:cNvPr>
          <p:cNvSpPr>
            <a:spLocks noGrp="1"/>
          </p:cNvSpPr>
          <p:nvPr/>
        </p:nvSpPr>
        <p:spPr>
          <a:xfrm>
            <a:off x="685800" y="266700"/>
            <a:ext cx="5715000" cy="28575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QUESTION 7 • ANSWER REVEALED</a:t>
            </a:r>
          </a:p>
        </p:txBody>
      </p:sp>
      <p:sp>
        <p:nvSpPr>
          <p:cNvPr id="3" name="slide-number">
            <a:extLst>
              <a:ext uri="{FF2B5EF4-FFF2-40B4-BE49-F238E27FC236}">
                <a16:creationId xmlns:a16="http://schemas.microsoft.com/office/drawing/2014/main" id="{ACD0DBEF-ABD2-4529-A99E-1471A8B6AAB2}"/>
              </a:ext>
            </a:extLst>
          </p:cNvPr>
          <p:cNvSpPr>
            <a:spLocks noGrp="1"/>
          </p:cNvSpPr>
          <p:nvPr/>
        </p:nvSpPr>
        <p:spPr>
          <a:xfrm>
            <a:off x="11096625" y="266700"/>
            <a:ext cx="419100" cy="285750"/>
          </a:xfrm>
          <a:prstGeom prst="rect">
            <a:avLst/>
          </a:prstGeom>
          <a:noFill/>
          <a:ln w="0">
            <a:noFill/>
            <a:prstDash val="solid"/>
          </a:ln>
        </p:spPr>
        <p:txBody>
          <a:bodyPr anchor="ctr"/>
          <a:lstStyle/>
          <a:p>
            <a:pPr algn="r">
              <a:defRPr sz="1200" b="1">
                <a:solidFill>
                  <a:srgbClr val="61717A"/>
                </a:solidFill>
              </a:defRPr>
            </a:pPr>
            <a:r>
              <a:rPr sz="1200" b="1">
                <a:solidFill>
                  <a:srgbClr val="61717A"/>
                </a:solidFill>
              </a:rPr>
              <a:t>15</a:t>
            </a:r>
          </a:p>
        </p:txBody>
      </p:sp>
      <p:sp>
        <p:nvSpPr>
          <p:cNvPr id="4" name="question-number">
            <a:extLst>
              <a:ext uri="{FF2B5EF4-FFF2-40B4-BE49-F238E27FC236}">
                <a16:creationId xmlns:a16="http://schemas.microsoft.com/office/drawing/2014/main" id="{3A3C3DAC-51AF-4CFF-8513-6E3FD4A16AC3}"/>
              </a:ext>
            </a:extLst>
          </p:cNvPr>
          <p:cNvSpPr>
            <a:spLocks noGrp="1"/>
          </p:cNvSpPr>
          <p:nvPr/>
        </p:nvSpPr>
        <p:spPr>
          <a:xfrm>
            <a:off x="685800" y="685800"/>
            <a:ext cx="1285875" cy="762000"/>
          </a:xfrm>
          <a:prstGeom prst="rect">
            <a:avLst/>
          </a:prstGeom>
          <a:noFill/>
          <a:ln w="0">
            <a:noFill/>
            <a:prstDash val="solid"/>
          </a:ln>
        </p:spPr>
        <p:txBody>
          <a:bodyPr anchor="ctr"/>
          <a:lstStyle/>
          <a:p>
            <a:pPr algn="l">
              <a:defRPr sz="4350" b="1">
                <a:solidFill>
                  <a:srgbClr val="C59A3D"/>
                </a:solidFill>
              </a:defRPr>
            </a:pPr>
            <a:r>
              <a:rPr sz="4350" b="1">
                <a:solidFill>
                  <a:srgbClr val="C59A3D"/>
                </a:solidFill>
              </a:rPr>
              <a:t>Q7</a:t>
            </a:r>
          </a:p>
        </p:txBody>
      </p:sp>
      <p:sp>
        <p:nvSpPr>
          <p:cNvPr id="5" name="question-title">
            <a:extLst>
              <a:ext uri="{FF2B5EF4-FFF2-40B4-BE49-F238E27FC236}">
                <a16:creationId xmlns:a16="http://schemas.microsoft.com/office/drawing/2014/main" id="{F0F086EB-4E8D-43CB-84A9-FA66302F77FF}"/>
              </a:ext>
            </a:extLst>
          </p:cNvPr>
          <p:cNvSpPr>
            <a:spLocks noGrp="1"/>
          </p:cNvSpPr>
          <p:nvPr/>
        </p:nvSpPr>
        <p:spPr>
          <a:xfrm>
            <a:off x="2047875" y="723900"/>
            <a:ext cx="9144000" cy="609600"/>
          </a:xfrm>
          <a:prstGeom prst="rect">
            <a:avLst/>
          </a:prstGeom>
          <a:noFill/>
          <a:ln w="0">
            <a:noFill/>
            <a:prstDash val="solid"/>
          </a:ln>
        </p:spPr>
        <p:txBody>
          <a:bodyPr anchor="ctr"/>
          <a:lstStyle/>
          <a:p>
            <a:pPr algn="l">
              <a:defRPr sz="2550" b="1">
                <a:solidFill>
                  <a:srgbClr val="142B3B"/>
                </a:solidFill>
              </a:defRPr>
            </a:pPr>
            <a:r>
              <a:rPr sz="2550" b="1">
                <a:solidFill>
                  <a:srgbClr val="142B3B"/>
                </a:solidFill>
              </a:rPr>
              <a:t>The central themes of Acts</a:t>
            </a:r>
          </a:p>
        </p:txBody>
      </p:sp>
      <p:sp>
        <p:nvSpPr>
          <p:cNvPr id="6" name="question-field">
            <a:extLst>
              <a:ext uri="{FF2B5EF4-FFF2-40B4-BE49-F238E27FC236}">
                <a16:creationId xmlns:a16="http://schemas.microsoft.com/office/drawing/2014/main" id="{6F716135-8257-4A6C-A234-FCF439A232B2}"/>
              </a:ext>
            </a:extLst>
          </p:cNvPr>
          <p:cNvSpPr>
            <a:spLocks noGrp="1"/>
          </p:cNvSpPr>
          <p:nvPr/>
        </p:nvSpPr>
        <p:spPr>
          <a:xfrm>
            <a:off x="685800" y="1504950"/>
            <a:ext cx="10820400" cy="1428750"/>
          </a:xfrm>
          <a:prstGeom prst="roundRect">
            <a:avLst>
              <a:gd name="adj" fmla="val 8000"/>
            </a:avLst>
          </a:prstGeom>
          <a:solidFill>
            <a:srgbClr val="FFFDF8"/>
          </a:solidFill>
          <a:ln w="9525">
            <a:solidFill>
              <a:srgbClr val="E8E3D7"/>
            </a:solidFill>
            <a:prstDash val="solid"/>
          </a:ln>
        </p:spPr>
        <p:txBody>
          <a:bodyPr/>
          <a:lstStyle/>
          <a:p>
            <a:endParaRPr lang="en-US"/>
          </a:p>
        </p:txBody>
      </p:sp>
      <p:sp>
        <p:nvSpPr>
          <p:cNvPr id="7" name="question">
            <a:extLst>
              <a:ext uri="{FF2B5EF4-FFF2-40B4-BE49-F238E27FC236}">
                <a16:creationId xmlns:a16="http://schemas.microsoft.com/office/drawing/2014/main" id="{F328A6AE-6400-4473-AA2C-239E1548555B}"/>
              </a:ext>
            </a:extLst>
          </p:cNvPr>
          <p:cNvSpPr>
            <a:spLocks noGrp="1"/>
          </p:cNvSpPr>
          <p:nvPr/>
        </p:nvSpPr>
        <p:spPr>
          <a:xfrm>
            <a:off x="990600" y="1638300"/>
            <a:ext cx="10210800" cy="1162050"/>
          </a:xfrm>
          <a:prstGeom prst="rect">
            <a:avLst/>
          </a:prstGeom>
          <a:noFill/>
          <a:ln w="0">
            <a:noFill/>
            <a:prstDash val="solid"/>
          </a:ln>
        </p:spPr>
        <p:txBody>
          <a:bodyPr anchor="ctr"/>
          <a:lstStyle/>
          <a:p>
            <a:pPr algn="l">
              <a:defRPr sz="1800" b="1">
                <a:solidFill>
                  <a:srgbClr val="23323B"/>
                </a:solidFill>
              </a:defRPr>
            </a:pPr>
            <a:r>
              <a:rPr sz="1800" b="1">
                <a:solidFill>
                  <a:srgbClr val="23323B"/>
                </a:solidFill>
              </a:rPr>
              <a:t>From your observations so far, what seem to be the central themes, messages, or purposes of Acts?</a:t>
            </a:r>
          </a:p>
        </p:txBody>
      </p:sp>
      <p:sp>
        <p:nvSpPr>
          <p:cNvPr id="8" name="reveal-label">
            <a:extLst>
              <a:ext uri="{FF2B5EF4-FFF2-40B4-BE49-F238E27FC236}">
                <a16:creationId xmlns:a16="http://schemas.microsoft.com/office/drawing/2014/main" id="{6E3BF1EF-1347-4065-832B-DDADE167858A}"/>
              </a:ext>
            </a:extLst>
          </p:cNvPr>
          <p:cNvSpPr>
            <a:spLocks noGrp="1"/>
          </p:cNvSpPr>
          <p:nvPr/>
        </p:nvSpPr>
        <p:spPr>
          <a:xfrm>
            <a:off x="685800" y="3105150"/>
            <a:ext cx="2381250" cy="26670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SUGGESTED ANSWER</a:t>
            </a:r>
          </a:p>
        </p:txBody>
      </p:sp>
      <p:sp>
        <p:nvSpPr>
          <p:cNvPr id="9" name="answer-1">
            <a:extLst>
              <a:ext uri="{FF2B5EF4-FFF2-40B4-BE49-F238E27FC236}">
                <a16:creationId xmlns:a16="http://schemas.microsoft.com/office/drawing/2014/main" id="{F3B29622-965B-4488-BF2F-251DFDABFF4B}"/>
              </a:ext>
            </a:extLst>
          </p:cNvPr>
          <p:cNvSpPr>
            <a:spLocks noGrp="1"/>
          </p:cNvSpPr>
          <p:nvPr/>
        </p:nvSpPr>
        <p:spPr>
          <a:xfrm>
            <a:off x="685800" y="3429000"/>
            <a:ext cx="3492500" cy="1809750"/>
          </a:xfrm>
          <a:prstGeom prst="roundRect">
            <a:avLst>
              <a:gd name="adj" fmla="val 6316"/>
            </a:avLst>
          </a:prstGeom>
          <a:solidFill>
            <a:srgbClr val="FFFDF8"/>
          </a:solidFill>
          <a:ln w="9525">
            <a:solidFill>
              <a:srgbClr val="E8E3D7"/>
            </a:solidFill>
            <a:prstDash val="solid"/>
          </a:ln>
        </p:spPr>
        <p:txBody>
          <a:bodyPr/>
          <a:lstStyle/>
          <a:p>
            <a:endParaRPr lang="en-US"/>
          </a:p>
        </p:txBody>
      </p:sp>
      <p:sp>
        <p:nvSpPr>
          <p:cNvPr id="10" name="answer-label-1">
            <a:extLst>
              <a:ext uri="{FF2B5EF4-FFF2-40B4-BE49-F238E27FC236}">
                <a16:creationId xmlns:a16="http://schemas.microsoft.com/office/drawing/2014/main" id="{C9F72351-4ABC-486E-AD02-D1A3583A07A1}"/>
              </a:ext>
            </a:extLst>
          </p:cNvPr>
          <p:cNvSpPr>
            <a:spLocks noGrp="1"/>
          </p:cNvSpPr>
          <p:nvPr/>
        </p:nvSpPr>
        <p:spPr>
          <a:xfrm>
            <a:off x="914400" y="3543300"/>
            <a:ext cx="3035300" cy="238125"/>
          </a:xfrm>
          <a:prstGeom prst="rect">
            <a:avLst/>
          </a:prstGeom>
          <a:noFill/>
          <a:ln w="0">
            <a:noFill/>
            <a:prstDash val="solid"/>
          </a:ln>
        </p:spPr>
        <p:txBody>
          <a:bodyPr anchor="ctr"/>
          <a:lstStyle/>
          <a:p>
            <a:pPr algn="l">
              <a:defRPr sz="1050" b="1">
                <a:solidFill>
                  <a:srgbClr val="A34D36"/>
                </a:solidFill>
              </a:defRPr>
            </a:pPr>
            <a:r>
              <a:rPr sz="1050" b="1">
                <a:solidFill>
                  <a:srgbClr val="A34D36"/>
                </a:solidFill>
              </a:rPr>
              <a:t>MISSION</a:t>
            </a:r>
          </a:p>
        </p:txBody>
      </p:sp>
      <p:sp>
        <p:nvSpPr>
          <p:cNvPr id="11" name="answer-text-1">
            <a:extLst>
              <a:ext uri="{FF2B5EF4-FFF2-40B4-BE49-F238E27FC236}">
                <a16:creationId xmlns:a16="http://schemas.microsoft.com/office/drawing/2014/main" id="{823B4E79-8AF3-48A7-8586-77451764072C}"/>
              </a:ext>
            </a:extLst>
          </p:cNvPr>
          <p:cNvSpPr>
            <a:spLocks noGrp="1"/>
          </p:cNvSpPr>
          <p:nvPr/>
        </p:nvSpPr>
        <p:spPr>
          <a:xfrm>
            <a:off x="914400" y="3810000"/>
            <a:ext cx="3035300" cy="1352550"/>
          </a:xfrm>
          <a:prstGeom prst="rect">
            <a:avLst/>
          </a:prstGeom>
          <a:noFill/>
          <a:ln w="0">
            <a:noFill/>
            <a:prstDash val="solid"/>
          </a:ln>
        </p:spPr>
        <p:txBody>
          <a:bodyPr anchor="ctr"/>
          <a:lstStyle/>
          <a:p>
            <a:pPr algn="l">
              <a:defRPr sz="1500" b="0">
                <a:solidFill>
                  <a:srgbClr val="23323B"/>
                </a:solidFill>
              </a:defRPr>
            </a:pPr>
            <a:r>
              <a:rPr sz="1500" b="0">
                <a:solidFill>
                  <a:srgbClr val="23323B"/>
                </a:solidFill>
              </a:rPr>
              <a:t>Witness • Gospel expansion • God’s sovereign purpose</a:t>
            </a:r>
          </a:p>
        </p:txBody>
      </p:sp>
      <p:sp>
        <p:nvSpPr>
          <p:cNvPr id="12" name="answer-2">
            <a:extLst>
              <a:ext uri="{FF2B5EF4-FFF2-40B4-BE49-F238E27FC236}">
                <a16:creationId xmlns:a16="http://schemas.microsoft.com/office/drawing/2014/main" id="{D952024C-9129-4296-9C9D-1E897303417E}"/>
              </a:ext>
            </a:extLst>
          </p:cNvPr>
          <p:cNvSpPr>
            <a:spLocks noGrp="1"/>
          </p:cNvSpPr>
          <p:nvPr/>
        </p:nvSpPr>
        <p:spPr>
          <a:xfrm>
            <a:off x="4349750" y="3429000"/>
            <a:ext cx="3492500" cy="1809750"/>
          </a:xfrm>
          <a:prstGeom prst="roundRect">
            <a:avLst>
              <a:gd name="adj" fmla="val 6316"/>
            </a:avLst>
          </a:prstGeom>
          <a:solidFill>
            <a:srgbClr val="F0E9DA"/>
          </a:solidFill>
          <a:ln w="9525">
            <a:solidFill>
              <a:srgbClr val="E8E3D7"/>
            </a:solidFill>
            <a:prstDash val="solid"/>
          </a:ln>
        </p:spPr>
        <p:txBody>
          <a:bodyPr/>
          <a:lstStyle/>
          <a:p>
            <a:endParaRPr lang="en-US"/>
          </a:p>
        </p:txBody>
      </p:sp>
      <p:sp>
        <p:nvSpPr>
          <p:cNvPr id="13" name="answer-label-2">
            <a:extLst>
              <a:ext uri="{FF2B5EF4-FFF2-40B4-BE49-F238E27FC236}">
                <a16:creationId xmlns:a16="http://schemas.microsoft.com/office/drawing/2014/main" id="{8E037AB6-6B22-4ACB-972E-5BE723843AF8}"/>
              </a:ext>
            </a:extLst>
          </p:cNvPr>
          <p:cNvSpPr>
            <a:spLocks noGrp="1"/>
          </p:cNvSpPr>
          <p:nvPr/>
        </p:nvSpPr>
        <p:spPr>
          <a:xfrm>
            <a:off x="4578350" y="3543300"/>
            <a:ext cx="3035300" cy="238125"/>
          </a:xfrm>
          <a:prstGeom prst="rect">
            <a:avLst/>
          </a:prstGeom>
          <a:noFill/>
          <a:ln w="0">
            <a:noFill/>
            <a:prstDash val="solid"/>
          </a:ln>
        </p:spPr>
        <p:txBody>
          <a:bodyPr anchor="ctr"/>
          <a:lstStyle/>
          <a:p>
            <a:pPr algn="l">
              <a:defRPr sz="1050" b="1">
                <a:solidFill>
                  <a:srgbClr val="6E8773"/>
                </a:solidFill>
              </a:defRPr>
            </a:pPr>
            <a:r>
              <a:rPr sz="1050" b="1">
                <a:solidFill>
                  <a:srgbClr val="6E8773"/>
                </a:solidFill>
              </a:rPr>
              <a:t>POWER</a:t>
            </a:r>
          </a:p>
        </p:txBody>
      </p:sp>
      <p:sp>
        <p:nvSpPr>
          <p:cNvPr id="14" name="answer-text-2">
            <a:extLst>
              <a:ext uri="{FF2B5EF4-FFF2-40B4-BE49-F238E27FC236}">
                <a16:creationId xmlns:a16="http://schemas.microsoft.com/office/drawing/2014/main" id="{662885C2-058A-4686-A20B-E981846D08F6}"/>
              </a:ext>
            </a:extLst>
          </p:cNvPr>
          <p:cNvSpPr>
            <a:spLocks noGrp="1"/>
          </p:cNvSpPr>
          <p:nvPr/>
        </p:nvSpPr>
        <p:spPr>
          <a:xfrm>
            <a:off x="4578350" y="3810000"/>
            <a:ext cx="3035300" cy="1352550"/>
          </a:xfrm>
          <a:prstGeom prst="rect">
            <a:avLst/>
          </a:prstGeom>
          <a:noFill/>
          <a:ln w="0">
            <a:noFill/>
            <a:prstDash val="solid"/>
          </a:ln>
        </p:spPr>
        <p:txBody>
          <a:bodyPr anchor="ctr"/>
          <a:lstStyle/>
          <a:p>
            <a:pPr algn="l">
              <a:defRPr sz="1500" b="0">
                <a:solidFill>
                  <a:srgbClr val="23323B"/>
                </a:solidFill>
              </a:defRPr>
            </a:pPr>
            <a:r>
              <a:rPr sz="1500" b="0">
                <a:solidFill>
                  <a:srgbClr val="23323B"/>
                </a:solidFill>
              </a:rPr>
              <a:t>The Holy Spirit equips, directs, and confirms</a:t>
            </a:r>
          </a:p>
        </p:txBody>
      </p:sp>
      <p:sp>
        <p:nvSpPr>
          <p:cNvPr id="15" name="answer-3">
            <a:extLst>
              <a:ext uri="{FF2B5EF4-FFF2-40B4-BE49-F238E27FC236}">
                <a16:creationId xmlns:a16="http://schemas.microsoft.com/office/drawing/2014/main" id="{6ACC42EB-7AC9-434A-9C5E-4E995B1FD8D1}"/>
              </a:ext>
            </a:extLst>
          </p:cNvPr>
          <p:cNvSpPr>
            <a:spLocks noGrp="1"/>
          </p:cNvSpPr>
          <p:nvPr/>
        </p:nvSpPr>
        <p:spPr>
          <a:xfrm>
            <a:off x="8013700" y="3429000"/>
            <a:ext cx="3492500" cy="1809750"/>
          </a:xfrm>
          <a:prstGeom prst="roundRect">
            <a:avLst>
              <a:gd name="adj" fmla="val 6316"/>
            </a:avLst>
          </a:prstGeom>
          <a:solidFill>
            <a:srgbClr val="FFFDF8"/>
          </a:solidFill>
          <a:ln w="9525">
            <a:solidFill>
              <a:srgbClr val="E8E3D7"/>
            </a:solidFill>
            <a:prstDash val="solid"/>
          </a:ln>
        </p:spPr>
        <p:txBody>
          <a:bodyPr/>
          <a:lstStyle/>
          <a:p>
            <a:endParaRPr lang="en-US"/>
          </a:p>
        </p:txBody>
      </p:sp>
      <p:sp>
        <p:nvSpPr>
          <p:cNvPr id="16" name="answer-label-3">
            <a:extLst>
              <a:ext uri="{FF2B5EF4-FFF2-40B4-BE49-F238E27FC236}">
                <a16:creationId xmlns:a16="http://schemas.microsoft.com/office/drawing/2014/main" id="{5A52ED5F-BF98-47C5-B620-0B2C13BE6FFB}"/>
              </a:ext>
            </a:extLst>
          </p:cNvPr>
          <p:cNvSpPr>
            <a:spLocks noGrp="1"/>
          </p:cNvSpPr>
          <p:nvPr/>
        </p:nvSpPr>
        <p:spPr>
          <a:xfrm>
            <a:off x="8242300" y="3543300"/>
            <a:ext cx="3035300" cy="238125"/>
          </a:xfrm>
          <a:prstGeom prst="rect">
            <a:avLst/>
          </a:prstGeom>
          <a:noFill/>
          <a:ln w="0">
            <a:noFill/>
            <a:prstDash val="solid"/>
          </a:ln>
        </p:spPr>
        <p:txBody>
          <a:bodyPr anchor="ctr"/>
          <a:lstStyle/>
          <a:p>
            <a:pPr algn="l">
              <a:defRPr sz="1050" b="1">
                <a:solidFill>
                  <a:srgbClr val="A34D36"/>
                </a:solidFill>
              </a:defRPr>
            </a:pPr>
            <a:r>
              <a:rPr sz="1050" b="1">
                <a:solidFill>
                  <a:srgbClr val="A34D36"/>
                </a:solidFill>
              </a:rPr>
              <a:t>A NEW PEOPLE</a:t>
            </a:r>
          </a:p>
        </p:txBody>
      </p:sp>
      <p:sp>
        <p:nvSpPr>
          <p:cNvPr id="17" name="answer-text-3">
            <a:extLst>
              <a:ext uri="{FF2B5EF4-FFF2-40B4-BE49-F238E27FC236}">
                <a16:creationId xmlns:a16="http://schemas.microsoft.com/office/drawing/2014/main" id="{FBE94EF3-46BA-44EE-A602-3827AB6035CF}"/>
              </a:ext>
            </a:extLst>
          </p:cNvPr>
          <p:cNvSpPr>
            <a:spLocks noGrp="1"/>
          </p:cNvSpPr>
          <p:nvPr/>
        </p:nvSpPr>
        <p:spPr>
          <a:xfrm>
            <a:off x="8242300" y="3810000"/>
            <a:ext cx="3035300" cy="1352550"/>
          </a:xfrm>
          <a:prstGeom prst="rect">
            <a:avLst/>
          </a:prstGeom>
          <a:noFill/>
          <a:ln w="0">
            <a:noFill/>
            <a:prstDash val="solid"/>
          </a:ln>
        </p:spPr>
        <p:txBody>
          <a:bodyPr anchor="ctr"/>
          <a:lstStyle/>
          <a:p>
            <a:pPr algn="l">
              <a:defRPr sz="1500" b="0">
                <a:solidFill>
                  <a:srgbClr val="23323B"/>
                </a:solidFill>
              </a:defRPr>
            </a:pPr>
            <a:r>
              <a:rPr sz="1500" b="0">
                <a:solidFill>
                  <a:srgbClr val="23323B"/>
                </a:solidFill>
              </a:rPr>
              <a:t>Gentile inclusion • Opposition • Perseverance</a:t>
            </a:r>
          </a:p>
        </p:txBody>
      </p:sp>
      <p:sp>
        <p:nvSpPr>
          <p:cNvPr id="18" name="takeaway-band">
            <a:extLst>
              <a:ext uri="{FF2B5EF4-FFF2-40B4-BE49-F238E27FC236}">
                <a16:creationId xmlns:a16="http://schemas.microsoft.com/office/drawing/2014/main" id="{2A6459E5-5BBE-485E-8E35-A29321BE82FE}"/>
              </a:ext>
            </a:extLst>
          </p:cNvPr>
          <p:cNvSpPr>
            <a:spLocks noGrp="1"/>
          </p:cNvSpPr>
          <p:nvPr/>
        </p:nvSpPr>
        <p:spPr>
          <a:xfrm>
            <a:off x="685800" y="5429250"/>
            <a:ext cx="10820400" cy="723900"/>
          </a:xfrm>
          <a:prstGeom prst="roundRect">
            <a:avLst>
              <a:gd name="adj" fmla="val 15789"/>
            </a:avLst>
          </a:prstGeom>
          <a:solidFill>
            <a:srgbClr val="142B3B"/>
          </a:solidFill>
          <a:ln w="9525">
            <a:solidFill>
              <a:srgbClr val="142B3B"/>
            </a:solidFill>
            <a:prstDash val="solid"/>
          </a:ln>
        </p:spPr>
        <p:txBody>
          <a:bodyPr/>
          <a:lstStyle/>
          <a:p>
            <a:endParaRPr lang="en-US"/>
          </a:p>
        </p:txBody>
      </p:sp>
      <p:sp>
        <p:nvSpPr>
          <p:cNvPr id="19" name="takeaway-label">
            <a:extLst>
              <a:ext uri="{FF2B5EF4-FFF2-40B4-BE49-F238E27FC236}">
                <a16:creationId xmlns:a16="http://schemas.microsoft.com/office/drawing/2014/main" id="{B65856B4-8819-4C7E-845B-B761363FAEF2}"/>
              </a:ext>
            </a:extLst>
          </p:cNvPr>
          <p:cNvSpPr>
            <a:spLocks noGrp="1"/>
          </p:cNvSpPr>
          <p:nvPr/>
        </p:nvSpPr>
        <p:spPr>
          <a:xfrm>
            <a:off x="914400" y="5524500"/>
            <a:ext cx="1285875" cy="228600"/>
          </a:xfrm>
          <a:prstGeom prst="rect">
            <a:avLst/>
          </a:prstGeom>
          <a:noFill/>
          <a:ln w="0">
            <a:noFill/>
            <a:prstDash val="solid"/>
          </a:ln>
        </p:spPr>
        <p:txBody>
          <a:bodyPr anchor="ctr"/>
          <a:lstStyle/>
          <a:p>
            <a:pPr algn="l">
              <a:defRPr sz="1050" b="1">
                <a:solidFill>
                  <a:srgbClr val="C59A3D"/>
                </a:solidFill>
              </a:defRPr>
            </a:pPr>
            <a:r>
              <a:rPr sz="1050" b="1">
                <a:solidFill>
                  <a:srgbClr val="C59A3D"/>
                </a:solidFill>
              </a:rPr>
              <a:t>KEY IDEA</a:t>
            </a:r>
          </a:p>
        </p:txBody>
      </p:sp>
      <p:sp>
        <p:nvSpPr>
          <p:cNvPr id="20" name="takeaway">
            <a:extLst>
              <a:ext uri="{FF2B5EF4-FFF2-40B4-BE49-F238E27FC236}">
                <a16:creationId xmlns:a16="http://schemas.microsoft.com/office/drawing/2014/main" id="{2D107E28-D547-4721-9257-5E38E3DF7D8E}"/>
              </a:ext>
            </a:extLst>
          </p:cNvPr>
          <p:cNvSpPr>
            <a:spLocks noGrp="1"/>
          </p:cNvSpPr>
          <p:nvPr/>
        </p:nvSpPr>
        <p:spPr>
          <a:xfrm>
            <a:off x="2143125" y="5476875"/>
            <a:ext cx="8953500" cy="476250"/>
          </a:xfrm>
          <a:prstGeom prst="rect">
            <a:avLst/>
          </a:prstGeom>
          <a:noFill/>
          <a:ln w="0">
            <a:noFill/>
            <a:prstDash val="solid"/>
          </a:ln>
        </p:spPr>
        <p:txBody>
          <a:bodyPr anchor="ctr"/>
          <a:lstStyle/>
          <a:p>
            <a:pPr algn="l">
              <a:defRPr sz="1500" b="1">
                <a:solidFill>
                  <a:srgbClr val="FFFFFF"/>
                </a:solidFill>
              </a:defRPr>
            </a:pPr>
            <a:r>
              <a:rPr sz="1500" b="1">
                <a:solidFill>
                  <a:srgbClr val="FFFFFF"/>
                </a:solidFill>
              </a:rPr>
              <a:t>Acts shows God forming a witnessing people who cross boundaries and endure resistance.</a:t>
            </a:r>
          </a:p>
        </p:txBody>
      </p:sp>
    </p:spTree>
    <p:extLst>
      <p:ext uri="{BB962C8B-B14F-4D97-AF65-F5344CB8AC3E}">
        <p14:creationId xmlns:p14="http://schemas.microsoft.com/office/powerpoint/2010/main" val="1758162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10" name="top-rule">
            <a:extLst>
              <a:ext uri="{FF2B5EF4-FFF2-40B4-BE49-F238E27FC236}">
                <a16:creationId xmlns:a16="http://schemas.microsoft.com/office/drawing/2014/main" id="{AD7F11E4-8382-43B9-9567-92E2EE00962B}"/>
              </a:ext>
            </a:extLst>
          </p:cNvPr>
          <p:cNvSpPr>
            <a:spLocks noGrp="1"/>
          </p:cNvSpPr>
          <p:nvPr/>
        </p:nvSpPr>
        <p:spPr>
          <a:xfrm>
            <a:off x="0" y="0"/>
            <a:ext cx="12192000" cy="114300"/>
          </a:xfrm>
          <a:prstGeom prst="rect">
            <a:avLst/>
          </a:prstGeom>
          <a:solidFill>
            <a:srgbClr val="C59A3D"/>
          </a:solidFill>
          <a:ln w="0">
            <a:noFill/>
            <a:prstDash val="solid"/>
          </a:ln>
        </p:spPr>
        <p:txBody>
          <a:bodyPr/>
          <a:lstStyle/>
          <a:p>
            <a:endParaRPr lang="en-US"/>
          </a:p>
        </p:txBody>
      </p:sp>
      <p:sp>
        <p:nvSpPr>
          <p:cNvPr id="2" name="section">
            <a:extLst>
              <a:ext uri="{FF2B5EF4-FFF2-40B4-BE49-F238E27FC236}">
                <a16:creationId xmlns:a16="http://schemas.microsoft.com/office/drawing/2014/main" id="{24140163-C595-4AFB-AFC4-1129D35DADFA}"/>
              </a:ext>
            </a:extLst>
          </p:cNvPr>
          <p:cNvSpPr>
            <a:spLocks noGrp="1"/>
          </p:cNvSpPr>
          <p:nvPr/>
        </p:nvSpPr>
        <p:spPr>
          <a:xfrm>
            <a:off x="685800" y="266700"/>
            <a:ext cx="5715000" cy="28575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QUESTION 8</a:t>
            </a:r>
          </a:p>
        </p:txBody>
      </p:sp>
      <p:sp>
        <p:nvSpPr>
          <p:cNvPr id="3" name="slide-number">
            <a:extLst>
              <a:ext uri="{FF2B5EF4-FFF2-40B4-BE49-F238E27FC236}">
                <a16:creationId xmlns:a16="http://schemas.microsoft.com/office/drawing/2014/main" id="{5593AA50-3D5A-4932-B4DD-41D5CCF8186E}"/>
              </a:ext>
            </a:extLst>
          </p:cNvPr>
          <p:cNvSpPr>
            <a:spLocks noGrp="1"/>
          </p:cNvSpPr>
          <p:nvPr/>
        </p:nvSpPr>
        <p:spPr>
          <a:xfrm>
            <a:off x="11096625" y="266700"/>
            <a:ext cx="419100" cy="285750"/>
          </a:xfrm>
          <a:prstGeom prst="rect">
            <a:avLst/>
          </a:prstGeom>
          <a:noFill/>
          <a:ln w="0">
            <a:noFill/>
            <a:prstDash val="solid"/>
          </a:ln>
        </p:spPr>
        <p:txBody>
          <a:bodyPr anchor="ctr"/>
          <a:lstStyle/>
          <a:p>
            <a:pPr algn="r">
              <a:defRPr sz="1200" b="1">
                <a:solidFill>
                  <a:srgbClr val="61717A"/>
                </a:solidFill>
              </a:defRPr>
            </a:pPr>
            <a:r>
              <a:rPr sz="1200" b="1">
                <a:solidFill>
                  <a:srgbClr val="61717A"/>
                </a:solidFill>
              </a:rPr>
              <a:t>16</a:t>
            </a:r>
          </a:p>
        </p:txBody>
      </p:sp>
      <p:sp>
        <p:nvSpPr>
          <p:cNvPr id="4" name="question-number">
            <a:extLst>
              <a:ext uri="{FF2B5EF4-FFF2-40B4-BE49-F238E27FC236}">
                <a16:creationId xmlns:a16="http://schemas.microsoft.com/office/drawing/2014/main" id="{D53C7298-4B54-4C82-9EDD-047D032B312F}"/>
              </a:ext>
            </a:extLst>
          </p:cNvPr>
          <p:cNvSpPr>
            <a:spLocks noGrp="1"/>
          </p:cNvSpPr>
          <p:nvPr/>
        </p:nvSpPr>
        <p:spPr>
          <a:xfrm>
            <a:off x="685800" y="876300"/>
            <a:ext cx="1428750" cy="914400"/>
          </a:xfrm>
          <a:prstGeom prst="rect">
            <a:avLst/>
          </a:prstGeom>
          <a:noFill/>
          <a:ln w="0">
            <a:noFill/>
            <a:prstDash val="solid"/>
          </a:ln>
        </p:spPr>
        <p:txBody>
          <a:bodyPr anchor="ctr"/>
          <a:lstStyle/>
          <a:p>
            <a:pPr algn="l">
              <a:defRPr sz="5400" b="1">
                <a:solidFill>
                  <a:srgbClr val="C59A3D"/>
                </a:solidFill>
              </a:defRPr>
            </a:pPr>
            <a:r>
              <a:rPr sz="5400" b="1">
                <a:solidFill>
                  <a:srgbClr val="C59A3D"/>
                </a:solidFill>
              </a:rPr>
              <a:t>Q8</a:t>
            </a:r>
          </a:p>
        </p:txBody>
      </p:sp>
      <p:sp>
        <p:nvSpPr>
          <p:cNvPr id="5" name="question-title">
            <a:extLst>
              <a:ext uri="{FF2B5EF4-FFF2-40B4-BE49-F238E27FC236}">
                <a16:creationId xmlns:a16="http://schemas.microsoft.com/office/drawing/2014/main" id="{95B8B1A9-E3C4-4BA6-A94A-9780040BB766}"/>
              </a:ext>
            </a:extLst>
          </p:cNvPr>
          <p:cNvSpPr>
            <a:spLocks noGrp="1"/>
          </p:cNvSpPr>
          <p:nvPr/>
        </p:nvSpPr>
        <p:spPr>
          <a:xfrm>
            <a:off x="2143125" y="904875"/>
            <a:ext cx="9048750" cy="762000"/>
          </a:xfrm>
          <a:prstGeom prst="rect">
            <a:avLst/>
          </a:prstGeom>
          <a:noFill/>
          <a:ln w="0">
            <a:noFill/>
            <a:prstDash val="solid"/>
          </a:ln>
        </p:spPr>
        <p:txBody>
          <a:bodyPr anchor="ctr"/>
          <a:lstStyle/>
          <a:p>
            <a:pPr algn="l">
              <a:defRPr sz="2850" b="1">
                <a:solidFill>
                  <a:srgbClr val="142B3B"/>
                </a:solidFill>
              </a:defRPr>
            </a:pPr>
            <a:r>
              <a:rPr sz="2850" b="1">
                <a:solidFill>
                  <a:srgbClr val="142B3B"/>
                </a:solidFill>
              </a:rPr>
              <a:t>Why Acts matters to us</a:t>
            </a:r>
          </a:p>
        </p:txBody>
      </p:sp>
      <p:sp>
        <p:nvSpPr>
          <p:cNvPr id="6" name="question-field">
            <a:extLst>
              <a:ext uri="{FF2B5EF4-FFF2-40B4-BE49-F238E27FC236}">
                <a16:creationId xmlns:a16="http://schemas.microsoft.com/office/drawing/2014/main" id="{28693712-BBEF-4E2A-8F35-3856EE9D7CF2}"/>
              </a:ext>
            </a:extLst>
          </p:cNvPr>
          <p:cNvSpPr>
            <a:spLocks noGrp="1"/>
          </p:cNvSpPr>
          <p:nvPr/>
        </p:nvSpPr>
        <p:spPr>
          <a:xfrm>
            <a:off x="685800" y="1952625"/>
            <a:ext cx="10820400" cy="3143250"/>
          </a:xfrm>
          <a:prstGeom prst="roundRect">
            <a:avLst>
              <a:gd name="adj" fmla="val 3636"/>
            </a:avLst>
          </a:prstGeom>
          <a:solidFill>
            <a:srgbClr val="FFFDF8"/>
          </a:solidFill>
          <a:ln w="9525">
            <a:solidFill>
              <a:srgbClr val="E8E3D7"/>
            </a:solidFill>
            <a:prstDash val="solid"/>
          </a:ln>
        </p:spPr>
        <p:txBody>
          <a:bodyPr/>
          <a:lstStyle/>
          <a:p>
            <a:endParaRPr lang="en-US"/>
          </a:p>
        </p:txBody>
      </p:sp>
      <p:sp>
        <p:nvSpPr>
          <p:cNvPr id="7" name="question">
            <a:extLst>
              <a:ext uri="{FF2B5EF4-FFF2-40B4-BE49-F238E27FC236}">
                <a16:creationId xmlns:a16="http://schemas.microsoft.com/office/drawing/2014/main" id="{2DC5AE10-25F5-4756-BDD9-A2AD96D89AC1}"/>
              </a:ext>
            </a:extLst>
          </p:cNvPr>
          <p:cNvSpPr>
            <a:spLocks noGrp="1"/>
          </p:cNvSpPr>
          <p:nvPr/>
        </p:nvSpPr>
        <p:spPr>
          <a:xfrm>
            <a:off x="1162050" y="2238375"/>
            <a:ext cx="9867900" cy="2571750"/>
          </a:xfrm>
          <a:prstGeom prst="rect">
            <a:avLst/>
          </a:prstGeom>
          <a:noFill/>
          <a:ln w="0">
            <a:noFill/>
            <a:prstDash val="solid"/>
          </a:ln>
        </p:spPr>
        <p:txBody>
          <a:bodyPr anchor="ctr"/>
          <a:lstStyle/>
          <a:p>
            <a:pPr algn="l">
              <a:defRPr sz="1950" b="1">
                <a:solidFill>
                  <a:srgbClr val="23323B"/>
                </a:solidFill>
              </a:defRPr>
            </a:pPr>
            <a:r>
              <a:rPr sz="1950" b="1">
                <a:solidFill>
                  <a:srgbClr val="23323B"/>
                </a:solidFill>
              </a:rPr>
              <a:t>Why is it important to study how the church fulfilled its mission during its first thirty years? How is Acts relevant to us?</a:t>
            </a:r>
          </a:p>
        </p:txBody>
      </p:sp>
      <p:sp>
        <p:nvSpPr>
          <p:cNvPr id="8" name="discussion-rule">
            <a:extLst>
              <a:ext uri="{FF2B5EF4-FFF2-40B4-BE49-F238E27FC236}">
                <a16:creationId xmlns:a16="http://schemas.microsoft.com/office/drawing/2014/main" id="{B6E2A932-5F97-47B4-8C7C-B95EF8648845}"/>
              </a:ext>
            </a:extLst>
          </p:cNvPr>
          <p:cNvSpPr>
            <a:spLocks noGrp="1"/>
          </p:cNvSpPr>
          <p:nvPr/>
        </p:nvSpPr>
        <p:spPr>
          <a:xfrm>
            <a:off x="685800" y="5429250"/>
            <a:ext cx="1428750" cy="47625"/>
          </a:xfrm>
          <a:prstGeom prst="rect">
            <a:avLst/>
          </a:prstGeom>
          <a:solidFill>
            <a:srgbClr val="A34D36"/>
          </a:solidFill>
          <a:ln w="0">
            <a:noFill/>
            <a:prstDash val="solid"/>
          </a:ln>
        </p:spPr>
        <p:txBody>
          <a:bodyPr/>
          <a:lstStyle/>
          <a:p>
            <a:endParaRPr lang="en-US"/>
          </a:p>
        </p:txBody>
      </p:sp>
      <p:sp>
        <p:nvSpPr>
          <p:cNvPr id="9" name="discussion-kicker">
            <a:extLst>
              <a:ext uri="{FF2B5EF4-FFF2-40B4-BE49-F238E27FC236}">
                <a16:creationId xmlns:a16="http://schemas.microsoft.com/office/drawing/2014/main" id="{80C17515-D174-41BC-BC2E-46F54D2076D8}"/>
              </a:ext>
            </a:extLst>
          </p:cNvPr>
          <p:cNvSpPr>
            <a:spLocks noGrp="1"/>
          </p:cNvSpPr>
          <p:nvPr/>
        </p:nvSpPr>
        <p:spPr>
          <a:xfrm>
            <a:off x="2286000" y="5219700"/>
            <a:ext cx="8763000" cy="457200"/>
          </a:xfrm>
          <a:prstGeom prst="rect">
            <a:avLst/>
          </a:prstGeom>
          <a:noFill/>
          <a:ln w="0">
            <a:noFill/>
            <a:prstDash val="solid"/>
          </a:ln>
        </p:spPr>
        <p:txBody>
          <a:bodyPr anchor="ctr"/>
          <a:lstStyle/>
          <a:p>
            <a:pPr algn="l">
              <a:defRPr sz="1650" b="0">
                <a:solidFill>
                  <a:srgbClr val="61717A"/>
                </a:solidFill>
              </a:defRPr>
            </a:pPr>
            <a:r>
              <a:rPr sz="1650" b="0">
                <a:solidFill>
                  <a:srgbClr val="61717A"/>
                </a:solidFill>
              </a:rPr>
              <a:t>Connect the early church’s mission with the church today.</a:t>
            </a:r>
          </a:p>
        </p:txBody>
      </p:sp>
    </p:spTree>
    <p:extLst>
      <p:ext uri="{BB962C8B-B14F-4D97-AF65-F5344CB8AC3E}">
        <p14:creationId xmlns:p14="http://schemas.microsoft.com/office/powerpoint/2010/main" val="1470874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1" name="top-rule">
            <a:extLst>
              <a:ext uri="{FF2B5EF4-FFF2-40B4-BE49-F238E27FC236}">
                <a16:creationId xmlns:a16="http://schemas.microsoft.com/office/drawing/2014/main" id="{55EF841B-9AD1-42CA-AB59-5924B5B74C13}"/>
              </a:ext>
            </a:extLst>
          </p:cNvPr>
          <p:cNvSpPr>
            <a:spLocks noGrp="1"/>
          </p:cNvSpPr>
          <p:nvPr/>
        </p:nvSpPr>
        <p:spPr>
          <a:xfrm>
            <a:off x="0" y="0"/>
            <a:ext cx="12192000" cy="114300"/>
          </a:xfrm>
          <a:prstGeom prst="rect">
            <a:avLst/>
          </a:prstGeom>
          <a:solidFill>
            <a:srgbClr val="C59A3D"/>
          </a:solidFill>
          <a:ln w="0">
            <a:noFill/>
            <a:prstDash val="solid"/>
          </a:ln>
        </p:spPr>
        <p:txBody>
          <a:bodyPr/>
          <a:lstStyle/>
          <a:p>
            <a:endParaRPr lang="en-US"/>
          </a:p>
        </p:txBody>
      </p:sp>
      <p:sp>
        <p:nvSpPr>
          <p:cNvPr id="2" name="section">
            <a:extLst>
              <a:ext uri="{FF2B5EF4-FFF2-40B4-BE49-F238E27FC236}">
                <a16:creationId xmlns:a16="http://schemas.microsoft.com/office/drawing/2014/main" id="{9351390C-7F1A-4D10-87C5-CBED01F4CA45}"/>
              </a:ext>
            </a:extLst>
          </p:cNvPr>
          <p:cNvSpPr>
            <a:spLocks noGrp="1"/>
          </p:cNvSpPr>
          <p:nvPr/>
        </p:nvSpPr>
        <p:spPr>
          <a:xfrm>
            <a:off x="685800" y="266700"/>
            <a:ext cx="5715000" cy="28575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QUESTION 8 • ANSWER REVEALED</a:t>
            </a:r>
          </a:p>
        </p:txBody>
      </p:sp>
      <p:sp>
        <p:nvSpPr>
          <p:cNvPr id="3" name="slide-number">
            <a:extLst>
              <a:ext uri="{FF2B5EF4-FFF2-40B4-BE49-F238E27FC236}">
                <a16:creationId xmlns:a16="http://schemas.microsoft.com/office/drawing/2014/main" id="{8E0E9C49-A7B0-4BCD-817A-62D9A89B48DC}"/>
              </a:ext>
            </a:extLst>
          </p:cNvPr>
          <p:cNvSpPr>
            <a:spLocks noGrp="1"/>
          </p:cNvSpPr>
          <p:nvPr/>
        </p:nvSpPr>
        <p:spPr>
          <a:xfrm>
            <a:off x="11096625" y="266700"/>
            <a:ext cx="419100" cy="285750"/>
          </a:xfrm>
          <a:prstGeom prst="rect">
            <a:avLst/>
          </a:prstGeom>
          <a:noFill/>
          <a:ln w="0">
            <a:noFill/>
            <a:prstDash val="solid"/>
          </a:ln>
        </p:spPr>
        <p:txBody>
          <a:bodyPr anchor="ctr"/>
          <a:lstStyle/>
          <a:p>
            <a:pPr algn="r">
              <a:defRPr sz="1200" b="1">
                <a:solidFill>
                  <a:srgbClr val="61717A"/>
                </a:solidFill>
              </a:defRPr>
            </a:pPr>
            <a:r>
              <a:rPr sz="1200" b="1">
                <a:solidFill>
                  <a:srgbClr val="61717A"/>
                </a:solidFill>
              </a:rPr>
              <a:t>17</a:t>
            </a:r>
          </a:p>
        </p:txBody>
      </p:sp>
      <p:sp>
        <p:nvSpPr>
          <p:cNvPr id="4" name="question-number">
            <a:extLst>
              <a:ext uri="{FF2B5EF4-FFF2-40B4-BE49-F238E27FC236}">
                <a16:creationId xmlns:a16="http://schemas.microsoft.com/office/drawing/2014/main" id="{759DB1F9-FA8F-4C14-8B0B-B2FB6677BF07}"/>
              </a:ext>
            </a:extLst>
          </p:cNvPr>
          <p:cNvSpPr>
            <a:spLocks noGrp="1"/>
          </p:cNvSpPr>
          <p:nvPr/>
        </p:nvSpPr>
        <p:spPr>
          <a:xfrm>
            <a:off x="685800" y="685800"/>
            <a:ext cx="1285875" cy="762000"/>
          </a:xfrm>
          <a:prstGeom prst="rect">
            <a:avLst/>
          </a:prstGeom>
          <a:noFill/>
          <a:ln w="0">
            <a:noFill/>
            <a:prstDash val="solid"/>
          </a:ln>
        </p:spPr>
        <p:txBody>
          <a:bodyPr anchor="ctr"/>
          <a:lstStyle/>
          <a:p>
            <a:pPr algn="l">
              <a:defRPr sz="4350" b="1">
                <a:solidFill>
                  <a:srgbClr val="C59A3D"/>
                </a:solidFill>
              </a:defRPr>
            </a:pPr>
            <a:r>
              <a:rPr sz="4350" b="1">
                <a:solidFill>
                  <a:srgbClr val="C59A3D"/>
                </a:solidFill>
              </a:rPr>
              <a:t>Q8</a:t>
            </a:r>
          </a:p>
        </p:txBody>
      </p:sp>
      <p:sp>
        <p:nvSpPr>
          <p:cNvPr id="5" name="question-title">
            <a:extLst>
              <a:ext uri="{FF2B5EF4-FFF2-40B4-BE49-F238E27FC236}">
                <a16:creationId xmlns:a16="http://schemas.microsoft.com/office/drawing/2014/main" id="{AE2ABA48-C779-4465-BDBA-EE1A2FD623FD}"/>
              </a:ext>
            </a:extLst>
          </p:cNvPr>
          <p:cNvSpPr>
            <a:spLocks noGrp="1"/>
          </p:cNvSpPr>
          <p:nvPr/>
        </p:nvSpPr>
        <p:spPr>
          <a:xfrm>
            <a:off x="2047875" y="723900"/>
            <a:ext cx="9144000" cy="609600"/>
          </a:xfrm>
          <a:prstGeom prst="rect">
            <a:avLst/>
          </a:prstGeom>
          <a:noFill/>
          <a:ln w="0">
            <a:noFill/>
            <a:prstDash val="solid"/>
          </a:ln>
        </p:spPr>
        <p:txBody>
          <a:bodyPr anchor="ctr"/>
          <a:lstStyle/>
          <a:p>
            <a:pPr algn="l">
              <a:defRPr sz="2550" b="1">
                <a:solidFill>
                  <a:srgbClr val="142B3B"/>
                </a:solidFill>
              </a:defRPr>
            </a:pPr>
            <a:r>
              <a:rPr sz="2550" b="1">
                <a:solidFill>
                  <a:srgbClr val="142B3B"/>
                </a:solidFill>
              </a:rPr>
              <a:t>Why Acts matters to us</a:t>
            </a:r>
          </a:p>
        </p:txBody>
      </p:sp>
      <p:sp>
        <p:nvSpPr>
          <p:cNvPr id="6" name="question-field">
            <a:extLst>
              <a:ext uri="{FF2B5EF4-FFF2-40B4-BE49-F238E27FC236}">
                <a16:creationId xmlns:a16="http://schemas.microsoft.com/office/drawing/2014/main" id="{4739F9CE-39AF-4694-B5C1-764A5C187472}"/>
              </a:ext>
            </a:extLst>
          </p:cNvPr>
          <p:cNvSpPr>
            <a:spLocks noGrp="1"/>
          </p:cNvSpPr>
          <p:nvPr/>
        </p:nvSpPr>
        <p:spPr>
          <a:xfrm>
            <a:off x="685800" y="1504950"/>
            <a:ext cx="10820400" cy="1428750"/>
          </a:xfrm>
          <a:prstGeom prst="roundRect">
            <a:avLst>
              <a:gd name="adj" fmla="val 8000"/>
            </a:avLst>
          </a:prstGeom>
          <a:solidFill>
            <a:srgbClr val="FFFDF8"/>
          </a:solidFill>
          <a:ln w="9525">
            <a:solidFill>
              <a:srgbClr val="E8E3D7"/>
            </a:solidFill>
            <a:prstDash val="solid"/>
          </a:ln>
        </p:spPr>
        <p:txBody>
          <a:bodyPr/>
          <a:lstStyle/>
          <a:p>
            <a:endParaRPr lang="en-US"/>
          </a:p>
        </p:txBody>
      </p:sp>
      <p:sp>
        <p:nvSpPr>
          <p:cNvPr id="7" name="question">
            <a:extLst>
              <a:ext uri="{FF2B5EF4-FFF2-40B4-BE49-F238E27FC236}">
                <a16:creationId xmlns:a16="http://schemas.microsoft.com/office/drawing/2014/main" id="{881B6B5B-B854-4F9C-B46B-0089AF662E0E}"/>
              </a:ext>
            </a:extLst>
          </p:cNvPr>
          <p:cNvSpPr>
            <a:spLocks noGrp="1"/>
          </p:cNvSpPr>
          <p:nvPr/>
        </p:nvSpPr>
        <p:spPr>
          <a:xfrm>
            <a:off x="990600" y="1638300"/>
            <a:ext cx="10210800" cy="1162050"/>
          </a:xfrm>
          <a:prstGeom prst="rect">
            <a:avLst/>
          </a:prstGeom>
          <a:noFill/>
          <a:ln w="0">
            <a:noFill/>
            <a:prstDash val="solid"/>
          </a:ln>
        </p:spPr>
        <p:txBody>
          <a:bodyPr anchor="ctr"/>
          <a:lstStyle/>
          <a:p>
            <a:pPr algn="l">
              <a:defRPr sz="1575" b="1">
                <a:solidFill>
                  <a:srgbClr val="23323B"/>
                </a:solidFill>
              </a:defRPr>
            </a:pPr>
            <a:r>
              <a:rPr sz="1575" b="1">
                <a:solidFill>
                  <a:srgbClr val="23323B"/>
                </a:solidFill>
              </a:rPr>
              <a:t>Why is it important to study how the church fulfilled its mission during its first thirty years? How is Acts relevant to us?</a:t>
            </a:r>
          </a:p>
        </p:txBody>
      </p:sp>
      <p:sp>
        <p:nvSpPr>
          <p:cNvPr id="8" name="reveal-label">
            <a:extLst>
              <a:ext uri="{FF2B5EF4-FFF2-40B4-BE49-F238E27FC236}">
                <a16:creationId xmlns:a16="http://schemas.microsoft.com/office/drawing/2014/main" id="{5A78319F-8B83-495E-82A4-30D8233FCC39}"/>
              </a:ext>
            </a:extLst>
          </p:cNvPr>
          <p:cNvSpPr>
            <a:spLocks noGrp="1"/>
          </p:cNvSpPr>
          <p:nvPr/>
        </p:nvSpPr>
        <p:spPr>
          <a:xfrm>
            <a:off x="685800" y="3105150"/>
            <a:ext cx="2381250" cy="266700"/>
          </a:xfrm>
          <a:prstGeom prst="rect">
            <a:avLst/>
          </a:prstGeom>
          <a:noFill/>
          <a:ln w="0">
            <a:noFill/>
            <a:prstDash val="solid"/>
          </a:ln>
        </p:spPr>
        <p:txBody>
          <a:bodyPr anchor="ctr"/>
          <a:lstStyle/>
          <a:p>
            <a:pPr algn="l">
              <a:defRPr sz="1200" b="1">
                <a:solidFill>
                  <a:srgbClr val="A34D36"/>
                </a:solidFill>
              </a:defRPr>
            </a:pPr>
            <a:r>
              <a:rPr sz="1200" b="1">
                <a:solidFill>
                  <a:srgbClr val="A34D36"/>
                </a:solidFill>
              </a:rPr>
              <a:t>SUGGESTED ANSWER</a:t>
            </a:r>
          </a:p>
        </p:txBody>
      </p:sp>
      <p:sp>
        <p:nvSpPr>
          <p:cNvPr id="9" name="answer-1">
            <a:extLst>
              <a:ext uri="{FF2B5EF4-FFF2-40B4-BE49-F238E27FC236}">
                <a16:creationId xmlns:a16="http://schemas.microsoft.com/office/drawing/2014/main" id="{78BBE096-3DC8-41BC-955A-A0E78B75EFCB}"/>
              </a:ext>
            </a:extLst>
          </p:cNvPr>
          <p:cNvSpPr>
            <a:spLocks noGrp="1"/>
          </p:cNvSpPr>
          <p:nvPr/>
        </p:nvSpPr>
        <p:spPr>
          <a:xfrm>
            <a:off x="685800" y="3429000"/>
            <a:ext cx="3492500" cy="1809750"/>
          </a:xfrm>
          <a:prstGeom prst="roundRect">
            <a:avLst>
              <a:gd name="adj" fmla="val 6316"/>
            </a:avLst>
          </a:prstGeom>
          <a:solidFill>
            <a:srgbClr val="FFFDF8"/>
          </a:solidFill>
          <a:ln w="9525">
            <a:solidFill>
              <a:srgbClr val="E8E3D7"/>
            </a:solidFill>
            <a:prstDash val="solid"/>
          </a:ln>
        </p:spPr>
        <p:txBody>
          <a:bodyPr/>
          <a:lstStyle/>
          <a:p>
            <a:endParaRPr lang="en-US"/>
          </a:p>
        </p:txBody>
      </p:sp>
      <p:sp>
        <p:nvSpPr>
          <p:cNvPr id="10" name="answer-label-1">
            <a:extLst>
              <a:ext uri="{FF2B5EF4-FFF2-40B4-BE49-F238E27FC236}">
                <a16:creationId xmlns:a16="http://schemas.microsoft.com/office/drawing/2014/main" id="{1606FC92-DADD-4CB0-AC77-E75D84C58BDC}"/>
              </a:ext>
            </a:extLst>
          </p:cNvPr>
          <p:cNvSpPr>
            <a:spLocks noGrp="1"/>
          </p:cNvSpPr>
          <p:nvPr/>
        </p:nvSpPr>
        <p:spPr>
          <a:xfrm>
            <a:off x="914400" y="3543300"/>
            <a:ext cx="3035300" cy="238125"/>
          </a:xfrm>
          <a:prstGeom prst="rect">
            <a:avLst/>
          </a:prstGeom>
          <a:noFill/>
          <a:ln w="0">
            <a:noFill/>
            <a:prstDash val="solid"/>
          </a:ln>
        </p:spPr>
        <p:txBody>
          <a:bodyPr anchor="ctr"/>
          <a:lstStyle/>
          <a:p>
            <a:pPr algn="l">
              <a:defRPr sz="1050" b="1">
                <a:solidFill>
                  <a:srgbClr val="A34D36"/>
                </a:solidFill>
              </a:defRPr>
            </a:pPr>
            <a:r>
              <a:rPr sz="1050" b="1">
                <a:solidFill>
                  <a:srgbClr val="A34D36"/>
                </a:solidFill>
              </a:rPr>
              <a:t>OUR IDENTITY</a:t>
            </a:r>
          </a:p>
        </p:txBody>
      </p:sp>
      <p:sp>
        <p:nvSpPr>
          <p:cNvPr id="11" name="answer-text-1">
            <a:extLst>
              <a:ext uri="{FF2B5EF4-FFF2-40B4-BE49-F238E27FC236}">
                <a16:creationId xmlns:a16="http://schemas.microsoft.com/office/drawing/2014/main" id="{90DBEC9E-5C18-442A-8BB0-828383773D28}"/>
              </a:ext>
            </a:extLst>
          </p:cNvPr>
          <p:cNvSpPr>
            <a:spLocks noGrp="1"/>
          </p:cNvSpPr>
          <p:nvPr/>
        </p:nvSpPr>
        <p:spPr>
          <a:xfrm>
            <a:off x="914400" y="3810000"/>
            <a:ext cx="3035300" cy="1352550"/>
          </a:xfrm>
          <a:prstGeom prst="rect">
            <a:avLst/>
          </a:prstGeom>
          <a:noFill/>
          <a:ln w="0">
            <a:noFill/>
            <a:prstDash val="solid"/>
          </a:ln>
        </p:spPr>
        <p:txBody>
          <a:bodyPr anchor="ctr"/>
          <a:lstStyle/>
          <a:p>
            <a:pPr algn="l">
              <a:defRPr sz="1500" b="0">
                <a:solidFill>
                  <a:srgbClr val="23323B"/>
                </a:solidFill>
              </a:defRPr>
            </a:pPr>
            <a:r>
              <a:rPr sz="1500" b="0">
                <a:solidFill>
                  <a:srgbClr val="23323B"/>
                </a:solidFill>
              </a:rPr>
              <a:t>The church today belongs to the same continuing mission of the risen Jesus.</a:t>
            </a:r>
          </a:p>
        </p:txBody>
      </p:sp>
      <p:sp>
        <p:nvSpPr>
          <p:cNvPr id="12" name="answer-2">
            <a:extLst>
              <a:ext uri="{FF2B5EF4-FFF2-40B4-BE49-F238E27FC236}">
                <a16:creationId xmlns:a16="http://schemas.microsoft.com/office/drawing/2014/main" id="{3772AA98-0A54-4402-AED0-7D6AE7B46926}"/>
              </a:ext>
            </a:extLst>
          </p:cNvPr>
          <p:cNvSpPr>
            <a:spLocks noGrp="1"/>
          </p:cNvSpPr>
          <p:nvPr/>
        </p:nvSpPr>
        <p:spPr>
          <a:xfrm>
            <a:off x="4349750" y="3429000"/>
            <a:ext cx="3492500" cy="1809750"/>
          </a:xfrm>
          <a:prstGeom prst="roundRect">
            <a:avLst>
              <a:gd name="adj" fmla="val 6316"/>
            </a:avLst>
          </a:prstGeom>
          <a:solidFill>
            <a:srgbClr val="F0E9DA"/>
          </a:solidFill>
          <a:ln w="9525">
            <a:solidFill>
              <a:srgbClr val="E8E3D7"/>
            </a:solidFill>
            <a:prstDash val="solid"/>
          </a:ln>
        </p:spPr>
        <p:txBody>
          <a:bodyPr/>
          <a:lstStyle/>
          <a:p>
            <a:endParaRPr lang="en-US"/>
          </a:p>
        </p:txBody>
      </p:sp>
      <p:sp>
        <p:nvSpPr>
          <p:cNvPr id="13" name="answer-label-2">
            <a:extLst>
              <a:ext uri="{FF2B5EF4-FFF2-40B4-BE49-F238E27FC236}">
                <a16:creationId xmlns:a16="http://schemas.microsoft.com/office/drawing/2014/main" id="{6CA1D62C-7C7E-4EA9-959D-5CFAB09DE7E8}"/>
              </a:ext>
            </a:extLst>
          </p:cNvPr>
          <p:cNvSpPr>
            <a:spLocks noGrp="1"/>
          </p:cNvSpPr>
          <p:nvPr/>
        </p:nvSpPr>
        <p:spPr>
          <a:xfrm>
            <a:off x="4578350" y="3543300"/>
            <a:ext cx="3035300" cy="238125"/>
          </a:xfrm>
          <a:prstGeom prst="rect">
            <a:avLst/>
          </a:prstGeom>
          <a:noFill/>
          <a:ln w="0">
            <a:noFill/>
            <a:prstDash val="solid"/>
          </a:ln>
        </p:spPr>
        <p:txBody>
          <a:bodyPr anchor="ctr"/>
          <a:lstStyle/>
          <a:p>
            <a:pPr algn="l">
              <a:defRPr sz="1050" b="1">
                <a:solidFill>
                  <a:srgbClr val="6E8773"/>
                </a:solidFill>
              </a:defRPr>
            </a:pPr>
            <a:r>
              <a:rPr sz="1050" b="1">
                <a:solidFill>
                  <a:srgbClr val="6E8773"/>
                </a:solidFill>
              </a:rPr>
              <a:t>OUR DEPENDENCE</a:t>
            </a:r>
          </a:p>
        </p:txBody>
      </p:sp>
      <p:sp>
        <p:nvSpPr>
          <p:cNvPr id="14" name="answer-text-2">
            <a:extLst>
              <a:ext uri="{FF2B5EF4-FFF2-40B4-BE49-F238E27FC236}">
                <a16:creationId xmlns:a16="http://schemas.microsoft.com/office/drawing/2014/main" id="{329835B0-D85A-4850-8F43-EF6E768A7AE4}"/>
              </a:ext>
            </a:extLst>
          </p:cNvPr>
          <p:cNvSpPr>
            <a:spLocks noGrp="1"/>
          </p:cNvSpPr>
          <p:nvPr/>
        </p:nvSpPr>
        <p:spPr>
          <a:xfrm>
            <a:off x="4578350" y="3810000"/>
            <a:ext cx="3035300" cy="1352550"/>
          </a:xfrm>
          <a:prstGeom prst="rect">
            <a:avLst/>
          </a:prstGeom>
          <a:noFill/>
          <a:ln w="0">
            <a:noFill/>
            <a:prstDash val="solid"/>
          </a:ln>
        </p:spPr>
        <p:txBody>
          <a:bodyPr anchor="ctr"/>
          <a:lstStyle/>
          <a:p>
            <a:pPr algn="l">
              <a:defRPr sz="1500" b="0">
                <a:solidFill>
                  <a:srgbClr val="23323B"/>
                </a:solidFill>
              </a:defRPr>
            </a:pPr>
            <a:r>
              <a:rPr sz="1500" b="0">
                <a:solidFill>
                  <a:srgbClr val="23323B"/>
                </a:solidFill>
              </a:rPr>
              <a:t>Acts teaches us to rely on the Holy Spirit for courage, direction, and endurance.</a:t>
            </a:r>
          </a:p>
        </p:txBody>
      </p:sp>
      <p:sp>
        <p:nvSpPr>
          <p:cNvPr id="15" name="answer-3">
            <a:extLst>
              <a:ext uri="{FF2B5EF4-FFF2-40B4-BE49-F238E27FC236}">
                <a16:creationId xmlns:a16="http://schemas.microsoft.com/office/drawing/2014/main" id="{DC62871F-0F06-40BD-95B9-D5BCFE87763B}"/>
              </a:ext>
            </a:extLst>
          </p:cNvPr>
          <p:cNvSpPr>
            <a:spLocks noGrp="1"/>
          </p:cNvSpPr>
          <p:nvPr/>
        </p:nvSpPr>
        <p:spPr>
          <a:xfrm>
            <a:off x="8013700" y="3429000"/>
            <a:ext cx="3492500" cy="1809750"/>
          </a:xfrm>
          <a:prstGeom prst="roundRect">
            <a:avLst>
              <a:gd name="adj" fmla="val 6316"/>
            </a:avLst>
          </a:prstGeom>
          <a:solidFill>
            <a:srgbClr val="FFFDF8"/>
          </a:solidFill>
          <a:ln w="9525">
            <a:solidFill>
              <a:srgbClr val="E8E3D7"/>
            </a:solidFill>
            <a:prstDash val="solid"/>
          </a:ln>
        </p:spPr>
        <p:txBody>
          <a:bodyPr/>
          <a:lstStyle/>
          <a:p>
            <a:endParaRPr lang="en-US"/>
          </a:p>
        </p:txBody>
      </p:sp>
      <p:sp>
        <p:nvSpPr>
          <p:cNvPr id="16" name="answer-label-3">
            <a:extLst>
              <a:ext uri="{FF2B5EF4-FFF2-40B4-BE49-F238E27FC236}">
                <a16:creationId xmlns:a16="http://schemas.microsoft.com/office/drawing/2014/main" id="{E0BA7C99-AFAD-4B65-BFDC-C7318F943C46}"/>
              </a:ext>
            </a:extLst>
          </p:cNvPr>
          <p:cNvSpPr>
            <a:spLocks noGrp="1"/>
          </p:cNvSpPr>
          <p:nvPr/>
        </p:nvSpPr>
        <p:spPr>
          <a:xfrm>
            <a:off x="8242300" y="3543300"/>
            <a:ext cx="3035300" cy="238125"/>
          </a:xfrm>
          <a:prstGeom prst="rect">
            <a:avLst/>
          </a:prstGeom>
          <a:noFill/>
          <a:ln w="0">
            <a:noFill/>
            <a:prstDash val="solid"/>
          </a:ln>
        </p:spPr>
        <p:txBody>
          <a:bodyPr anchor="ctr"/>
          <a:lstStyle/>
          <a:p>
            <a:pPr algn="l">
              <a:defRPr sz="1050" b="1">
                <a:solidFill>
                  <a:srgbClr val="A34D36"/>
                </a:solidFill>
              </a:defRPr>
            </a:pPr>
            <a:r>
              <a:rPr sz="1050" b="1">
                <a:solidFill>
                  <a:srgbClr val="A34D36"/>
                </a:solidFill>
              </a:rPr>
              <a:t>OUR HORIZON</a:t>
            </a:r>
          </a:p>
        </p:txBody>
      </p:sp>
      <p:sp>
        <p:nvSpPr>
          <p:cNvPr id="17" name="answer-text-3">
            <a:extLst>
              <a:ext uri="{FF2B5EF4-FFF2-40B4-BE49-F238E27FC236}">
                <a16:creationId xmlns:a16="http://schemas.microsoft.com/office/drawing/2014/main" id="{5031C9EC-E922-4F3B-B904-D20C51DA221C}"/>
              </a:ext>
            </a:extLst>
          </p:cNvPr>
          <p:cNvSpPr>
            <a:spLocks noGrp="1"/>
          </p:cNvSpPr>
          <p:nvPr/>
        </p:nvSpPr>
        <p:spPr>
          <a:xfrm>
            <a:off x="8242300" y="3810000"/>
            <a:ext cx="3035300" cy="1352550"/>
          </a:xfrm>
          <a:prstGeom prst="rect">
            <a:avLst/>
          </a:prstGeom>
          <a:noFill/>
          <a:ln w="0">
            <a:noFill/>
            <a:prstDash val="solid"/>
          </a:ln>
        </p:spPr>
        <p:txBody>
          <a:bodyPr anchor="ctr"/>
          <a:lstStyle/>
          <a:p>
            <a:pPr algn="l">
              <a:defRPr sz="1500" b="0">
                <a:solidFill>
                  <a:srgbClr val="23323B"/>
                </a:solidFill>
              </a:defRPr>
            </a:pPr>
            <a:r>
              <a:rPr sz="1500" b="0">
                <a:solidFill>
                  <a:srgbClr val="23323B"/>
                </a:solidFill>
              </a:rPr>
              <a:t>The gospel still calls us to cross boundaries and welcome people from every nation.</a:t>
            </a:r>
          </a:p>
        </p:txBody>
      </p:sp>
      <p:sp>
        <p:nvSpPr>
          <p:cNvPr id="18" name="takeaway-band">
            <a:extLst>
              <a:ext uri="{FF2B5EF4-FFF2-40B4-BE49-F238E27FC236}">
                <a16:creationId xmlns:a16="http://schemas.microsoft.com/office/drawing/2014/main" id="{793AD748-6686-4F2C-8469-1E2C4641F309}"/>
              </a:ext>
            </a:extLst>
          </p:cNvPr>
          <p:cNvSpPr>
            <a:spLocks noGrp="1"/>
          </p:cNvSpPr>
          <p:nvPr/>
        </p:nvSpPr>
        <p:spPr>
          <a:xfrm>
            <a:off x="685800" y="5429250"/>
            <a:ext cx="10820400" cy="723900"/>
          </a:xfrm>
          <a:prstGeom prst="roundRect">
            <a:avLst>
              <a:gd name="adj" fmla="val 15789"/>
            </a:avLst>
          </a:prstGeom>
          <a:solidFill>
            <a:srgbClr val="142B3B"/>
          </a:solidFill>
          <a:ln w="9525">
            <a:solidFill>
              <a:srgbClr val="142B3B"/>
            </a:solidFill>
            <a:prstDash val="solid"/>
          </a:ln>
        </p:spPr>
        <p:txBody>
          <a:bodyPr/>
          <a:lstStyle/>
          <a:p>
            <a:endParaRPr lang="en-US"/>
          </a:p>
        </p:txBody>
      </p:sp>
      <p:sp>
        <p:nvSpPr>
          <p:cNvPr id="19" name="takeaway-label">
            <a:extLst>
              <a:ext uri="{FF2B5EF4-FFF2-40B4-BE49-F238E27FC236}">
                <a16:creationId xmlns:a16="http://schemas.microsoft.com/office/drawing/2014/main" id="{4CE8E615-634F-4812-A049-09FC0F4D657E}"/>
              </a:ext>
            </a:extLst>
          </p:cNvPr>
          <p:cNvSpPr>
            <a:spLocks noGrp="1"/>
          </p:cNvSpPr>
          <p:nvPr/>
        </p:nvSpPr>
        <p:spPr>
          <a:xfrm>
            <a:off x="914400" y="5524500"/>
            <a:ext cx="1285875" cy="228600"/>
          </a:xfrm>
          <a:prstGeom prst="rect">
            <a:avLst/>
          </a:prstGeom>
          <a:noFill/>
          <a:ln w="0">
            <a:noFill/>
            <a:prstDash val="solid"/>
          </a:ln>
        </p:spPr>
        <p:txBody>
          <a:bodyPr anchor="ctr"/>
          <a:lstStyle/>
          <a:p>
            <a:pPr algn="l">
              <a:defRPr sz="1050" b="1">
                <a:solidFill>
                  <a:srgbClr val="C59A3D"/>
                </a:solidFill>
              </a:defRPr>
            </a:pPr>
            <a:r>
              <a:rPr sz="1050" b="1">
                <a:solidFill>
                  <a:srgbClr val="C59A3D"/>
                </a:solidFill>
              </a:rPr>
              <a:t>KEY IDEA</a:t>
            </a:r>
          </a:p>
        </p:txBody>
      </p:sp>
      <p:sp>
        <p:nvSpPr>
          <p:cNvPr id="20" name="takeaway">
            <a:extLst>
              <a:ext uri="{FF2B5EF4-FFF2-40B4-BE49-F238E27FC236}">
                <a16:creationId xmlns:a16="http://schemas.microsoft.com/office/drawing/2014/main" id="{38D2FB25-26A2-4367-B3B7-F8D93EE63FD5}"/>
              </a:ext>
            </a:extLst>
          </p:cNvPr>
          <p:cNvSpPr>
            <a:spLocks noGrp="1"/>
          </p:cNvSpPr>
          <p:nvPr/>
        </p:nvSpPr>
        <p:spPr>
          <a:xfrm>
            <a:off x="2143125" y="5476875"/>
            <a:ext cx="8953500" cy="476250"/>
          </a:xfrm>
          <a:prstGeom prst="rect">
            <a:avLst/>
          </a:prstGeom>
          <a:noFill/>
          <a:ln w="0">
            <a:noFill/>
            <a:prstDash val="solid"/>
          </a:ln>
        </p:spPr>
        <p:txBody>
          <a:bodyPr anchor="ctr"/>
          <a:lstStyle/>
          <a:p>
            <a:pPr algn="l">
              <a:defRPr sz="1500" b="1">
                <a:solidFill>
                  <a:srgbClr val="FFFFFF"/>
                </a:solidFill>
              </a:defRPr>
            </a:pPr>
            <a:r>
              <a:rPr sz="1500" b="1">
                <a:solidFill>
                  <a:srgbClr val="FFFFFF"/>
                </a:solidFill>
              </a:rPr>
              <a:t>Acts helps us understand who the church is, why we witness, and whose power sustains the mission.</a:t>
            </a:r>
          </a:p>
        </p:txBody>
      </p:sp>
    </p:spTree>
    <p:extLst>
      <p:ext uri="{BB962C8B-B14F-4D97-AF65-F5344CB8AC3E}">
        <p14:creationId xmlns:p14="http://schemas.microsoft.com/office/powerpoint/2010/main" val="135406334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216</TotalTime>
  <Words>2849</Words>
  <Application>Microsoft Macintosh PowerPoint</Application>
  <DocSecurity>0</DocSecurity>
  <PresentationFormat>Widescreen</PresentationFormat>
  <Paragraphs>276</Paragraphs>
  <Slides>17</Slides>
  <Notes>17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17</vt:i4>
      </vt:variant>
    </vt:vector>
  </HeadingPairs>
  <TitlesOfParts>
    <vt:vector size="19"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Flynt Moreland</cp:lastModifiedBy>
  <cp:revision>4</cp:revision>
  <dcterms:created xsi:type="dcterms:W3CDTF">2026-08-14T17:16:27Z</dcterms:created>
  <dcterms:modified xsi:type="dcterms:W3CDTF">2026-08-14T21:12:48Z</dcterms:modified>
</cp:coreProperties>
</file>