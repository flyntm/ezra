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dcd39768994ee7" /><Relationship Type="http://schemas.openxmlformats.org/officeDocument/2006/relationships/extended-properties" Target="/docProps/app.xml" Id="R3f16fd0e70d74111" /><Relationship Type="http://schemas.openxmlformats.org/officeDocument/2006/relationships/officeDocument" Target="/ppt/presentation.xml" Id="R7315b040e8e341eb" /></Relationships>
</file>

<file path=ppt/presentation.xml><?xml version="1.0" encoding="utf-8"?>
<p:presentation xmlns:p="http://schemas.openxmlformats.org/presentationml/2006/main">
  <p:sldMasterIdLst>
    <p:sldMasterId xmlns:r="http://schemas.openxmlformats.org/officeDocument/2006/relationships" id="2147483648" r:id="R91b2379bddd64a91"/>
  </p:sldMasterIdLst>
  <p:notesMasterIdLst>
    <p:notesMasterId xmlns:r="http://schemas.openxmlformats.org/officeDocument/2006/relationships" r:id="R29901db5bd954918"/>
  </p:notesMasterIdLst>
  <p:sldIdLst>
    <p:sldId xmlns:r="http://schemas.openxmlformats.org/officeDocument/2006/relationships" id="256" r:id="Rd40596dab9724b71"/>
    <p:sldId xmlns:r="http://schemas.openxmlformats.org/officeDocument/2006/relationships" id="257" r:id="R340beb491ae34e9d"/>
    <p:sldId xmlns:r="http://schemas.openxmlformats.org/officeDocument/2006/relationships" id="258" r:id="R287ef96d40ed4324"/>
    <p:sldId xmlns:r="http://schemas.openxmlformats.org/officeDocument/2006/relationships" id="259" r:id="R51b3e2bf72404556"/>
    <p:sldId xmlns:r="http://schemas.openxmlformats.org/officeDocument/2006/relationships" id="260" r:id="Rdfb1e7b68b7c406a"/>
    <p:sldId xmlns:r="http://schemas.openxmlformats.org/officeDocument/2006/relationships" id="261" r:id="R21024a98362a477e"/>
    <p:sldId xmlns:r="http://schemas.openxmlformats.org/officeDocument/2006/relationships" id="262" r:id="R15aab8f66f314410"/>
    <p:sldId xmlns:r="http://schemas.openxmlformats.org/officeDocument/2006/relationships" id="263" r:id="R0f98ad67e7774e4b"/>
    <p:sldId xmlns:r="http://schemas.openxmlformats.org/officeDocument/2006/relationships" id="264" r:id="R333bb50eb0274fb3"/>
    <p:sldId xmlns:r="http://schemas.openxmlformats.org/officeDocument/2006/relationships" id="265" r:id="Rfa9f589fe7d446da"/>
    <p:sldId xmlns:r="http://schemas.openxmlformats.org/officeDocument/2006/relationships" id="266" r:id="Ra3f9e713f4814ca0"/>
    <p:sldId xmlns:r="http://schemas.openxmlformats.org/officeDocument/2006/relationships" id="267" r:id="Reab957e033274539"/>
    <p:sldId xmlns:r="http://schemas.openxmlformats.org/officeDocument/2006/relationships" id="268" r:id="R79a28302f9d74684"/>
    <p:sldId xmlns:r="http://schemas.openxmlformats.org/officeDocument/2006/relationships" id="269" r:id="R4027a42025054eec"/>
    <p:sldId xmlns:r="http://schemas.openxmlformats.org/officeDocument/2006/relationships" id="270" r:id="R0915700e85984ea0"/>
    <p:sldId xmlns:r="http://schemas.openxmlformats.org/officeDocument/2006/relationships" id="271" r:id="Rda76a950016b4e24"/>
    <p:sldId xmlns:r="http://schemas.openxmlformats.org/officeDocument/2006/relationships" id="272" r:id="Rf75030b10b614b50"/>
    <p:sldId xmlns:r="http://schemas.openxmlformats.org/officeDocument/2006/relationships" id="273" r:id="R2d07e0a0c6b44347"/>
    <p:sldId xmlns:r="http://schemas.openxmlformats.org/officeDocument/2006/relationships" id="274" r:id="Rbe69f61dad604fe5"/>
    <p:sldId xmlns:r="http://schemas.openxmlformats.org/officeDocument/2006/relationships" id="275" r:id="R739f2945c16c44ca"/>
    <p:sldId xmlns:r="http://schemas.openxmlformats.org/officeDocument/2006/relationships" id="276" r:id="R95c5b219899e491d"/>
    <p:sldId xmlns:r="http://schemas.openxmlformats.org/officeDocument/2006/relationships" id="277" r:id="Ra5649b59fd5d465c"/>
    <p:sldId xmlns:r="http://schemas.openxmlformats.org/officeDocument/2006/relationships" id="278" r:id="Rbd3134ac1c654a19"/>
    <p:sldId xmlns:r="http://schemas.openxmlformats.org/officeDocument/2006/relationships" id="279" r:id="R902d62613d394a23"/>
    <p:sldId xmlns:r="http://schemas.openxmlformats.org/officeDocument/2006/relationships" id="280" r:id="Rdc3eb65ba07d4f1b"/>
    <p:sldId xmlns:r="http://schemas.openxmlformats.org/officeDocument/2006/relationships" id="281" r:id="Rc39285b768204aa9"/>
    <p:sldId xmlns:r="http://schemas.openxmlformats.org/officeDocument/2006/relationships" id="282" r:id="R4b3befc8621141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cbe85c25f641aa" /><Relationship Type="http://schemas.openxmlformats.org/officeDocument/2006/relationships/slideMaster" Target="/ppt/slideMasters/slideMaster1.xml" Id="R91b2379bddd64a91" /><Relationship Type="http://schemas.openxmlformats.org/officeDocument/2006/relationships/notesMaster" Target="/ppt/notesMasters/notesMaster1.xml" Id="R29901db5bd954918" /><Relationship Type="http://schemas.openxmlformats.org/officeDocument/2006/relationships/presProps" Target="/ppt/presProps.xml" Id="Rbc38d18ca0bd4f66" /><Relationship Type="http://schemas.openxmlformats.org/officeDocument/2006/relationships/tableStyles" Target="/ppt/tableStyles.xml" Id="R529655710a5e40c8" /><Relationship Type="http://schemas.openxmlformats.org/officeDocument/2006/relationships/slide" Target="/ppt/slides/slide1.xml" Id="Rd40596dab9724b71" /><Relationship Type="http://schemas.openxmlformats.org/officeDocument/2006/relationships/slide" Target="/ppt/slides/slide2.xml" Id="R340beb491ae34e9d" /><Relationship Type="http://schemas.openxmlformats.org/officeDocument/2006/relationships/slide" Target="/ppt/slides/slide3.xml" Id="R287ef96d40ed4324" /><Relationship Type="http://schemas.openxmlformats.org/officeDocument/2006/relationships/slide" Target="/ppt/slides/slide4.xml" Id="R51b3e2bf72404556" /><Relationship Type="http://schemas.openxmlformats.org/officeDocument/2006/relationships/slide" Target="/ppt/slides/slide5.xml" Id="Rdfb1e7b68b7c406a" /><Relationship Type="http://schemas.openxmlformats.org/officeDocument/2006/relationships/slide" Target="/ppt/slides/slide6.xml" Id="R21024a98362a477e" /><Relationship Type="http://schemas.openxmlformats.org/officeDocument/2006/relationships/slide" Target="/ppt/slides/slide7.xml" Id="R15aab8f66f314410" /><Relationship Type="http://schemas.openxmlformats.org/officeDocument/2006/relationships/slide" Target="/ppt/slides/slide8.xml" Id="R0f98ad67e7774e4b" /><Relationship Type="http://schemas.openxmlformats.org/officeDocument/2006/relationships/slide" Target="/ppt/slides/slide9.xml" Id="R333bb50eb0274fb3" /><Relationship Type="http://schemas.openxmlformats.org/officeDocument/2006/relationships/slide" Target="/ppt/slides/slide10.xml" Id="Rfa9f589fe7d446da" /><Relationship Type="http://schemas.openxmlformats.org/officeDocument/2006/relationships/slide" Target="/ppt/slides/slide11.xml" Id="Ra3f9e713f4814ca0" /><Relationship Type="http://schemas.openxmlformats.org/officeDocument/2006/relationships/slide" Target="/ppt/slides/slide12.xml" Id="Reab957e033274539" /><Relationship Type="http://schemas.openxmlformats.org/officeDocument/2006/relationships/slide" Target="/ppt/slides/slide13.xml" Id="R79a28302f9d74684" /><Relationship Type="http://schemas.openxmlformats.org/officeDocument/2006/relationships/slide" Target="/ppt/slides/slide14.xml" Id="R4027a42025054eec" /><Relationship Type="http://schemas.openxmlformats.org/officeDocument/2006/relationships/slide" Target="/ppt/slides/slide15.xml" Id="R0915700e85984ea0" /><Relationship Type="http://schemas.openxmlformats.org/officeDocument/2006/relationships/slide" Target="/ppt/slides/slide16.xml" Id="Rda76a950016b4e24" /><Relationship Type="http://schemas.openxmlformats.org/officeDocument/2006/relationships/slide" Target="/ppt/slides/slide17.xml" Id="Rf75030b10b614b50" /><Relationship Type="http://schemas.openxmlformats.org/officeDocument/2006/relationships/slide" Target="/ppt/slides/slide18.xml" Id="R2d07e0a0c6b44347" /><Relationship Type="http://schemas.openxmlformats.org/officeDocument/2006/relationships/slide" Target="/ppt/slides/slide19.xml" Id="Rbe69f61dad604fe5" /><Relationship Type="http://schemas.openxmlformats.org/officeDocument/2006/relationships/slide" Target="/ppt/slides/slide20.xml" Id="R739f2945c16c44ca" /><Relationship Type="http://schemas.openxmlformats.org/officeDocument/2006/relationships/slide" Target="/ppt/slides/slide21.xml" Id="R95c5b219899e491d" /><Relationship Type="http://schemas.openxmlformats.org/officeDocument/2006/relationships/slide" Target="/ppt/slides/slide22.xml" Id="Ra5649b59fd5d465c" /><Relationship Type="http://schemas.openxmlformats.org/officeDocument/2006/relationships/slide" Target="/ppt/slides/slide23.xml" Id="Rbd3134ac1c654a19" /><Relationship Type="http://schemas.openxmlformats.org/officeDocument/2006/relationships/slide" Target="/ppt/slides/slide24.xml" Id="R902d62613d394a23" /><Relationship Type="http://schemas.openxmlformats.org/officeDocument/2006/relationships/slide" Target="/ppt/slides/slide25.xml" Id="Rdc3eb65ba07d4f1b" /><Relationship Type="http://schemas.openxmlformats.org/officeDocument/2006/relationships/slide" Target="/ppt/slides/slide26.xml" Id="Rc39285b768204aa9" /><Relationship Type="http://schemas.openxmlformats.org/officeDocument/2006/relationships/slide" Target="/ppt/slides/slide27.xml" Id="R4b3befc8621141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3540f731fe44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cd38a5afb14de0" /><Relationship Type="http://schemas.openxmlformats.org/officeDocument/2006/relationships/notesMaster" Target="/ppt/notesMasters/notesMaster1.xml" Id="R2fa8adf6d0494f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96761db9fa428e" /><Relationship Type="http://schemas.openxmlformats.org/officeDocument/2006/relationships/notesMaster" Target="/ppt/notesMasters/notesMaster1.xml" Id="R627b54cad9694e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c87da98aa4afb" /><Relationship Type="http://schemas.openxmlformats.org/officeDocument/2006/relationships/notesMaster" Target="/ppt/notesMasters/notesMaster1.xml" Id="R851edd9767cb47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7037f92f2a4452" /><Relationship Type="http://schemas.openxmlformats.org/officeDocument/2006/relationships/notesMaster" Target="/ppt/notesMasters/notesMaster1.xml" Id="R8ed70030de7e43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6dad081bb04e10" /><Relationship Type="http://schemas.openxmlformats.org/officeDocument/2006/relationships/notesMaster" Target="/ppt/notesMasters/notesMaster1.xml" Id="Rd042c2df331b43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854132111a4fd2" /><Relationship Type="http://schemas.openxmlformats.org/officeDocument/2006/relationships/notesMaster" Target="/ppt/notesMasters/notesMaster1.xml" Id="R15e45b5d8a2947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cc188f40714ac7" /><Relationship Type="http://schemas.openxmlformats.org/officeDocument/2006/relationships/notesMaster" Target="/ppt/notesMasters/notesMaster1.xml" Id="R7e32c9a307b143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ba0fc9dece4338" /><Relationship Type="http://schemas.openxmlformats.org/officeDocument/2006/relationships/notesMaster" Target="/ppt/notesMasters/notesMaster1.xml" Id="R20308798cb614b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186f854b984260" /><Relationship Type="http://schemas.openxmlformats.org/officeDocument/2006/relationships/notesMaster" Target="/ppt/notesMasters/notesMaster1.xml" Id="R960638faf1e54f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3b5f3ac989430c" /><Relationship Type="http://schemas.openxmlformats.org/officeDocument/2006/relationships/notesMaster" Target="/ppt/notesMasters/notesMaster1.xml" Id="Rc53499fdb97249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d8fefa3e8c4751" /><Relationship Type="http://schemas.openxmlformats.org/officeDocument/2006/relationships/notesMaster" Target="/ppt/notesMasters/notesMaster1.xml" Id="R4d355103cc0b41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e687760e3b4b52" /><Relationship Type="http://schemas.openxmlformats.org/officeDocument/2006/relationships/notesMaster" Target="/ppt/notesMasters/notesMaster1.xml" Id="R7214b91eb8154c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789e165e2549d5" /><Relationship Type="http://schemas.openxmlformats.org/officeDocument/2006/relationships/notesMaster" Target="/ppt/notesMasters/notesMaster1.xml" Id="R39234b28333b46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56e81c53bf49aa" /><Relationship Type="http://schemas.openxmlformats.org/officeDocument/2006/relationships/notesMaster" Target="/ppt/notesMasters/notesMaster1.xml" Id="R6891ef8d23074e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b276dfd1db40bf" /><Relationship Type="http://schemas.openxmlformats.org/officeDocument/2006/relationships/notesMaster" Target="/ppt/notesMasters/notesMaster1.xml" Id="R82fc1bf12a4a43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d79f0299684f2c" /><Relationship Type="http://schemas.openxmlformats.org/officeDocument/2006/relationships/notesMaster" Target="/ppt/notesMasters/notesMaster1.xml" Id="R08b1b15290cb47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26505e92ae4229" /><Relationship Type="http://schemas.openxmlformats.org/officeDocument/2006/relationships/notesMaster" Target="/ppt/notesMasters/notesMaster1.xml" Id="Re62f473f15b94a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58c245a3b64096" /><Relationship Type="http://schemas.openxmlformats.org/officeDocument/2006/relationships/notesMaster" Target="/ppt/notesMasters/notesMaster1.xml" Id="R08a42db4fc7246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f4e71e09664671" /><Relationship Type="http://schemas.openxmlformats.org/officeDocument/2006/relationships/notesMaster" Target="/ppt/notesMasters/notesMaster1.xml" Id="R031a9cd5e2ff44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dc939a857d4188" /><Relationship Type="http://schemas.openxmlformats.org/officeDocument/2006/relationships/notesMaster" Target="/ppt/notesMasters/notesMaster1.xml" Id="R4ad32cc49041440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88b4d19a024469" /><Relationship Type="http://schemas.openxmlformats.org/officeDocument/2006/relationships/notesMaster" Target="/ppt/notesMasters/notesMaster1.xml" Id="R028452dda9eb45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2c0f1a76974ff0" /><Relationship Type="http://schemas.openxmlformats.org/officeDocument/2006/relationships/notesMaster" Target="/ppt/notesMasters/notesMaster1.xml" Id="Rf4c6ff2e79d5483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c92d95f4a84111" /><Relationship Type="http://schemas.openxmlformats.org/officeDocument/2006/relationships/notesMaster" Target="/ppt/notesMasters/notesMaster1.xml" Id="R6fb40b4f77fc48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465dc3580848b2" /><Relationship Type="http://schemas.openxmlformats.org/officeDocument/2006/relationships/notesMaster" Target="/ppt/notesMasters/notesMaster1.xml" Id="R518fa17fda394b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6a4b0670da456d" /><Relationship Type="http://schemas.openxmlformats.org/officeDocument/2006/relationships/notesMaster" Target="/ppt/notesMasters/notesMaster1.xml" Id="Rfa21efa39f7c436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523f541e5434f9b" /><Relationship Type="http://schemas.openxmlformats.org/officeDocument/2006/relationships/notesMaster" Target="/ppt/notesMasters/notesMaster1.xml" Id="Rfc48d5c16ded40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583d5a278341e7" /><Relationship Type="http://schemas.openxmlformats.org/officeDocument/2006/relationships/notesMaster" Target="/ppt/notesMasters/notesMaster1.xml" Id="R5f06f2f8509844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Spirit empowers the apostles to witness, as the introduction to the lesson reminds us. In the healing, the man is restored and praises God. Peter then points the crowd to the risen Jesus and calls them to repent and turn to God. These are the two movements of this lesson.</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John 14:26; Acts 1:8; Acts 3:1-26.</a:t>
            </a:r>
          </a:p>
          <a:p xmlns:a="http://schemas.openxmlformats.org/drawingml/2006/main">
            <a:r>
              <a:t>Scripture verification: https://www.biblegateway.com/passage/?search=John%2014%3A26%3BActs%201%3A8%3BActs%203%3A1-26&amp;version=WEB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Jesus spoke of His followers doing His works in John 14. Here, consider how Acts 3:1–10 reflects those words. Also consider the healed man’s response and the comparison with Luke 17. What connections do you see?</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3:1-10; John 14:12-14.</a:t>
            </a:r>
          </a:p>
          <a:p xmlns:a="http://schemas.openxmlformats.org/drawingml/2006/main">
            <a:r>
              <a:t>Scripture verification: https://www.biblegateway.com/passage/?search=Acts%203%3A1-10%3BJohn%2014%3A12-14&amp;version=WEB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Jesus continued His work through the apostles, as His words in John 14 lead us to expect. Peter acted in Jesus’ name, and the healed man responded by praising God. That response is the focus of the supporting question as well: what example does it offer us? His praise was hardly low-key. [Smile]</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3:1-10; John 14:12-14.</a:t>
            </a:r>
          </a:p>
          <a:p xmlns:a="http://schemas.openxmlformats.org/drawingml/2006/main">
            <a:r>
              <a:t>Scripture verification: https://www.biblegateway.com/passage/?search=Acts%203%3A1-10%3BJohn%2014%3A12-14&amp;version=WEB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beggar asked for money, but Peter and John met a different need. Consider all three parts: the relationship between physical healing and spiritual salvation in Jesus’ ministry; what the healing accomplished in Acts 3; and why Peter and John healed him instead of only giving money or offering spiritual salvation. The optional passages for part a are Luke 4:18–19, 5:17–26, 7:20–23, and 9:1–2. What do these questions help us notice?</a:t>
            </a:r>
          </a:p>
          <a:p xmlns:a="http://schemas.openxmlformats.org/drawingml/2006/main">
            <a:r>
              <a:t/>
            </a:r>
          </a:p>
          <a:p xmlns:a="http://schemas.openxmlformats.org/drawingml/2006/main">
            <a:r>
              <a:t>[NEXT SLIDE]</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3:3.</a:t>
            </a:r>
          </a:p>
          <a:p xmlns:a="http://schemas.openxmlformats.org/drawingml/2006/main">
            <a:r>
              <a:t>Scripture verification: https://www.biblegateway.com/passage/?search=Acts%203%3A3&amp;version=WEB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 asked for money, and Peter offered healing in Jesus’ name. His request and what he received were different. What did he ask for, and what did he receive? What did the healing make possible beyond receiving money? How can this account shape the way we respond to someone’s need?</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3:3-8.</a:t>
            </a:r>
          </a:p>
          <a:p xmlns:a="http://schemas.openxmlformats.org/drawingml/2006/main">
            <a:r>
              <a:t>Scripture verification: https://www.biblegateway.com/passage/?search=Acts%203%3A3-8&amp;version=WEB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Healing and salvation belonged together in Jesus’ ministry. Physical restoration pointed to His saving authority. The next part asks what purposes this healing served in Acts 3.</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Luke 4:18-19; Luke 5:17-26; Luke 7:20-23; Luke 9:1-2; Acts 3:1-16.</a:t>
            </a:r>
          </a:p>
          <a:p xmlns:a="http://schemas.openxmlformats.org/drawingml/2006/main">
            <a:r>
              <a:t>Scripture verification: https://www.biblegateway.com/passage/?search=Luke%204%3A18-19%3BLuke%205%3A17-26%3BLuke%207%3A20-23%3BLuke%209%3A1-2%3BActs%203%3A1-16&amp;version=WEB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healed man praised God, and the crowd gathered in wonder. That opened the way for Peter to speak about Jesus. The next part asks why Peter and John healed the man rather than only giving money or offering spiritual salvation.</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3:8-13; Acts 3:16; Acts 4:4-14; Acts 3:1-16.</a:t>
            </a:r>
          </a:p>
          <a:p xmlns:a="http://schemas.openxmlformats.org/drawingml/2006/main">
            <a:r>
              <a:t>Scripture verification: https://www.biblegateway.com/passage/?search=Acts%203%3A8-13%3BActs%203%3A16%3BActs%204%3A4-14%3BActs%203%3A1-16&amp;version=WEB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They met the man’s physical need through Jesus’ authority. The act restored him and pointed people to Jesus. This is a possible reading of their action, rather than a statement of every motive they had.</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3:1-10; Acts 3:1-16.</a:t>
            </a:r>
          </a:p>
          <a:p xmlns:a="http://schemas.openxmlformats.org/drawingml/2006/main">
            <a:r>
              <a:t>Scripture verification: https://www.biblegateway.com/passage/?search=Acts%203%3A1-10%3BActs%203%3A1-16&amp;version=WEB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whether this event sets an example for our priorities or mission today. The study also asks how the passage is relevant even if we do not perform miraculous healings. How would you answer, and why?</a:t>
            </a:r>
          </a:p>
          <a:p xmlns:a="http://schemas.openxmlformats.org/drawingml/2006/main">
            <a:r>
              <a:t/>
            </a:r>
          </a:p>
          <a:p xmlns:a="http://schemas.openxmlformats.org/drawingml/2006/main">
            <a:r>
              <a:t>[NEXT SLIDE]</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3:1-10.</a:t>
            </a:r>
          </a:p>
          <a:p xmlns:a="http://schemas.openxmlformats.org/drawingml/2006/main">
            <a:r>
              <a:t>Scripture verification: https://www.biblegateway.com/passage/?search=Acts%203%3A1-10&amp;version=WEB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Acts 3 records an apostolic healing, and the lesson asks whether this was unique to the first century or remains a norm today. What in this account seems unique to the apostles? What parts remain relevant for ministry today? How can Christians disagree respectfully while staying grounded in Scripture?</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3:1-10.</a:t>
            </a:r>
          </a:p>
          <a:p xmlns:a="http://schemas.openxmlformats.org/drawingml/2006/main">
            <a:r>
              <a:t>Scripture verification: https://www.biblegateway.com/passage/?search=Acts%203%3A1-10&amp;version=WEB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possible applications rather than the only acceptable answer. We can attend to people’s needs and point to Jesus. We can also give God the praise and consider what this means for our mission, even when we do not perform miraculous healings.</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3:1-10.</a:t>
            </a:r>
          </a:p>
          <a:p xmlns:a="http://schemas.openxmlformats.org/drawingml/2006/main">
            <a:r>
              <a:t>Scripture verification: https://www.biblegateway.com/passage/?search=Acts%203%3A1-10&amp;version=WEB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explains how the healing was possible in verse 16. According to Peter, what made this man well?</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3:16.</a:t>
            </a:r>
          </a:p>
          <a:p xmlns:a="http://schemas.openxmlformats.org/drawingml/2006/main">
            <a:r>
              <a:t>Scripture verification: https://www.biblegateway.com/passage/?search=Acts%203%3A16&amp;version=WEB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gives the credit to Jesus’ name and to the faith that comes through Him. This is his explanation for the man’s strength and complete healing.</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3:16.</a:t>
            </a:r>
          </a:p>
          <a:p xmlns:a="http://schemas.openxmlformats.org/drawingml/2006/main">
            <a:r>
              <a:t>Scripture verification: https://www.biblegateway.com/passage/?search=Acts%203%3A16&amp;version=WEB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directs us to Peter’s words about power and godliness in verse 12. Why does it matter that this healing did not depend on the apostles’ own power or exceptional godliness? Also consider both the advantages and disadvantages of attracting people through miracles.</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3:12.</a:t>
            </a:r>
          </a:p>
          <a:p xmlns:a="http://schemas.openxmlformats.org/drawingml/2006/main">
            <a:r>
              <a:t>Scripture verification: https://www.biblegateway.com/passage/?search=Acts%203%3A12&amp;version=WEB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power belonged to Jesus rather than to people with exceptional ability or godliness. We depend on Him and give Him the credit. That also keeps the discussion about miracles focused on Jesus rather than on the people through whom He works.</a:t>
            </a:r>
          </a:p>
          <a:p xmlns:a="http://schemas.openxmlformats.org/drawingml/2006/main">
            <a:r>
              <a:t/>
            </a:r>
          </a:p>
          <a:p xmlns:a="http://schemas.openxmlformats.org/drawingml/2006/main">
            <a:r>
              <a:t>[Sources]</a:t>
            </a:r>
          </a:p>
          <a:p xmlns:a="http://schemas.openxmlformats.org/drawingml/2006/main">
            <a:r>
              <a:t>Authoritative lesson: Screenshot 2026-09-02 at 3.52.50 PM.png; Lesson Four, “Miracle.”</a:t>
            </a:r>
          </a:p>
          <a:p xmlns:a="http://schemas.openxmlformats.org/drawingml/2006/main">
            <a:r>
              <a:t>Scripture: Acts 3:12.</a:t>
            </a:r>
          </a:p>
          <a:p xmlns:a="http://schemas.openxmlformats.org/drawingml/2006/main">
            <a:r>
              <a:t>Scripture verification: https://www.biblegateway.com/passage/?search=Acts%203%3A12&amp;version=WEB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at the ways Peter describes Jesus in verses 13 through 15 and verse 22. The supporting question asks what event showed that God regarded Jesus as holy and righteous. How do Peter’s descriptions and that event fit together?</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3:13-15; Acts 3:22.</a:t>
            </a:r>
          </a:p>
          <a:p xmlns:a="http://schemas.openxmlformats.org/drawingml/2006/main">
            <a:r>
              <a:t>Scripture verification: https://www.biblegateway.com/passage/?search=Acts%203%3A13-15%3BActs%203%3A22&amp;version=WEB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calls Jesus God’s Servant and the Holy and Righteous One. He also calls Him the Author, or Prince, of Life and identifies Him as the Prophet like Moses. In connection with the supporting question, Peter points to God raising Jesus from the dead.</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3:13-15; Acts 3:22.</a:t>
            </a:r>
          </a:p>
          <a:p xmlns:a="http://schemas.openxmlformats.org/drawingml/2006/main">
            <a:r>
              <a:t>Scripture verification: https://www.biblegateway.com/passage/?search=Acts%203%3A13-15%3BActs%203%3A22&amp;version=WEB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both expressions in the question: the author of life and the Prince of life. The optional passages are John 1:3–4 and 12–13, Colossians 1:15–23, Hebrews 2:14–15, and 1 John 5:11–12. In what senses do these titles describe Jesus?</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3:15; John 1:3-4; John 1:12-13; Colossians 1:15-23; Hebrews 2:14-15; 1 John 5:11-12.</a:t>
            </a:r>
          </a:p>
          <a:p xmlns:a="http://schemas.openxmlformats.org/drawingml/2006/main">
            <a:r>
              <a:t>Scripture verification: https://www.biblegateway.com/passage/?search=Acts%203%3A15%3BJohn%201%3A3-4%3BJohn%201%3A12-13%3BColossians%201%3A15-23%3BHebrews%202%3A14-15%3B1%20John%205%3A11-12&amp;version=WEB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 comes through Jesus: the optional passages connect Him with creation and with the life God gives. They also speak of His victory over death and of eternal life in Him. These help explain why Peter calls Him the Author, or Prince, of Life.</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3:15; John 1:3-4; John 1:12-13; Colossians 1:15-23; Hebrews 2:14-15; 1 John 5:11-12.</a:t>
            </a:r>
          </a:p>
          <a:p xmlns:a="http://schemas.openxmlformats.org/drawingml/2006/main">
            <a:r>
              <a:t>Scripture verification: https://www.biblegateway.com/passage/?search=Acts%203%3A15%3BJohn%201%3A3-4%3BJohn%201%3A12-13%3BColossians%201%3A15-23%3BHebrews%202%3A14-15%3B1%20John%205%3A11-12&amp;version=WEB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asks what it means that Jesus is God’s Servant. Isaiah 52:13 through 53:12 is the passage the study gives us. What does it show about the Servant’s work?</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Isaiah 52:13–53:12.</a:t>
            </a:r>
          </a:p>
          <a:p xmlns:a="http://schemas.openxmlformats.org/drawingml/2006/main">
            <a:r>
              <a:t>Scripture verification: https://www.biblegateway.com/passage/?search=Isaiah%2052%3A13%E2%80%9353%3A12&amp;version=WEB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Isaiah describes God’s Servant suffering for the sins of others. Though people reject Him, God vindicates and exalts Him. The study connects Peter’s description of Jesus as the Servant with this passage.</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Isaiah 52:13–53:12.</a:t>
            </a:r>
          </a:p>
          <a:p xmlns:a="http://schemas.openxmlformats.org/drawingml/2006/main">
            <a:r>
              <a:t>Scripture verification: https://www.biblegateway.com/passage/?search=Isaiah%2052%3A13%E2%80%9353%3A12&amp;version=WEB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begins with Peter’s statement that his hearers had acted in ignorance when they disowned and killed Jesus. Now Peter calls them to repent. What does he say will happen if they repent, in verses 19 through 21?</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3:17; Acts 3:19-21.</a:t>
            </a:r>
          </a:p>
          <a:p xmlns:a="http://schemas.openxmlformats.org/drawingml/2006/main">
            <a:r>
              <a:t>Scripture verification: https://www.biblegateway.com/passage/?search=Acts%203%3A17%3BActs%203%3A19-21&amp;version=WEB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says their sins would be wiped away and refreshing would come from the Lord. He also speaks of God sending Jesus and of the promised restoration of all things. These are the promises attached to his call to repent and turn to God.</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3:17; Acts 3:19-21.</a:t>
            </a:r>
          </a:p>
          <a:p xmlns:a="http://schemas.openxmlformats.org/drawingml/2006/main">
            <a:r>
              <a:t>Scripture verification: https://www.biblegateway.com/passage/?search=Acts%203%3A17%3BActs%203%3A19-21&amp;version=WEB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 addressed fellow Jews who had supported Jesus’ execution, knew the prophecies about the servant and the prophet like Moses, and had inherited the covenant. Consider which parts of that sermon you could use in explaining the gospel to unbelievers you know. The supporting questions ask about refusing to listen to God’s Prophet and about the Jews’ special place in God’s plan. What would you include?</a:t>
            </a:r>
          </a:p>
          <a:p xmlns:a="http://schemas.openxmlformats.org/drawingml/2006/main">
            <a:r>
              <a:t/>
            </a:r>
          </a:p>
          <a:p xmlns:a="http://schemas.openxmlformats.org/drawingml/2006/main">
            <a:r>
              <a:t>[NEXT SLIDE]</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3:11-26.</a:t>
            </a:r>
          </a:p>
          <a:p xmlns:a="http://schemas.openxmlformats.org/drawingml/2006/main">
            <a:r>
              <a:t>Scripture verification: https://www.biblegateway.com/passage/?search=Acts%203%3A11-26&amp;version=WEB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Peter’s hearers knew the prophets and had inherited the covenant. The people we know may not share that background. Which parts of Peter’s message would you begin with? Which words or ideas would need explanation? How would you keep the call to repent and turn to God clear?</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3:13-26.</a:t>
            </a:r>
          </a:p>
          <a:p xmlns:a="http://schemas.openxmlformats.org/drawingml/2006/main">
            <a:r>
              <a:t>Scripture verification: https://www.biblegateway.com/passage/?search=Acts%203%3A13-26&amp;version=WEB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way to explain Peter’s message is to begin with Jesus’ suffering and resurrection and how He fulfills God’s promises. Then comes the call to repent, turn to God, and receive His blessing. The supporting questions keep us attentive to Peter’s original audience and the importance of listening to Jesus.</a:t>
            </a:r>
          </a:p>
          <a:p xmlns:a="http://schemas.openxmlformats.org/drawingml/2006/main">
            <a:r>
              <a:t/>
            </a:r>
          </a:p>
          <a:p xmlns:a="http://schemas.openxmlformats.org/drawingml/2006/main">
            <a:r>
              <a:t>[Sources]</a:t>
            </a:r>
          </a:p>
          <a:p xmlns:a="http://schemas.openxmlformats.org/drawingml/2006/main">
            <a:r>
              <a:t>Authoritative lesson: Screenshot 2026-09-02 at 3.53.06 PM.png; Lesson Four, “Miracle.”</a:t>
            </a:r>
          </a:p>
          <a:p xmlns:a="http://schemas.openxmlformats.org/drawingml/2006/main">
            <a:r>
              <a:t>Scripture: Acts 3:11-26.</a:t>
            </a:r>
          </a:p>
          <a:p xmlns:a="http://schemas.openxmlformats.org/drawingml/2006/main">
            <a:r>
              <a:t>Scripture verification: https://www.biblegateway.com/passage/?search=Acts%203%3A11-26&amp;version=WEB</a:t>
            </a:r>
          </a:p>
          <a:p xmlns:a="http://schemas.openxmlformats.org/drawingml/2006/main">
            <a:r>
              <a:t>Answers are concise teaching paraphrases, not quotations from a supplied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058274724649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d2a2e169b2467b" /><Relationship Type="http://schemas.openxmlformats.org/officeDocument/2006/relationships/slideLayout" Target="/ppt/slideLayouts/slideLayout1.xml" Id="Rb4078825b9ab4f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078825b9ab4f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dc14bbe5154e06" /><Relationship Type="http://schemas.openxmlformats.org/officeDocument/2006/relationships/notesSlide" Target="/ppt/notesSlides/notesSlide1.xml" Id="R87bff406696a41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2f3bc6d3a54cdf" /><Relationship Type="http://schemas.openxmlformats.org/officeDocument/2006/relationships/notesSlide" Target="/ppt/notesSlides/notesSlide2.xml" Id="R4bf924de22df49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b145a79f194003" /><Relationship Type="http://schemas.openxmlformats.org/officeDocument/2006/relationships/notesSlide" Target="/ppt/notesSlides/notesSlide3.xml" Id="Re5c9fc02714c47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389017a6074ede" /><Relationship Type="http://schemas.openxmlformats.org/officeDocument/2006/relationships/notesSlide" Target="/ppt/notesSlides/notesSlide4.xml" Id="R5575e966a4ad4a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7f06f52e74424d" /><Relationship Type="http://schemas.openxmlformats.org/officeDocument/2006/relationships/notesSlide" Target="/ppt/notesSlides/notesSlide5.xml" Id="R351047a6a1bc44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bd05642e3b4013" /><Relationship Type="http://schemas.openxmlformats.org/officeDocument/2006/relationships/notesSlide" Target="/ppt/notesSlides/notesSlide6.xml" Id="R610c960fc46a46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66b6baa4c94e8a" /><Relationship Type="http://schemas.openxmlformats.org/officeDocument/2006/relationships/notesSlide" Target="/ppt/notesSlides/notesSlide7.xml" Id="R22401c94b64148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d112440d8e4659" /><Relationship Type="http://schemas.openxmlformats.org/officeDocument/2006/relationships/notesSlide" Target="/ppt/notesSlides/notesSlide8.xml" Id="Rf9b90cac8cee48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55bf7b4d594331" /><Relationship Type="http://schemas.openxmlformats.org/officeDocument/2006/relationships/notesSlide" Target="/ppt/notesSlides/notesSlide9.xml" Id="R7b6b68dbc7c546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925d5bc5984ce3" /><Relationship Type="http://schemas.openxmlformats.org/officeDocument/2006/relationships/notesSlide" Target="/ppt/notesSlides/notesSlide10.xml" Id="Rafda4377082541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d4ba0349cd42c7" /><Relationship Type="http://schemas.openxmlformats.org/officeDocument/2006/relationships/notesSlide" Target="/ppt/notesSlides/notesSlide11.xml" Id="Raffecd994e7b4c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dc7d6feffe4b79" /><Relationship Type="http://schemas.openxmlformats.org/officeDocument/2006/relationships/notesSlide" Target="/ppt/notesSlides/notesSlide12.xml" Id="Rd7d1f9dc100640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82bb7513ef4e91" /><Relationship Type="http://schemas.openxmlformats.org/officeDocument/2006/relationships/notesSlide" Target="/ppt/notesSlides/notesSlide13.xml" Id="Rd3fbe3b6f97e4a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e0bddee29d43b0" /><Relationship Type="http://schemas.openxmlformats.org/officeDocument/2006/relationships/notesSlide" Target="/ppt/notesSlides/notesSlide14.xml" Id="Rd41299c81c794d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5f6900bf2384eb2" /><Relationship Type="http://schemas.openxmlformats.org/officeDocument/2006/relationships/notesSlide" Target="/ppt/notesSlides/notesSlide15.xml" Id="R824f9361da8249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4a708c123a84011" /><Relationship Type="http://schemas.openxmlformats.org/officeDocument/2006/relationships/notesSlide" Target="/ppt/notesSlides/notesSlide16.xml" Id="R58905e49553043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f9bc72aeba472e" /><Relationship Type="http://schemas.openxmlformats.org/officeDocument/2006/relationships/notesSlide" Target="/ppt/notesSlides/notesSlide17.xml" Id="R37f4ebf9f80c45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d6b34f92bdf4c05" /><Relationship Type="http://schemas.openxmlformats.org/officeDocument/2006/relationships/notesSlide" Target="/ppt/notesSlides/notesSlide18.xml" Id="R785efd8df6ca44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ef49f5add24b16" /><Relationship Type="http://schemas.openxmlformats.org/officeDocument/2006/relationships/notesSlide" Target="/ppt/notesSlides/notesSlide19.xml" Id="R06f7b11edd8a4a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c0d7e9b8c834631" /><Relationship Type="http://schemas.openxmlformats.org/officeDocument/2006/relationships/notesSlide" Target="/ppt/notesSlides/notesSlide20.xml" Id="Rb6b426c508a14a0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53f6e617bb34a33" /><Relationship Type="http://schemas.openxmlformats.org/officeDocument/2006/relationships/notesSlide" Target="/ppt/notesSlides/notesSlide21.xml" Id="R46cca2a9818b4b2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c9dc718f62419b" /><Relationship Type="http://schemas.openxmlformats.org/officeDocument/2006/relationships/notesSlide" Target="/ppt/notesSlides/notesSlide22.xml" Id="Rc9a9195307584ba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ce29b741b34e20" /><Relationship Type="http://schemas.openxmlformats.org/officeDocument/2006/relationships/notesSlide" Target="/ppt/notesSlides/notesSlide23.xml" Id="R6f656104e2c147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08da3cb3e0541c0" /><Relationship Type="http://schemas.openxmlformats.org/officeDocument/2006/relationships/notesSlide" Target="/ppt/notesSlides/notesSlide24.xml" Id="Rbe104db5566a404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2e961180a344025" /><Relationship Type="http://schemas.openxmlformats.org/officeDocument/2006/relationships/notesSlide" Target="/ppt/notesSlides/notesSlide25.xml" Id="R9e2fc445fcf64a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28e8159357f4ff6" /><Relationship Type="http://schemas.openxmlformats.org/officeDocument/2006/relationships/notesSlide" Target="/ppt/notesSlides/notesSlide26.xml" Id="R9658ac2a42d9494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19643dbe2654725" /><Relationship Type="http://schemas.openxmlformats.org/officeDocument/2006/relationships/notesSlide" Target="/ppt/notesSlides/notesSlide27.xml" Id="Re0fabe716a6c40e9"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6" name="gold-frame">
            <a:extLst xmlns:a="http://schemas.openxmlformats.org/drawingml/2006/main">
              <a:ext uri="{FF2B5EF4-FFF2-40B4-BE49-F238E27FC236}">
                <a16:creationId xmlns:a16="http://schemas.microsoft.com/office/drawing/2014/main" id="{9F7C2864-6C53-41F3-B39A-3970C89E8DE3}"/>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B59970C3-0228-4C22-9DC0-59E0B56A6B2C}"/>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ED3887F2-DEE4-41A6-8482-7D6C4DECE840}"/>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7BC3549F-2C5D-4016-A183-2192548B8538}"/>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DBE9BE39-0948-455A-A9D4-93441BAED6B4}"/>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EDFA5FF1-B477-43D7-81F4-B7EE518F0E76}"/>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7B944FBD-35A9-4924-8957-5E01DB16CA74}"/>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FE67B004-6038-4635-BE54-10BC317D1781}"/>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19B23E1A-5AA9-4063-8724-4AEAC43D0D38}"/>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85C29843-6D47-4E36-AD35-066622EEBAD0}"/>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Lesson Four, Acts 3:1-26</a:t>
            </a:r>
          </a:p>
        </p:txBody>
      </p:sp>
      <p:sp>
        <p:nvSpPr>
          <p:cNvPr id="11" name="title-rule">
            <a:extLst xmlns:a="http://schemas.openxmlformats.org/drawingml/2006/main">
              <a:ext uri="{FF2B5EF4-FFF2-40B4-BE49-F238E27FC236}">
                <a16:creationId xmlns:a16="http://schemas.microsoft.com/office/drawing/2014/main" id="{D133BD7E-9BEF-4DCC-B453-D9B305039C51}"/>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FA8AACC4-2E53-4C2B-85FB-20FE41EFF44C}"/>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EB1348E8-B15A-4C3A-9A3E-170971ADA5F4}"/>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a:t>
            </a:r>
          </a:p>
        </p:txBody>
      </p:sp>
      <p:sp>
        <p:nvSpPr>
          <p:cNvPr id="14" name="welcome">
            <a:extLst xmlns:a="http://schemas.openxmlformats.org/drawingml/2006/main">
              <a:ext uri="{FF2B5EF4-FFF2-40B4-BE49-F238E27FC236}">
                <a16:creationId xmlns:a16="http://schemas.microsoft.com/office/drawing/2014/main" id="{3367AC94-2EE9-4411-8CAD-9EE2508617C4}"/>
              </a:ext>
            </a:extLst>
          </p:cNvPr>
          <p:cNvSpPr>
            <a:spLocks xmlns:a="http://schemas.openxmlformats.org/drawingml/2006/main" noGrp="1"/>
          </p:cNvSpPr>
          <p:nvPr/>
        </p:nvSpPr>
        <p:spPr>
          <a:xfrm xmlns:a="http://schemas.openxmlformats.org/drawingml/2006/main">
            <a:off x="762000" y="2286000"/>
            <a:ext cx="1066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5400" b="1">
                <a:solidFill>
                  <a:srgbClr val="202D35"/>
                </a:solidFill>
                <a:latin typeface="Arial"/>
                <a:ea typeface="Arial"/>
                <a:cs typeface="Arial"/>
              </a:defRPr>
            </a:pPr>
            <a:r>
              <a:rPr sz="5400" b="1">
                <a:solidFill>
                  <a:srgbClr val="202D35"/>
                </a:solidFill>
                <a:latin typeface="Arial"/>
                <a:ea typeface="Arial"/>
                <a:cs typeface="Arial"/>
              </a:rPr>
              <a:t>Welcome to TNMSG</a:t>
            </a:r>
          </a:p>
        </p:txBody>
      </p:sp>
      <p:sp>
        <p:nvSpPr>
          <p:cNvPr id="15" name="subtitle">
            <a:extLst xmlns:a="http://schemas.openxmlformats.org/drawingml/2006/main">
              <a:ext uri="{FF2B5EF4-FFF2-40B4-BE49-F238E27FC236}">
                <a16:creationId xmlns:a16="http://schemas.microsoft.com/office/drawing/2014/main" id="{8B906DAD-890B-452B-8063-2CE3C0160ABF}"/>
              </a:ext>
            </a:extLst>
          </p:cNvPr>
          <p:cNvSpPr>
            <a:spLocks xmlns:a="http://schemas.openxmlformats.org/drawingml/2006/main" noGrp="1"/>
          </p:cNvSpPr>
          <p:nvPr/>
        </p:nvSpPr>
        <p:spPr>
          <a:xfrm xmlns:a="http://schemas.openxmlformats.org/drawingml/2006/main">
            <a:off x="781050" y="35242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300" b="1">
                <a:solidFill>
                  <a:srgbClr val="355C50"/>
                </a:solidFill>
                <a:latin typeface="Arial"/>
                <a:ea typeface="Arial"/>
                <a:cs typeface="Arial"/>
              </a:defRPr>
            </a:pPr>
            <a:r>
              <a:rPr sz="3300" b="1">
                <a:solidFill>
                  <a:srgbClr val="355C50"/>
                </a:solidFill>
                <a:latin typeface="Arial"/>
                <a:ea typeface="Arial"/>
                <a:cs typeface="Arial"/>
              </a:rPr>
              <a:t>Miracle</a:t>
            </a:r>
          </a:p>
        </p:txBody>
      </p:sp>
    </p:spTree>
    <p:extLst>
      <p:ext uri="{BB962C8B-B14F-4D97-AF65-F5344CB8AC3E}">
        <p14:creationId xmlns:p14="http://schemas.microsoft.com/office/powerpoint/2010/main" val="1481727167"/>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6" name="gold-frame">
            <a:extLst xmlns:a="http://schemas.openxmlformats.org/drawingml/2006/main">
              <a:ext uri="{FF2B5EF4-FFF2-40B4-BE49-F238E27FC236}">
                <a16:creationId xmlns:a16="http://schemas.microsoft.com/office/drawing/2014/main" id="{F69F4434-6392-4B2F-82B1-8195092EFCDB}"/>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D2587287-60CC-42B4-916E-E49277D3382D}"/>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D3CD20F5-7FA5-4559-A454-E7ECE2F9F55B}"/>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3D166814-A4F9-4C42-B225-837516A1E438}"/>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09B910DA-E545-4564-BBEA-E3DF7D5ECF06}"/>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8B6E2AB2-8006-4279-9660-9CC06C61F8AB}"/>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6FE9240F-58F9-4DEC-9CBE-3A3BE0585DE7}"/>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4952CBDF-0BA3-4BE3-ABD4-D433BA177CF8}"/>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F241CEF7-B3A0-47E3-BC5B-B995E7104612}"/>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8127C3E0-5C02-49DF-80F8-86F4B54C2667}"/>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A healing that points to Jesus</a:t>
            </a:r>
          </a:p>
        </p:txBody>
      </p:sp>
      <p:sp>
        <p:nvSpPr>
          <p:cNvPr id="11" name="title-rule">
            <a:extLst xmlns:a="http://schemas.openxmlformats.org/drawingml/2006/main">
              <a:ext uri="{FF2B5EF4-FFF2-40B4-BE49-F238E27FC236}">
                <a16:creationId xmlns:a16="http://schemas.microsoft.com/office/drawing/2014/main" id="{0C04679F-DA2A-466D-81D2-252B7F325008}"/>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A5739E61-3F4B-4418-ABD4-A601F38D2C6C}"/>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5777B129-AB09-418C-B7F2-B56096A0EA51}"/>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a:t>
            </a:r>
          </a:p>
        </p:txBody>
      </p:sp>
      <p:sp>
        <p:nvSpPr>
          <p:cNvPr id="14" name="overview-subtitle">
            <a:extLst xmlns:a="http://schemas.openxmlformats.org/drawingml/2006/main">
              <a:ext uri="{FF2B5EF4-FFF2-40B4-BE49-F238E27FC236}">
                <a16:creationId xmlns:a16="http://schemas.microsoft.com/office/drawing/2014/main" id="{AFBD226D-DE99-432E-9CC8-855EC075B182}"/>
              </a:ext>
            </a:extLst>
          </p:cNvPr>
          <p:cNvSpPr>
            <a:spLocks xmlns:a="http://schemas.openxmlformats.org/drawingml/2006/main" noGrp="1"/>
          </p:cNvSpPr>
          <p:nvPr/>
        </p:nvSpPr>
        <p:spPr>
          <a:xfrm xmlns:a="http://schemas.openxmlformats.org/drawingml/2006/main">
            <a:off x="762000" y="15049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Lesson Four, Acts 3:1-26</a:t>
            </a:r>
          </a:p>
        </p:txBody>
      </p:sp>
      <p:sp>
        <p:nvSpPr>
          <p:cNvPr id="15" name="overview">
            <a:extLst xmlns:a="http://schemas.openxmlformats.org/drawingml/2006/main">
              <a:ext uri="{FF2B5EF4-FFF2-40B4-BE49-F238E27FC236}">
                <a16:creationId xmlns:a16="http://schemas.microsoft.com/office/drawing/2014/main" id="{04358FA5-9F1F-483A-B524-9827AB21F5D6}"/>
              </a:ext>
            </a:extLst>
          </p:cNvPr>
          <p:cNvSpPr>
            <a:spLocks xmlns:a="http://schemas.openxmlformats.org/drawingml/2006/main" noGrp="1"/>
          </p:cNvSpPr>
          <p:nvPr/>
        </p:nvSpPr>
        <p:spPr>
          <a:xfrm xmlns:a="http://schemas.openxmlformats.org/drawingml/2006/main">
            <a:off x="838200" y="2333625"/>
            <a:ext cx="10382250" cy="21846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850" b="0">
                <a:solidFill>
                  <a:srgbClr val="202D35"/>
                </a:solidFill>
                <a:latin typeface="Arial"/>
                <a:ea typeface="Arial"/>
                <a:cs typeface="Arial"/>
              </a:defRPr>
            </a:pPr>
            <a:r>
              <a:rPr sz="2850" b="0">
                <a:solidFill>
                  <a:srgbClr val="202D35"/>
                </a:solidFill>
                <a:latin typeface="Arial"/>
                <a:ea typeface="Arial"/>
                <a:cs typeface="Arial"/>
              </a:rPr>
              <a:t>The Spirit empowers the apostles to witness.</a:t>
            </a:r>
          </a:p>
          <a:p xmlns:a="http://schemas.openxmlformats.org/drawingml/2006/main">
            <a:pPr marL="304800" indent="-254000">
              <a:spcAft>
                <a:spcPts val="1200"/>
              </a:spcAft>
              <a:buChar char="•"/>
              <a:defRPr sz="2850" b="0">
                <a:solidFill>
                  <a:srgbClr val="202D35"/>
                </a:solidFill>
                <a:latin typeface="Arial"/>
                <a:ea typeface="Arial"/>
                <a:cs typeface="Arial"/>
              </a:defRPr>
            </a:pPr>
            <a:r>
              <a:rPr sz="2850" b="0">
                <a:solidFill>
                  <a:srgbClr val="202D35"/>
                </a:solidFill>
                <a:latin typeface="Arial"/>
                <a:ea typeface="Arial"/>
                <a:cs typeface="Arial"/>
              </a:rPr>
              <a:t>Healing (3:1–10): the man is restored and praises God.</a:t>
            </a:r>
          </a:p>
          <a:p xmlns:a="http://schemas.openxmlformats.org/drawingml/2006/main">
            <a:pPr marL="304800" indent="-254000">
              <a:spcAft>
                <a:spcPts val="1200"/>
              </a:spcAft>
              <a:buChar char="•"/>
              <a:defRPr sz="2850" b="0">
                <a:solidFill>
                  <a:srgbClr val="202D35"/>
                </a:solidFill>
                <a:latin typeface="Arial"/>
                <a:ea typeface="Arial"/>
                <a:cs typeface="Arial"/>
              </a:defRPr>
            </a:pPr>
            <a:r>
              <a:rPr sz="2850" b="0">
                <a:solidFill>
                  <a:srgbClr val="202D35"/>
                </a:solidFill>
                <a:latin typeface="Arial"/>
                <a:ea typeface="Arial"/>
                <a:cs typeface="Arial"/>
              </a:rPr>
              <a:t>Peter speaks (3:11–26): Jesus is risen; repent and turn to God.</a:t>
            </a:r>
          </a:p>
        </p:txBody>
      </p:sp>
    </p:spTree>
    <p:extLst>
      <p:ext uri="{BB962C8B-B14F-4D97-AF65-F5344CB8AC3E}">
        <p14:creationId xmlns:p14="http://schemas.microsoft.com/office/powerpoint/2010/main" val="46351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98187DFE-24D4-4FB0-8DB9-B5534FE6D9E7}"/>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ABC90B0B-CF96-41D6-B6C1-AA5D1DB3839A}"/>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0A403DC6-4DFF-4412-B1C1-424D86DEAE6A}"/>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44FE60EC-8E87-44C1-B812-694BAFB19786}"/>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AA27CD22-387D-4B00-8C59-3B5923FD3909}"/>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0851D807-7C30-460C-8C4F-60FEA5E230B2}"/>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0FEDEDCC-B98B-4148-A256-785719BBA472}"/>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1C003FAC-388C-4FBA-B8DE-07B13036CBFC}"/>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453D0412-ADF1-44E1-AB7D-E55C8BFB6AE5}"/>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F7E37EB3-8780-4040-AD6A-F012142D891E}"/>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27855D79-F6F8-44A2-B14A-8DAA0D0B1AA0}"/>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D0491963-4467-4A3C-A124-E77619966E1D}"/>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D73F6AD6-D54A-42A9-B013-0609EA23F8AA}"/>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3</a:t>
            </a:r>
          </a:p>
        </p:txBody>
      </p:sp>
      <p:sp>
        <p:nvSpPr>
          <p:cNvPr id="14" name="question-number">
            <a:extLst xmlns:a="http://schemas.openxmlformats.org/drawingml/2006/main">
              <a:ext uri="{FF2B5EF4-FFF2-40B4-BE49-F238E27FC236}">
                <a16:creationId xmlns:a16="http://schemas.microsoft.com/office/drawing/2014/main" id="{DFEC209D-0605-4533-9F80-CF163796AF0A}"/>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1</a:t>
            </a:r>
          </a:p>
        </p:txBody>
      </p:sp>
      <p:sp>
        <p:nvSpPr>
          <p:cNvPr id="15" name="question-text">
            <a:extLst xmlns:a="http://schemas.openxmlformats.org/drawingml/2006/main">
              <a:ext uri="{FF2B5EF4-FFF2-40B4-BE49-F238E27FC236}">
                <a16:creationId xmlns:a16="http://schemas.microsoft.com/office/drawing/2014/main" id="{2A7DAE5C-F10E-4A74-92FF-1649AF00DFF8}"/>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How does Acts 3:1-10 reflect Jesus’ words in John 14:12-14?</a:t>
            </a:r>
          </a:p>
        </p:txBody>
      </p:sp>
      <p:sp>
        <p:nvSpPr>
          <p:cNvPr id="16" name="question-accent">
            <a:extLst xmlns:a="http://schemas.openxmlformats.org/drawingml/2006/main">
              <a:ext uri="{FF2B5EF4-FFF2-40B4-BE49-F238E27FC236}">
                <a16:creationId xmlns:a16="http://schemas.microsoft.com/office/drawing/2014/main" id="{B0434C93-30EB-4A69-A17F-4EDF3262AC8F}"/>
              </a:ext>
            </a:extLst>
          </p:cNvPr>
          <p:cNvSpPr>
            <a:spLocks xmlns:a="http://schemas.openxmlformats.org/drawingml/2006/main" noGrp="1"/>
          </p:cNvSpPr>
          <p:nvPr/>
        </p:nvSpPr>
        <p:spPr>
          <a:xfrm xmlns:a="http://schemas.openxmlformats.org/drawingml/2006/main">
            <a:off x="781050" y="2838450"/>
            <a:ext cx="800100" cy="28575"/>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7" name="support">
            <a:extLst xmlns:a="http://schemas.openxmlformats.org/drawingml/2006/main">
              <a:ext uri="{FF2B5EF4-FFF2-40B4-BE49-F238E27FC236}">
                <a16:creationId xmlns:a16="http://schemas.microsoft.com/office/drawing/2014/main" id="{0FDC7C98-DDF9-40C8-AB02-1170E4DBCBBF}"/>
              </a:ext>
            </a:extLst>
          </p:cNvPr>
          <p:cNvSpPr>
            <a:spLocks xmlns:a="http://schemas.openxmlformats.org/drawingml/2006/main" noGrp="1"/>
          </p:cNvSpPr>
          <p:nvPr/>
        </p:nvSpPr>
        <p:spPr>
          <a:xfrm xmlns:a="http://schemas.openxmlformats.org/drawingml/2006/main">
            <a:off x="838200" y="3009900"/>
            <a:ext cx="10382250" cy="10568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How does the healed man respond? Is there an example for us? (3:8; Luke 17:11-19)</a:t>
            </a:r>
          </a:p>
        </p:txBody>
      </p:sp>
    </p:spTree>
    <p:extLst>
      <p:ext uri="{BB962C8B-B14F-4D97-AF65-F5344CB8AC3E}">
        <p14:creationId xmlns:p14="http://schemas.microsoft.com/office/powerpoint/2010/main" val="72690365"/>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D1640F4B-5693-42AC-894C-974F5921F207}"/>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C4A42745-3D7C-4852-9D84-832DC644A77C}"/>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8CB3DC02-7EBC-447B-B450-6AD80E3C90E4}"/>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89824851-C8A7-49A8-AD45-6750D67F5AA0}"/>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2CF934EB-1B50-49C6-B0FA-85E2715B62EE}"/>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FE199FF9-46D1-4A87-A1E3-B386F1DC4F63}"/>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48A18979-F995-4AE1-AA01-BD8D810B8C7A}"/>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94545B54-F436-4193-825D-3A04A00F17F6}"/>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4B965887-0DD9-4386-A348-181BE2C026E8}"/>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C6864B74-E81D-4E5F-B661-B225FF61CBD2}"/>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5DE2CF69-CC5A-4734-B265-EE48E92EC062}"/>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C0A7430D-68AB-47C2-97EC-F7F9702AC2F4}"/>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3EE1D93B-DCF8-40B5-8E86-C4F8ED50613F}"/>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4</a:t>
            </a:r>
          </a:p>
        </p:txBody>
      </p:sp>
      <p:sp>
        <p:nvSpPr>
          <p:cNvPr id="14" name="question-number">
            <a:extLst xmlns:a="http://schemas.openxmlformats.org/drawingml/2006/main">
              <a:ext uri="{FF2B5EF4-FFF2-40B4-BE49-F238E27FC236}">
                <a16:creationId xmlns:a16="http://schemas.microsoft.com/office/drawing/2014/main" id="{1C47EF3C-4467-445C-ADA2-C1149A852718}"/>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1</a:t>
            </a:r>
          </a:p>
        </p:txBody>
      </p:sp>
      <p:sp>
        <p:nvSpPr>
          <p:cNvPr id="15" name="question-text">
            <a:extLst xmlns:a="http://schemas.openxmlformats.org/drawingml/2006/main">
              <a:ext uri="{FF2B5EF4-FFF2-40B4-BE49-F238E27FC236}">
                <a16:creationId xmlns:a16="http://schemas.microsoft.com/office/drawing/2014/main" id="{41A1E9FF-BA57-44AD-BC6A-9F678C2D826E}"/>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How does Acts 3:1-10 reflect Jesus’ words in John 14:12-14?</a:t>
            </a:r>
          </a:p>
        </p:txBody>
      </p:sp>
      <p:sp>
        <p:nvSpPr>
          <p:cNvPr id="16" name="answer-label">
            <a:extLst xmlns:a="http://schemas.openxmlformats.org/drawingml/2006/main">
              <a:ext uri="{FF2B5EF4-FFF2-40B4-BE49-F238E27FC236}">
                <a16:creationId xmlns:a16="http://schemas.microsoft.com/office/drawing/2014/main" id="{1BCF2868-46D4-4871-AF52-7F4EEFA656C3}"/>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56827100-CA9B-41CC-AA90-4465C4F90EF6}"/>
              </a:ext>
            </a:extLst>
          </p:cNvPr>
          <p:cNvSpPr>
            <a:spLocks xmlns:a="http://schemas.openxmlformats.org/drawingml/2006/main" noGrp="1"/>
          </p:cNvSpPr>
          <p:nvPr/>
        </p:nvSpPr>
        <p:spPr>
          <a:xfrm xmlns:a="http://schemas.openxmlformats.org/drawingml/2006/main">
            <a:off x="838200" y="422910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Jesus continued His work through the apostles.</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They acted in His name; the healed man praised God.</a:t>
            </a:r>
          </a:p>
        </p:txBody>
      </p:sp>
    </p:spTree>
    <p:extLst>
      <p:ext uri="{BB962C8B-B14F-4D97-AF65-F5344CB8AC3E}">
        <p14:creationId xmlns:p14="http://schemas.microsoft.com/office/powerpoint/2010/main" val="1512654776"/>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9" name="gold-frame">
            <a:extLst xmlns:a="http://schemas.openxmlformats.org/drawingml/2006/main">
              <a:ext uri="{FF2B5EF4-FFF2-40B4-BE49-F238E27FC236}">
                <a16:creationId xmlns:a16="http://schemas.microsoft.com/office/drawing/2014/main" id="{3A50C83C-2F02-4A60-B3FC-0E7CDA5A42A9}"/>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F16C9885-E829-4FBF-8005-4D41D2920CA8}"/>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1C8B7E46-CB42-4C15-B053-4A7291EF175C}"/>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17C537CB-A24B-40BB-9F7B-189C69356D42}"/>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702D8DAF-F3C1-4A6B-8DC6-3413BB84FD36}"/>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0004204E-BC79-4063-85D5-7B35863920E1}"/>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BCE22272-105C-4E92-A670-3C4E1494650A}"/>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C0AA4B0F-48CF-4579-8923-8F3AD19607B8}"/>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36006474-9245-46BA-916D-B725EDDE8189}"/>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A8AFF672-5687-440A-96F9-03802335748E}"/>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26D89FD1-A9B5-498B-B9B7-8C7E496D1C7A}"/>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7F4F5889-D1C2-4593-8063-283C23042A38}"/>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48C069F4-3505-4588-B125-EC35A98E4833}"/>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5</a:t>
            </a:r>
          </a:p>
        </p:txBody>
      </p:sp>
      <p:sp>
        <p:nvSpPr>
          <p:cNvPr id="14" name="question-number">
            <a:extLst xmlns:a="http://schemas.openxmlformats.org/drawingml/2006/main">
              <a:ext uri="{FF2B5EF4-FFF2-40B4-BE49-F238E27FC236}">
                <a16:creationId xmlns:a16="http://schemas.microsoft.com/office/drawing/2014/main" id="{BFE8C504-1250-4ED5-9A16-721D52A1BD55}"/>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2</a:t>
            </a:r>
          </a:p>
        </p:txBody>
      </p:sp>
      <p:sp>
        <p:nvSpPr>
          <p:cNvPr id="15" name="question-stem">
            <a:extLst xmlns:a="http://schemas.openxmlformats.org/drawingml/2006/main">
              <a:ext uri="{FF2B5EF4-FFF2-40B4-BE49-F238E27FC236}">
                <a16:creationId xmlns:a16="http://schemas.microsoft.com/office/drawing/2014/main" id="{CB670F4A-5055-4055-8656-D9D7FF7268B3}"/>
              </a:ext>
            </a:extLst>
          </p:cNvPr>
          <p:cNvSpPr>
            <a:spLocks xmlns:a="http://schemas.openxmlformats.org/drawingml/2006/main" noGrp="1"/>
          </p:cNvSpPr>
          <p:nvPr/>
        </p:nvSpPr>
        <p:spPr>
          <a:xfrm xmlns:a="http://schemas.openxmlformats.org/drawingml/2006/main">
            <a:off x="762000" y="200025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The beggar asked for money (3:3); Peter and John met another need.</a:t>
            </a:r>
          </a:p>
        </p:txBody>
      </p:sp>
      <p:sp>
        <p:nvSpPr>
          <p:cNvPr id="16" name="question-part-0">
            <a:extLst xmlns:a="http://schemas.openxmlformats.org/drawingml/2006/main">
              <a:ext uri="{FF2B5EF4-FFF2-40B4-BE49-F238E27FC236}">
                <a16:creationId xmlns:a16="http://schemas.microsoft.com/office/drawing/2014/main" id="{A3891573-19D9-40CB-A0FB-0B34D28D88FE}"/>
              </a:ext>
            </a:extLst>
          </p:cNvPr>
          <p:cNvSpPr>
            <a:spLocks xmlns:a="http://schemas.openxmlformats.org/drawingml/2006/main" noGrp="1"/>
          </p:cNvSpPr>
          <p:nvPr/>
        </p:nvSpPr>
        <p:spPr>
          <a:xfrm xmlns:a="http://schemas.openxmlformats.org/drawingml/2006/main">
            <a:off x="762000" y="2857500"/>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a. What was the relationship between physical healing and spiritual salvation in Jesus’ work and teaching?</a:t>
            </a:r>
          </a:p>
        </p:txBody>
      </p:sp>
      <p:sp>
        <p:nvSpPr>
          <p:cNvPr id="17" name="question-part-1">
            <a:extLst xmlns:a="http://schemas.openxmlformats.org/drawingml/2006/main">
              <a:ext uri="{FF2B5EF4-FFF2-40B4-BE49-F238E27FC236}">
                <a16:creationId xmlns:a16="http://schemas.microsoft.com/office/drawing/2014/main" id="{1D3BB299-9487-4927-B7B4-3BE5C2FD0E9D}"/>
              </a:ext>
            </a:extLst>
          </p:cNvPr>
          <p:cNvSpPr>
            <a:spLocks xmlns:a="http://schemas.openxmlformats.org/drawingml/2006/main" noGrp="1"/>
          </p:cNvSpPr>
          <p:nvPr/>
        </p:nvSpPr>
        <p:spPr>
          <a:xfrm xmlns:a="http://schemas.openxmlformats.org/drawingml/2006/main">
            <a:off x="762000" y="385762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b. What purposes did the physical healing serve in Acts 3 (see Acts 3:8-13,16; 4:4-14)?</a:t>
            </a:r>
          </a:p>
        </p:txBody>
      </p:sp>
      <p:sp>
        <p:nvSpPr>
          <p:cNvPr id="18" name="question-part-2">
            <a:extLst xmlns:a="http://schemas.openxmlformats.org/drawingml/2006/main">
              <a:ext uri="{FF2B5EF4-FFF2-40B4-BE49-F238E27FC236}">
                <a16:creationId xmlns:a16="http://schemas.microsoft.com/office/drawing/2014/main" id="{2CDD186F-BD69-446B-95CB-803812ADF2BC}"/>
              </a:ext>
            </a:extLst>
          </p:cNvPr>
          <p:cNvSpPr>
            <a:spLocks xmlns:a="http://schemas.openxmlformats.org/drawingml/2006/main" noGrp="1"/>
          </p:cNvSpPr>
          <p:nvPr/>
        </p:nvSpPr>
        <p:spPr>
          <a:xfrm xmlns:a="http://schemas.openxmlformats.org/drawingml/2006/main">
            <a:off x="762000" y="4857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c. Why do you think Peter and John healed the beggar physically instead of just either giving him money or offering him spiritual salvation?</a:t>
            </a:r>
          </a:p>
        </p:txBody>
      </p:sp>
    </p:spTree>
    <p:extLst>
      <p:ext uri="{BB962C8B-B14F-4D97-AF65-F5344CB8AC3E}">
        <p14:creationId xmlns:p14="http://schemas.microsoft.com/office/powerpoint/2010/main" val="973411528"/>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7" name="gold-frame">
            <a:extLst xmlns:a="http://schemas.openxmlformats.org/drawingml/2006/main">
              <a:ext uri="{FF2B5EF4-FFF2-40B4-BE49-F238E27FC236}">
                <a16:creationId xmlns:a16="http://schemas.microsoft.com/office/drawing/2014/main" id="{CD0F6D4C-11BE-43E1-9575-2297200A4C2C}"/>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1D253A4E-A4ED-4176-B129-E4EAE37282CD}"/>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2F112CE3-ACE3-4BE4-9FBD-9FAC7486AD18}"/>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2A0BAF6E-1B98-4963-B032-98800726DC98}"/>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990C8049-9187-4E09-8832-89546C4C5E79}"/>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6489962D-12A3-4B1E-B70C-36149895A35A}"/>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6F0DDF24-8DFC-41C5-A715-9258DB424802}"/>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8CFD3775-3B70-40D0-8AA2-B44CD707C7FE}"/>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0BC20C3C-3306-479D-BA51-8C1E20B4CA4D}"/>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0EE3C4B5-630A-46BC-8E56-5B25870DE985}"/>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For Further Discussion: More than money</a:t>
            </a:r>
          </a:p>
        </p:txBody>
      </p:sp>
      <p:sp>
        <p:nvSpPr>
          <p:cNvPr id="11" name="title-rule">
            <a:extLst xmlns:a="http://schemas.openxmlformats.org/drawingml/2006/main">
              <a:ext uri="{FF2B5EF4-FFF2-40B4-BE49-F238E27FC236}">
                <a16:creationId xmlns:a16="http://schemas.microsoft.com/office/drawing/2014/main" id="{DF390A57-8E10-4E4F-A080-E421AD225431}"/>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21C02F5C-9BDB-4BCD-884D-A2C3EC5AA7E4}"/>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488A2675-12A7-4E70-A774-D57B0F930409}"/>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6</a:t>
            </a:r>
          </a:p>
        </p:txBody>
      </p:sp>
      <p:sp>
        <p:nvSpPr>
          <p:cNvPr id="14" name="central-question">
            <a:extLst xmlns:a="http://schemas.openxmlformats.org/drawingml/2006/main">
              <a:ext uri="{FF2B5EF4-FFF2-40B4-BE49-F238E27FC236}">
                <a16:creationId xmlns:a16="http://schemas.microsoft.com/office/drawing/2014/main" id="{582D2551-BAE0-4A46-93A9-76E5C20964E8}"/>
              </a:ext>
            </a:extLst>
          </p:cNvPr>
          <p:cNvSpPr>
            <a:spLocks xmlns:a="http://schemas.openxmlformats.org/drawingml/2006/main" noGrp="1"/>
          </p:cNvSpPr>
          <p:nvPr/>
        </p:nvSpPr>
        <p:spPr>
          <a:xfrm xmlns:a="http://schemas.openxmlformats.org/drawingml/2006/main">
            <a:off x="762000" y="150495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When someone asks for help, how do we recognize what they most need?</a:t>
            </a:r>
          </a:p>
        </p:txBody>
      </p:sp>
      <p:sp>
        <p:nvSpPr>
          <p:cNvPr id="15" name="biblical-context">
            <a:extLst xmlns:a="http://schemas.openxmlformats.org/drawingml/2006/main">
              <a:ext uri="{FF2B5EF4-FFF2-40B4-BE49-F238E27FC236}">
                <a16:creationId xmlns:a16="http://schemas.microsoft.com/office/drawing/2014/main" id="{AE6F691A-B9B2-4EED-925F-FB3F601BA2F6}"/>
              </a:ext>
            </a:extLst>
          </p:cNvPr>
          <p:cNvSpPr>
            <a:spLocks xmlns:a="http://schemas.openxmlformats.org/drawingml/2006/main" noGrp="1"/>
          </p:cNvSpPr>
          <p:nvPr/>
        </p:nvSpPr>
        <p:spPr>
          <a:xfrm xmlns:a="http://schemas.openxmlformats.org/drawingml/2006/main">
            <a:off x="762000" y="2609850"/>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The man asked for money; Peter offered healing in Jesus’ name. (Acts 3:3–8)</a:t>
            </a:r>
          </a:p>
        </p:txBody>
      </p:sp>
      <p:sp>
        <p:nvSpPr>
          <p:cNvPr id="16" name="discussion-questions">
            <a:extLst xmlns:a="http://schemas.openxmlformats.org/drawingml/2006/main">
              <a:ext uri="{FF2B5EF4-FFF2-40B4-BE49-F238E27FC236}">
                <a16:creationId xmlns:a16="http://schemas.microsoft.com/office/drawing/2014/main" id="{B0FF33D9-77F0-4662-98AC-419B182EC181}"/>
              </a:ext>
            </a:extLst>
          </p:cNvPr>
          <p:cNvSpPr>
            <a:spLocks xmlns:a="http://schemas.openxmlformats.org/drawingml/2006/main" noGrp="1"/>
          </p:cNvSpPr>
          <p:nvPr/>
        </p:nvSpPr>
        <p:spPr>
          <a:xfrm xmlns:a="http://schemas.openxmlformats.org/drawingml/2006/main">
            <a:off x="838200" y="3676650"/>
            <a:ext cx="10382250" cy="20947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did the man ask for, and what did he receive?</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did the healing make possible beyond receiving money?</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How can this account shape the way we respond to someone’s need?</a:t>
            </a:r>
          </a:p>
        </p:txBody>
      </p:sp>
    </p:spTree>
    <p:extLst>
      <p:ext uri="{BB962C8B-B14F-4D97-AF65-F5344CB8AC3E}">
        <p14:creationId xmlns:p14="http://schemas.microsoft.com/office/powerpoint/2010/main" val="843968"/>
      </p:ext>
    </p:extLst>
  </p:cSld>
</p:sld>
</file>

<file path=ppt/slides/slide7.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8F54A1D3-0313-4A17-ADB0-0A1E3BB22D03}"/>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44095CC8-0B95-4C35-80D9-BA3729EA9D15}"/>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7C953D46-53AB-4A25-92A4-B2AF5385A977}"/>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1E446AA9-0E3D-4779-8EF1-04BE7C58741F}"/>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6042BB9E-32E4-44EE-9E0F-C6C1E0681594}"/>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60BED884-400C-48EC-B50A-2E57DC53CEF9}"/>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F6C23EF9-C1D8-4A3C-AB47-FF13BC014675}"/>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6C1365D5-6013-4696-970A-34E178305061}"/>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3E73518D-2E48-445C-A00C-183AB9D99DEB}"/>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69C18037-767C-4634-B66E-D168A1118760}"/>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18C4A88A-7748-4D9F-B957-9C9222581049}"/>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FF5DD8E2-C739-4D28-A549-F1AD74684DED}"/>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917FEDDF-FDA1-4E8D-95B0-18CB60BBA082}"/>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7</a:t>
            </a:r>
          </a:p>
        </p:txBody>
      </p:sp>
      <p:sp>
        <p:nvSpPr>
          <p:cNvPr id="14" name="question-number">
            <a:extLst xmlns:a="http://schemas.openxmlformats.org/drawingml/2006/main">
              <a:ext uri="{FF2B5EF4-FFF2-40B4-BE49-F238E27FC236}">
                <a16:creationId xmlns:a16="http://schemas.microsoft.com/office/drawing/2014/main" id="{EDAED684-CF34-40B7-9D8F-91203267F086}"/>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2a</a:t>
            </a:r>
          </a:p>
        </p:txBody>
      </p:sp>
      <p:sp>
        <p:nvSpPr>
          <p:cNvPr id="15" name="question-part-0">
            <a:extLst xmlns:a="http://schemas.openxmlformats.org/drawingml/2006/main">
              <a:ext uri="{FF2B5EF4-FFF2-40B4-BE49-F238E27FC236}">
                <a16:creationId xmlns:a16="http://schemas.microsoft.com/office/drawing/2014/main" id="{B9B8D16E-2326-44A0-81FF-17F0B45A8073}"/>
              </a:ext>
            </a:extLst>
          </p:cNvPr>
          <p:cNvSpPr>
            <a:spLocks xmlns:a="http://schemas.openxmlformats.org/drawingml/2006/main" noGrp="1"/>
          </p:cNvSpPr>
          <p:nvPr/>
        </p:nvSpPr>
        <p:spPr>
          <a:xfrm xmlns:a="http://schemas.openxmlformats.org/drawingml/2006/main">
            <a:off x="762000" y="2095500"/>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a. What was the relationship between physical healing and spiritual salvation in Jesus’ work and teaching?</a:t>
            </a:r>
          </a:p>
        </p:txBody>
      </p:sp>
      <p:sp>
        <p:nvSpPr>
          <p:cNvPr id="16" name="answer-label">
            <a:extLst xmlns:a="http://schemas.openxmlformats.org/drawingml/2006/main">
              <a:ext uri="{FF2B5EF4-FFF2-40B4-BE49-F238E27FC236}">
                <a16:creationId xmlns:a16="http://schemas.microsoft.com/office/drawing/2014/main" id="{5D98FBB8-9FC9-4596-B3F6-D4F9B78E03FC}"/>
              </a:ext>
            </a:extLst>
          </p:cNvPr>
          <p:cNvSpPr>
            <a:spLocks xmlns:a="http://schemas.openxmlformats.org/drawingml/2006/main" noGrp="1"/>
          </p:cNvSpPr>
          <p:nvPr/>
        </p:nvSpPr>
        <p:spPr>
          <a:xfrm xmlns:a="http://schemas.openxmlformats.org/drawingml/2006/main">
            <a:off x="762000" y="33909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 a</a:t>
            </a:r>
          </a:p>
        </p:txBody>
      </p:sp>
      <p:sp>
        <p:nvSpPr>
          <p:cNvPr id="17" name="answer">
            <a:extLst xmlns:a="http://schemas.openxmlformats.org/drawingml/2006/main">
              <a:ext uri="{FF2B5EF4-FFF2-40B4-BE49-F238E27FC236}">
                <a16:creationId xmlns:a16="http://schemas.microsoft.com/office/drawing/2014/main" id="{DAF45375-AB99-4E9D-9417-73EEDE25B9E0}"/>
              </a:ext>
            </a:extLst>
          </p:cNvPr>
          <p:cNvSpPr>
            <a:spLocks xmlns:a="http://schemas.openxmlformats.org/drawingml/2006/main" noGrp="1"/>
          </p:cNvSpPr>
          <p:nvPr/>
        </p:nvSpPr>
        <p:spPr>
          <a:xfrm xmlns:a="http://schemas.openxmlformats.org/drawingml/2006/main">
            <a:off x="838200" y="3905250"/>
            <a:ext cx="10382250" cy="15758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Healing and salvation belonged together in Jesus’ ministry.</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Physical restoration pointed to His saving authority.</a:t>
            </a:r>
          </a:p>
        </p:txBody>
      </p:sp>
    </p:spTree>
    <p:extLst>
      <p:ext uri="{BB962C8B-B14F-4D97-AF65-F5344CB8AC3E}">
        <p14:creationId xmlns:p14="http://schemas.microsoft.com/office/powerpoint/2010/main" val="507978568"/>
      </p:ext>
    </p:extLst>
  </p:cSld>
</p:sld>
</file>

<file path=ppt/slides/slide8.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D2A5FFF0-56F3-4A1B-AA20-610D57C23F42}"/>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87F28DE8-6A49-47DA-84AA-0C3B381C33A5}"/>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A897241A-EEA9-4C59-86E5-2FB89367FEEA}"/>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879F6034-D972-43D0-9458-C452804F54FD}"/>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9325363D-26F4-498E-A03D-DA3451A42E4C}"/>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FE3CB1B9-82B7-4500-AA7B-C30AE68B1F1D}"/>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AED1673D-C349-4EB7-8DD0-4D8549CD9EAF}"/>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ACEDBA1F-3F06-4DFC-9BE0-14A54C6E220B}"/>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31C94A80-72FD-4C55-B569-E191D51533A4}"/>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2C4B00DB-787D-4CF4-8C2B-1B1AE5ED6CE3}"/>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FC244244-AD3A-4EA7-B0D4-DA7C5A928069}"/>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1E49F29A-E1FE-45FD-B5DE-933532E4193C}"/>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9103AB8E-1BC4-497F-8DAE-E81B2CD84329}"/>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8</a:t>
            </a:r>
          </a:p>
        </p:txBody>
      </p:sp>
      <p:sp>
        <p:nvSpPr>
          <p:cNvPr id="14" name="question-number">
            <a:extLst xmlns:a="http://schemas.openxmlformats.org/drawingml/2006/main">
              <a:ext uri="{FF2B5EF4-FFF2-40B4-BE49-F238E27FC236}">
                <a16:creationId xmlns:a16="http://schemas.microsoft.com/office/drawing/2014/main" id="{5926CB63-C665-44EC-9359-D764D4243D63}"/>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2b</a:t>
            </a:r>
          </a:p>
        </p:txBody>
      </p:sp>
      <p:sp>
        <p:nvSpPr>
          <p:cNvPr id="15" name="question-part-1">
            <a:extLst xmlns:a="http://schemas.openxmlformats.org/drawingml/2006/main">
              <a:ext uri="{FF2B5EF4-FFF2-40B4-BE49-F238E27FC236}">
                <a16:creationId xmlns:a16="http://schemas.microsoft.com/office/drawing/2014/main" id="{F9A5F58D-EE46-4D0F-86CA-08840DEB4C8D}"/>
              </a:ext>
            </a:extLst>
          </p:cNvPr>
          <p:cNvSpPr>
            <a:spLocks xmlns:a="http://schemas.openxmlformats.org/drawingml/2006/main" noGrp="1"/>
          </p:cNvSpPr>
          <p:nvPr/>
        </p:nvSpPr>
        <p:spPr>
          <a:xfrm xmlns:a="http://schemas.openxmlformats.org/drawingml/2006/main">
            <a:off x="762000" y="2095500"/>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b. What purposes did the physical healing serve in Acts 3 (see Acts 3:8-13,16; 4:4-14)?</a:t>
            </a:r>
          </a:p>
        </p:txBody>
      </p:sp>
      <p:sp>
        <p:nvSpPr>
          <p:cNvPr id="16" name="answer-label">
            <a:extLst xmlns:a="http://schemas.openxmlformats.org/drawingml/2006/main">
              <a:ext uri="{FF2B5EF4-FFF2-40B4-BE49-F238E27FC236}">
                <a16:creationId xmlns:a16="http://schemas.microsoft.com/office/drawing/2014/main" id="{EA7AB9EA-1DD3-4C90-9A21-D7F95ACDBE6C}"/>
              </a:ext>
            </a:extLst>
          </p:cNvPr>
          <p:cNvSpPr>
            <a:spLocks xmlns:a="http://schemas.openxmlformats.org/drawingml/2006/main" noGrp="1"/>
          </p:cNvSpPr>
          <p:nvPr/>
        </p:nvSpPr>
        <p:spPr>
          <a:xfrm xmlns:a="http://schemas.openxmlformats.org/drawingml/2006/main">
            <a:off x="762000" y="33909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 b</a:t>
            </a:r>
          </a:p>
        </p:txBody>
      </p:sp>
      <p:sp>
        <p:nvSpPr>
          <p:cNvPr id="17" name="answer">
            <a:extLst xmlns:a="http://schemas.openxmlformats.org/drawingml/2006/main">
              <a:ext uri="{FF2B5EF4-FFF2-40B4-BE49-F238E27FC236}">
                <a16:creationId xmlns:a16="http://schemas.microsoft.com/office/drawing/2014/main" id="{CA18EE11-A1EE-4F4B-9549-EEA7F367F1B3}"/>
              </a:ext>
            </a:extLst>
          </p:cNvPr>
          <p:cNvSpPr>
            <a:spLocks xmlns:a="http://schemas.openxmlformats.org/drawingml/2006/main" noGrp="1"/>
          </p:cNvSpPr>
          <p:nvPr/>
        </p:nvSpPr>
        <p:spPr>
          <a:xfrm xmlns:a="http://schemas.openxmlformats.org/drawingml/2006/main">
            <a:off x="838200" y="390525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 man praised God; the crowd gathered in wonder.</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 healing opened the way to witness about Jesus.</a:t>
            </a:r>
          </a:p>
        </p:txBody>
      </p:sp>
    </p:spTree>
    <p:extLst>
      <p:ext uri="{BB962C8B-B14F-4D97-AF65-F5344CB8AC3E}">
        <p14:creationId xmlns:p14="http://schemas.microsoft.com/office/powerpoint/2010/main" val="1545866116"/>
      </p:ext>
    </p:extLst>
  </p:cSld>
</p:sld>
</file>

<file path=ppt/slides/slide9.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4363B489-B77A-4B42-8687-845A658AB9A1}"/>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324BEFCA-F883-4515-9EC6-1F105FE909B6}"/>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C883DFC5-4EFE-4F0F-BBE5-84B03767E5A5}"/>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40B1AF1E-52A3-4677-AB57-C973B903D46B}"/>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5C184D64-A50E-41B0-B4E0-AE33FA4A7D7C}"/>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0E370115-4DB0-43BA-AFB5-B3F6A13916B7}"/>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E04A4CE5-5A30-4BB9-8E4D-B6210B476CBD}"/>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FAE0E25E-F7A6-45CB-A250-92FEFFDDD9E0}"/>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0E95A241-AD67-4E43-B72D-313C907487DF}"/>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47931AD2-95C6-4EC6-81A8-E1E6554C5095}"/>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FBBBCAF4-B470-4A4F-98D7-E1C7E9E35B7F}"/>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22931A4F-78AE-4F62-BDA8-A2FC1DC6B816}"/>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BC6B5A9F-93A9-43A1-BFA4-7F786B8931F0}"/>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9</a:t>
            </a:r>
          </a:p>
        </p:txBody>
      </p:sp>
      <p:sp>
        <p:nvSpPr>
          <p:cNvPr id="14" name="question-number">
            <a:extLst xmlns:a="http://schemas.openxmlformats.org/drawingml/2006/main">
              <a:ext uri="{FF2B5EF4-FFF2-40B4-BE49-F238E27FC236}">
                <a16:creationId xmlns:a16="http://schemas.microsoft.com/office/drawing/2014/main" id="{0C71F59D-B7D6-4AA2-A48A-62D47CD49F9D}"/>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2c</a:t>
            </a:r>
          </a:p>
        </p:txBody>
      </p:sp>
      <p:sp>
        <p:nvSpPr>
          <p:cNvPr id="15" name="question-part-2">
            <a:extLst xmlns:a="http://schemas.openxmlformats.org/drawingml/2006/main">
              <a:ext uri="{FF2B5EF4-FFF2-40B4-BE49-F238E27FC236}">
                <a16:creationId xmlns:a16="http://schemas.microsoft.com/office/drawing/2014/main" id="{4A0FAA7B-5F28-4D27-AF21-F990FCDB4967}"/>
              </a:ext>
            </a:extLst>
          </p:cNvPr>
          <p:cNvSpPr>
            <a:spLocks xmlns:a="http://schemas.openxmlformats.org/drawingml/2006/main" noGrp="1"/>
          </p:cNvSpPr>
          <p:nvPr/>
        </p:nvSpPr>
        <p:spPr>
          <a:xfrm xmlns:a="http://schemas.openxmlformats.org/drawingml/2006/main">
            <a:off x="762000" y="2095500"/>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c. Why do you think Peter and John healed the beggar physically instead of just either giving him money or offering him spiritual salvation?</a:t>
            </a:r>
          </a:p>
        </p:txBody>
      </p:sp>
      <p:sp>
        <p:nvSpPr>
          <p:cNvPr id="16" name="answer-label">
            <a:extLst xmlns:a="http://schemas.openxmlformats.org/drawingml/2006/main">
              <a:ext uri="{FF2B5EF4-FFF2-40B4-BE49-F238E27FC236}">
                <a16:creationId xmlns:a16="http://schemas.microsoft.com/office/drawing/2014/main" id="{2DCCC04F-B13E-4542-971A-59AD097B9AEF}"/>
              </a:ext>
            </a:extLst>
          </p:cNvPr>
          <p:cNvSpPr>
            <a:spLocks xmlns:a="http://schemas.openxmlformats.org/drawingml/2006/main" noGrp="1"/>
          </p:cNvSpPr>
          <p:nvPr/>
        </p:nvSpPr>
        <p:spPr>
          <a:xfrm xmlns:a="http://schemas.openxmlformats.org/drawingml/2006/main">
            <a:off x="762000" y="33909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 c</a:t>
            </a:r>
          </a:p>
        </p:txBody>
      </p:sp>
      <p:sp>
        <p:nvSpPr>
          <p:cNvPr id="17" name="answer">
            <a:extLst xmlns:a="http://schemas.openxmlformats.org/drawingml/2006/main">
              <a:ext uri="{FF2B5EF4-FFF2-40B4-BE49-F238E27FC236}">
                <a16:creationId xmlns:a16="http://schemas.microsoft.com/office/drawing/2014/main" id="{5584F331-4C95-44E2-84A6-0E6A9A3A1BBF}"/>
              </a:ext>
            </a:extLst>
          </p:cNvPr>
          <p:cNvSpPr>
            <a:spLocks xmlns:a="http://schemas.openxmlformats.org/drawingml/2006/main" noGrp="1"/>
          </p:cNvSpPr>
          <p:nvPr/>
        </p:nvSpPr>
        <p:spPr>
          <a:xfrm xmlns:a="http://schemas.openxmlformats.org/drawingml/2006/main">
            <a:off x="838200" y="390525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They met his physical need through Jesus’ authority.</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 act brought restoration and pointed people to Jesus.</a:t>
            </a:r>
          </a:p>
        </p:txBody>
      </p:sp>
    </p:spTree>
    <p:extLst>
      <p:ext uri="{BB962C8B-B14F-4D97-AF65-F5344CB8AC3E}">
        <p14:creationId xmlns:p14="http://schemas.microsoft.com/office/powerpoint/2010/main" val="1675771714"/>
      </p:ext>
    </p:extLst>
  </p:cSld>
</p:sld>
</file>

<file path=ppt/slides/slide10.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3A55149A-B065-4419-B839-DCBB18C8D1B0}"/>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24C0ED98-08D1-477B-93E9-883175CB8FF3}"/>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5CC55E6E-7542-4B4E-B4E6-8E25EB7E839E}"/>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60FBD847-F6D7-4E94-AF0B-033C1EAAD0B6}"/>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321451D4-84C1-4B2E-9200-350CB8314535}"/>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A5FBC2CA-D378-431E-840B-9CC52050C87E}"/>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3641826A-5ACB-4278-A685-72074C20FEF6}"/>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E91631E3-AEC8-42E0-9B78-127C0CC9B596}"/>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7978F6F0-DEFA-434E-A105-691057148C27}"/>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5FB5CF1D-2432-4A5E-9A1C-C4C734C6F124}"/>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5297F664-ACCA-46FC-9912-21C7D8D3BBDB}"/>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C0836826-17FC-47A0-A9E9-D3AF938C1FE2}"/>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E7C2621A-0FAD-4342-9684-ECCC2DE33DE3}"/>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10</a:t>
            </a:r>
          </a:p>
        </p:txBody>
      </p:sp>
      <p:sp>
        <p:nvSpPr>
          <p:cNvPr id="14" name="question-number">
            <a:extLst xmlns:a="http://schemas.openxmlformats.org/drawingml/2006/main">
              <a:ext uri="{FF2B5EF4-FFF2-40B4-BE49-F238E27FC236}">
                <a16:creationId xmlns:a16="http://schemas.microsoft.com/office/drawing/2014/main" id="{6698CDC4-D54B-415B-AC59-05A586437F7A}"/>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3</a:t>
            </a:r>
          </a:p>
        </p:txBody>
      </p:sp>
      <p:sp>
        <p:nvSpPr>
          <p:cNvPr id="15" name="question-text">
            <a:extLst xmlns:a="http://schemas.openxmlformats.org/drawingml/2006/main">
              <a:ext uri="{FF2B5EF4-FFF2-40B4-BE49-F238E27FC236}">
                <a16:creationId xmlns:a16="http://schemas.microsoft.com/office/drawing/2014/main" id="{0DA0CEF9-FC81-4541-8EA9-FB98681D753A}"/>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Does 3:1-10 set any example for our priorities or mission today? If so, how? If not, why not?</a:t>
            </a:r>
          </a:p>
        </p:txBody>
      </p:sp>
      <p:sp>
        <p:nvSpPr>
          <p:cNvPr id="16" name="question-accent">
            <a:extLst xmlns:a="http://schemas.openxmlformats.org/drawingml/2006/main">
              <a:ext uri="{FF2B5EF4-FFF2-40B4-BE49-F238E27FC236}">
                <a16:creationId xmlns:a16="http://schemas.microsoft.com/office/drawing/2014/main" id="{B675ED07-7678-4ED6-99F5-A5FFE8FAECEA}"/>
              </a:ext>
            </a:extLst>
          </p:cNvPr>
          <p:cNvSpPr>
            <a:spLocks xmlns:a="http://schemas.openxmlformats.org/drawingml/2006/main" noGrp="1"/>
          </p:cNvSpPr>
          <p:nvPr/>
        </p:nvSpPr>
        <p:spPr>
          <a:xfrm xmlns:a="http://schemas.openxmlformats.org/drawingml/2006/main">
            <a:off x="781050" y="3181350"/>
            <a:ext cx="800100" cy="28575"/>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7" name="support">
            <a:extLst xmlns:a="http://schemas.openxmlformats.org/drawingml/2006/main">
              <a:ext uri="{FF2B5EF4-FFF2-40B4-BE49-F238E27FC236}">
                <a16:creationId xmlns:a16="http://schemas.microsoft.com/office/drawing/2014/main" id="{5401A593-B461-46E2-BD31-F416A7722F7D}"/>
              </a:ext>
            </a:extLst>
          </p:cNvPr>
          <p:cNvSpPr>
            <a:spLocks xmlns:a="http://schemas.openxmlformats.org/drawingml/2006/main" noGrp="1"/>
          </p:cNvSpPr>
          <p:nvPr/>
        </p:nvSpPr>
        <p:spPr>
          <a:xfrm xmlns:a="http://schemas.openxmlformats.org/drawingml/2006/main">
            <a:off x="838200" y="3352800"/>
            <a:ext cx="10382250" cy="10568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Even if we don’t perform miraculous healings, how is 3:1-10 relevant to us?</a:t>
            </a:r>
          </a:p>
        </p:txBody>
      </p:sp>
    </p:spTree>
    <p:extLst>
      <p:ext uri="{BB962C8B-B14F-4D97-AF65-F5344CB8AC3E}">
        <p14:creationId xmlns:p14="http://schemas.microsoft.com/office/powerpoint/2010/main" val="271364703"/>
      </p:ext>
    </p:extLst>
  </p:cSld>
</p:sld>
</file>

<file path=ppt/slides/slide1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7" name="gold-frame">
            <a:extLst xmlns:a="http://schemas.openxmlformats.org/drawingml/2006/main">
              <a:ext uri="{FF2B5EF4-FFF2-40B4-BE49-F238E27FC236}">
                <a16:creationId xmlns:a16="http://schemas.microsoft.com/office/drawing/2014/main" id="{2408523A-C0AF-4AED-B7BD-BD7A5E2147FF}"/>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93A9DCCF-B7BF-4B1E-B23C-487EC4A6121C}"/>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A61783DF-31FE-434A-9560-1CB8D86CB2B4}"/>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4F06E70F-7948-4F33-845D-8638E65FDBE7}"/>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A29F2CE2-ABBE-4011-A06A-C339ED672C98}"/>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610FB402-5F67-400B-81F1-023949AF9AD0}"/>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4B903735-C044-4565-9124-4327BBFCBDBC}"/>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4E15BA78-9801-4A60-AA01-51933C1A7E8D}"/>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8EB5D2D5-6F36-484F-A8E8-5898FDDF08ED}"/>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57683F87-2F73-44C2-9560-A2F4EC0084B5}"/>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For Further Discussion: Miraculous healing today</a:t>
            </a:r>
          </a:p>
        </p:txBody>
      </p:sp>
      <p:sp>
        <p:nvSpPr>
          <p:cNvPr id="11" name="title-rule">
            <a:extLst xmlns:a="http://schemas.openxmlformats.org/drawingml/2006/main">
              <a:ext uri="{FF2B5EF4-FFF2-40B4-BE49-F238E27FC236}">
                <a16:creationId xmlns:a16="http://schemas.microsoft.com/office/drawing/2014/main" id="{B4D97760-38E6-4FE6-B20C-6AE2AAFF4BCF}"/>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4BB61E15-BEE2-448E-A7B8-193918128D92}"/>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20810CD2-D13D-421D-BAFA-C8F3F6C1AFE8}"/>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11</a:t>
            </a:r>
          </a:p>
        </p:txBody>
      </p:sp>
      <p:sp>
        <p:nvSpPr>
          <p:cNvPr id="14" name="central-question">
            <a:extLst xmlns:a="http://schemas.openxmlformats.org/drawingml/2006/main">
              <a:ext uri="{FF2B5EF4-FFF2-40B4-BE49-F238E27FC236}">
                <a16:creationId xmlns:a16="http://schemas.microsoft.com/office/drawing/2014/main" id="{E795751D-AC8C-4580-B599-7A436F728C7C}"/>
              </a:ext>
            </a:extLst>
          </p:cNvPr>
          <p:cNvSpPr>
            <a:spLocks xmlns:a="http://schemas.openxmlformats.org/drawingml/2006/main" noGrp="1"/>
          </p:cNvSpPr>
          <p:nvPr/>
        </p:nvSpPr>
        <p:spPr>
          <a:xfrm xmlns:a="http://schemas.openxmlformats.org/drawingml/2006/main">
            <a:off x="762000" y="150495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Does the Holy Spirit still empower miraculous healing today?</a:t>
            </a:r>
          </a:p>
        </p:txBody>
      </p:sp>
      <p:sp>
        <p:nvSpPr>
          <p:cNvPr id="15" name="biblical-context">
            <a:extLst xmlns:a="http://schemas.openxmlformats.org/drawingml/2006/main">
              <a:ext uri="{FF2B5EF4-FFF2-40B4-BE49-F238E27FC236}">
                <a16:creationId xmlns:a16="http://schemas.microsoft.com/office/drawing/2014/main" id="{AF5894DC-F0DF-4E28-A922-F8A9A26FC974}"/>
              </a:ext>
            </a:extLst>
          </p:cNvPr>
          <p:cNvSpPr>
            <a:spLocks xmlns:a="http://schemas.openxmlformats.org/drawingml/2006/main" noGrp="1"/>
          </p:cNvSpPr>
          <p:nvPr/>
        </p:nvSpPr>
        <p:spPr>
          <a:xfrm xmlns:a="http://schemas.openxmlformats.org/drawingml/2006/main">
            <a:off x="762000" y="2609850"/>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Acts 3 records an apostolic healing and asks what remains relevant for ministry today. (Acts 3:1–10)</a:t>
            </a:r>
          </a:p>
        </p:txBody>
      </p:sp>
      <p:sp>
        <p:nvSpPr>
          <p:cNvPr id="16" name="discussion-questions">
            <a:extLst xmlns:a="http://schemas.openxmlformats.org/drawingml/2006/main">
              <a:ext uri="{FF2B5EF4-FFF2-40B4-BE49-F238E27FC236}">
                <a16:creationId xmlns:a16="http://schemas.microsoft.com/office/drawing/2014/main" id="{7F661D6C-9AF1-4F3D-9A37-A51E75472972}"/>
              </a:ext>
            </a:extLst>
          </p:cNvPr>
          <p:cNvSpPr>
            <a:spLocks xmlns:a="http://schemas.openxmlformats.org/drawingml/2006/main" noGrp="1"/>
          </p:cNvSpPr>
          <p:nvPr/>
        </p:nvSpPr>
        <p:spPr>
          <a:xfrm xmlns:a="http://schemas.openxmlformats.org/drawingml/2006/main">
            <a:off x="838200" y="3676650"/>
            <a:ext cx="10382250" cy="2499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in this account seems unique to the apostles?</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parts of the account remain relevant for ministry today?</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How can Christians disagree respectfully while staying grounded in Scripture?</a:t>
            </a:r>
          </a:p>
        </p:txBody>
      </p:sp>
    </p:spTree>
    <p:extLst>
      <p:ext uri="{BB962C8B-B14F-4D97-AF65-F5344CB8AC3E}">
        <p14:creationId xmlns:p14="http://schemas.microsoft.com/office/powerpoint/2010/main" val="1009078943"/>
      </p:ext>
    </p:extLst>
  </p:cSld>
</p:sld>
</file>

<file path=ppt/slides/slide1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5382B84D-4068-4A11-A37E-84EBD48880C1}"/>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DD94C1C8-64DD-4488-8764-0DE17C63476E}"/>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F22AEAE0-4749-43EA-BE69-7CF0664D9B1C}"/>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5F55A027-ED4E-40E6-B12E-C40B76CB5018}"/>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30EFB3C8-3BFE-482F-8D02-F433E4A1B3A1}"/>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CE3DF1FE-B77B-4796-BEE3-1DA234BD6314}"/>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42651895-18A5-40D6-B059-E421B36FE89E}"/>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92164FEB-741F-4A4B-A934-A9465D795B06}"/>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E4617492-D907-4180-873D-F3139BEAEE41}"/>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B5F1B70C-6762-4722-90E2-4A3A117BBEDC}"/>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Healing (3:1–10)</a:t>
            </a:r>
          </a:p>
        </p:txBody>
      </p:sp>
      <p:sp>
        <p:nvSpPr>
          <p:cNvPr id="11" name="title-rule">
            <a:extLst xmlns:a="http://schemas.openxmlformats.org/drawingml/2006/main">
              <a:ext uri="{FF2B5EF4-FFF2-40B4-BE49-F238E27FC236}">
                <a16:creationId xmlns:a16="http://schemas.microsoft.com/office/drawing/2014/main" id="{477935AF-851B-48AA-BD60-01E72A888716}"/>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F1D56C97-A37D-4231-B0DF-CB453A5A9998}"/>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784303FF-5434-469A-AC2F-54AF55180EBA}"/>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12</a:t>
            </a:r>
          </a:p>
        </p:txBody>
      </p:sp>
      <p:sp>
        <p:nvSpPr>
          <p:cNvPr id="14" name="question-number">
            <a:extLst xmlns:a="http://schemas.openxmlformats.org/drawingml/2006/main">
              <a:ext uri="{FF2B5EF4-FFF2-40B4-BE49-F238E27FC236}">
                <a16:creationId xmlns:a16="http://schemas.microsoft.com/office/drawing/2014/main" id="{DCAD99D9-BDFC-4724-BA71-22FEC1BF6CF2}"/>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3</a:t>
            </a:r>
          </a:p>
        </p:txBody>
      </p:sp>
      <p:sp>
        <p:nvSpPr>
          <p:cNvPr id="15" name="question-text">
            <a:extLst xmlns:a="http://schemas.openxmlformats.org/drawingml/2006/main">
              <a:ext uri="{FF2B5EF4-FFF2-40B4-BE49-F238E27FC236}">
                <a16:creationId xmlns:a16="http://schemas.microsoft.com/office/drawing/2014/main" id="{7FA24510-F3D6-4116-AFAC-3D9B2420AE95}"/>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Does 3:1-10 set any example for our priorities or mission today? If so, how? If not, why not?</a:t>
            </a:r>
          </a:p>
        </p:txBody>
      </p:sp>
      <p:sp>
        <p:nvSpPr>
          <p:cNvPr id="16" name="answer-label">
            <a:extLst xmlns:a="http://schemas.openxmlformats.org/drawingml/2006/main">
              <a:ext uri="{FF2B5EF4-FFF2-40B4-BE49-F238E27FC236}">
                <a16:creationId xmlns:a16="http://schemas.microsoft.com/office/drawing/2014/main" id="{C8D6D5B9-9244-4989-BEB0-91965DA49CA9}"/>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F69F8B67-EC2E-4C24-A291-3EF96FEB9FE4}"/>
              </a:ext>
            </a:extLst>
          </p:cNvPr>
          <p:cNvSpPr>
            <a:spLocks xmlns:a="http://schemas.openxmlformats.org/drawingml/2006/main" noGrp="1"/>
          </p:cNvSpPr>
          <p:nvPr/>
        </p:nvSpPr>
        <p:spPr>
          <a:xfrm xmlns:a="http://schemas.openxmlformats.org/drawingml/2006/main">
            <a:off x="838200" y="4229100"/>
            <a:ext cx="10382250" cy="15758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Possible applications: attend to people’s needs and point to Jesus.</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Give God the praise; consider how this shapes our mission.</a:t>
            </a:r>
          </a:p>
        </p:txBody>
      </p:sp>
    </p:spTree>
    <p:extLst>
      <p:ext uri="{BB962C8B-B14F-4D97-AF65-F5344CB8AC3E}">
        <p14:creationId xmlns:p14="http://schemas.microsoft.com/office/powerpoint/2010/main" val="533664103"/>
      </p:ext>
    </p:extLst>
  </p:cSld>
</p:sld>
</file>

<file path=ppt/slides/slide1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6" name="gold-frame">
            <a:extLst xmlns:a="http://schemas.openxmlformats.org/drawingml/2006/main">
              <a:ext uri="{FF2B5EF4-FFF2-40B4-BE49-F238E27FC236}">
                <a16:creationId xmlns:a16="http://schemas.microsoft.com/office/drawing/2014/main" id="{2D103DF0-D85D-4480-9122-7D5573EDE53E}"/>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1ED65CF0-414D-4930-B00E-2FDFE5801106}"/>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B3020277-533B-4BD0-A0E9-4ADC54C22FA1}"/>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67D1CA59-5C6F-499F-A416-7FD63665B9ED}"/>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5C2A821A-5084-4148-95F5-EDE7D3339928}"/>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3BE28042-2BA3-4BDE-865C-167FA1F876CD}"/>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728FE281-ECE9-43ED-9690-5E36B0BFC187}"/>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7CBE7BD5-008B-4D4E-95A9-E42B2401EDFA}"/>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CA3A2860-254D-47A1-8F8F-29071E71108E}"/>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78CAC812-6675-46E2-ABE5-AF59F48AA7BF}"/>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826A8162-EDC6-4626-AFD8-C28C141A2C4B}"/>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CEA0D6B4-ACDB-46FC-A1FE-179555070D72}"/>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06605A13-979B-488D-B93B-2AF631E38ED4}"/>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13</a:t>
            </a:r>
          </a:p>
        </p:txBody>
      </p:sp>
      <p:sp>
        <p:nvSpPr>
          <p:cNvPr id="14" name="question-number">
            <a:extLst xmlns:a="http://schemas.openxmlformats.org/drawingml/2006/main">
              <a:ext uri="{FF2B5EF4-FFF2-40B4-BE49-F238E27FC236}">
                <a16:creationId xmlns:a16="http://schemas.microsoft.com/office/drawing/2014/main" id="{0A23B1BE-97B9-4F19-821B-2EC9DC11137A}"/>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4</a:t>
            </a:r>
          </a:p>
        </p:txBody>
      </p:sp>
      <p:sp>
        <p:nvSpPr>
          <p:cNvPr id="15" name="question-text">
            <a:extLst xmlns:a="http://schemas.openxmlformats.org/drawingml/2006/main">
              <a:ext uri="{FF2B5EF4-FFF2-40B4-BE49-F238E27FC236}">
                <a16:creationId xmlns:a16="http://schemas.microsoft.com/office/drawing/2014/main" id="{53EF7AE7-0A7F-4809-8CF1-388B769BB29A}"/>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According to Peter, how was this healing possible (see 3:16)?</a:t>
            </a:r>
          </a:p>
        </p:txBody>
      </p:sp>
    </p:spTree>
    <p:extLst>
      <p:ext uri="{BB962C8B-B14F-4D97-AF65-F5344CB8AC3E}">
        <p14:creationId xmlns:p14="http://schemas.microsoft.com/office/powerpoint/2010/main" val="115135306"/>
      </p:ext>
    </p:extLst>
  </p:cSld>
</p:sld>
</file>

<file path=ppt/slides/slide1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2DD374C5-9CA1-45E5-BC3E-B6F819BDF2F3}"/>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7A882041-E2AE-464E-96EA-E18F74A69B26}"/>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5BB3ECA5-47F4-4C54-BD4E-DC9EC0BC19FC}"/>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D3672969-4C41-4CD8-9453-C18094A7C799}"/>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09F914B7-CDC9-484E-8EDD-B21C969C1BC7}"/>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D7A81B8C-97B1-473B-A025-6362ED0D207D}"/>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C2B11FC5-F9FC-44AC-91DA-CC07183943DF}"/>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039172D3-D6B3-42F8-810D-B26BAB6C8FCB}"/>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8ABE5522-3C96-43CC-B333-00922FA2F1FE}"/>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85442630-396E-4BD0-B33F-DC78FC4ED7BB}"/>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CF8C3195-D8CE-48C0-AFB2-F480DD544C1D}"/>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24A6BB58-0437-4E61-8261-1D03887240E4}"/>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8C9DD508-C0ED-462A-91BF-C654C020A904}"/>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14</a:t>
            </a:r>
          </a:p>
        </p:txBody>
      </p:sp>
      <p:sp>
        <p:nvSpPr>
          <p:cNvPr id="14" name="question-number">
            <a:extLst xmlns:a="http://schemas.openxmlformats.org/drawingml/2006/main">
              <a:ext uri="{FF2B5EF4-FFF2-40B4-BE49-F238E27FC236}">
                <a16:creationId xmlns:a16="http://schemas.microsoft.com/office/drawing/2014/main" id="{E6A764B8-7396-4508-8157-ED6438BB42D5}"/>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4</a:t>
            </a:r>
          </a:p>
        </p:txBody>
      </p:sp>
      <p:sp>
        <p:nvSpPr>
          <p:cNvPr id="15" name="question-text">
            <a:extLst xmlns:a="http://schemas.openxmlformats.org/drawingml/2006/main">
              <a:ext uri="{FF2B5EF4-FFF2-40B4-BE49-F238E27FC236}">
                <a16:creationId xmlns:a16="http://schemas.microsoft.com/office/drawing/2014/main" id="{FC855E38-27C6-4A37-B29E-F526D1C51873}"/>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According to Peter, how was this healing possible (see 3:16)?</a:t>
            </a:r>
          </a:p>
        </p:txBody>
      </p:sp>
      <p:sp>
        <p:nvSpPr>
          <p:cNvPr id="16" name="answer-label">
            <a:extLst xmlns:a="http://schemas.openxmlformats.org/drawingml/2006/main">
              <a:ext uri="{FF2B5EF4-FFF2-40B4-BE49-F238E27FC236}">
                <a16:creationId xmlns:a16="http://schemas.microsoft.com/office/drawing/2014/main" id="{FC33FE9C-104D-443B-82D3-4235E37EA2CC}"/>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C7AA21BE-D375-48A6-A804-C991C3C49EB4}"/>
              </a:ext>
            </a:extLst>
          </p:cNvPr>
          <p:cNvSpPr>
            <a:spLocks xmlns:a="http://schemas.openxmlformats.org/drawingml/2006/main" noGrp="1"/>
          </p:cNvSpPr>
          <p:nvPr/>
        </p:nvSpPr>
        <p:spPr>
          <a:xfrm xmlns:a="http://schemas.openxmlformats.org/drawingml/2006/main">
            <a:off x="838200" y="4229100"/>
            <a:ext cx="10382250" cy="10568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Jesus’ name—and faith that comes through Him—made the man strong.</a:t>
            </a:r>
          </a:p>
        </p:txBody>
      </p:sp>
    </p:spTree>
    <p:extLst>
      <p:ext uri="{BB962C8B-B14F-4D97-AF65-F5344CB8AC3E}">
        <p14:creationId xmlns:p14="http://schemas.microsoft.com/office/powerpoint/2010/main" val="1060133707"/>
      </p:ext>
    </p:extLst>
  </p:cSld>
</p:sld>
</file>

<file path=ppt/slides/slide1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1916F0AF-4A02-4C66-B351-8DE6501FD8C7}"/>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93B4E5FF-D132-4F46-BE9E-C81EF9C4F6B5}"/>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1F83D1D5-E937-4F5A-B2AE-6C728CB703F7}"/>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6342A052-AB27-46CC-81D8-A836C1F1AF2B}"/>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5B0735D5-1A55-4983-832A-798F3E673057}"/>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D0C246F5-6DF1-430E-A7F5-C0C63472E8ED}"/>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9971E221-5DD7-4D33-9CBB-94C06EDA0D69}"/>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3CFA6C15-E392-41D1-9838-9D7759B01C6E}"/>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252A9D16-652A-413A-8261-D37B577BC4D8}"/>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B6791EFE-B2F7-4EC7-B629-9314A1645509}"/>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5B18370C-4679-47A1-81B4-1FF0B48C998A}"/>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A97F5EC2-92C8-472C-BA24-47957D8A54A9}"/>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382B7B37-5C9E-4807-98EF-9F77E5EE05F1}"/>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15</a:t>
            </a:r>
          </a:p>
        </p:txBody>
      </p:sp>
      <p:sp>
        <p:nvSpPr>
          <p:cNvPr id="14" name="question-number">
            <a:extLst xmlns:a="http://schemas.openxmlformats.org/drawingml/2006/main">
              <a:ext uri="{FF2B5EF4-FFF2-40B4-BE49-F238E27FC236}">
                <a16:creationId xmlns:a16="http://schemas.microsoft.com/office/drawing/2014/main" id="{B2F078E5-C7BA-4357-9D72-51D712037495}"/>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5</a:t>
            </a:r>
          </a:p>
        </p:txBody>
      </p:sp>
      <p:sp>
        <p:nvSpPr>
          <p:cNvPr id="15" name="question-text">
            <a:extLst xmlns:a="http://schemas.openxmlformats.org/drawingml/2006/main">
              <a:ext uri="{FF2B5EF4-FFF2-40B4-BE49-F238E27FC236}">
                <a16:creationId xmlns:a16="http://schemas.microsoft.com/office/drawing/2014/main" id="{400D8B6E-FF00-4D19-8424-77B8A434FA4D}"/>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Why is it important for us that the apostles did not need their own power or exceptional godliness to heal the beggar (see 3:12)?</a:t>
            </a:r>
          </a:p>
        </p:txBody>
      </p:sp>
      <p:sp>
        <p:nvSpPr>
          <p:cNvPr id="16" name="question-accent">
            <a:extLst xmlns:a="http://schemas.openxmlformats.org/drawingml/2006/main">
              <a:ext uri="{FF2B5EF4-FFF2-40B4-BE49-F238E27FC236}">
                <a16:creationId xmlns:a16="http://schemas.microsoft.com/office/drawing/2014/main" id="{F525F969-ABC4-4734-8D88-C6291C2D6958}"/>
              </a:ext>
            </a:extLst>
          </p:cNvPr>
          <p:cNvSpPr>
            <a:spLocks xmlns:a="http://schemas.openxmlformats.org/drawingml/2006/main" noGrp="1"/>
          </p:cNvSpPr>
          <p:nvPr/>
        </p:nvSpPr>
        <p:spPr>
          <a:xfrm xmlns:a="http://schemas.openxmlformats.org/drawingml/2006/main">
            <a:off x="781050" y="3181350"/>
            <a:ext cx="800100" cy="28575"/>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7" name="support">
            <a:extLst xmlns:a="http://schemas.openxmlformats.org/drawingml/2006/main">
              <a:ext uri="{FF2B5EF4-FFF2-40B4-BE49-F238E27FC236}">
                <a16:creationId xmlns:a16="http://schemas.microsoft.com/office/drawing/2014/main" id="{0AB91EBD-5812-4DBF-B3B2-2865DD8282FF}"/>
              </a:ext>
            </a:extLst>
          </p:cNvPr>
          <p:cNvSpPr>
            <a:spLocks xmlns:a="http://schemas.openxmlformats.org/drawingml/2006/main" noGrp="1"/>
          </p:cNvSpPr>
          <p:nvPr/>
        </p:nvSpPr>
        <p:spPr>
          <a:xfrm xmlns:a="http://schemas.openxmlformats.org/drawingml/2006/main">
            <a:off x="838200" y="3352800"/>
            <a:ext cx="10382250" cy="10568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are the advantages and disadvantages of attracting people through miracles?</a:t>
            </a:r>
          </a:p>
        </p:txBody>
      </p:sp>
    </p:spTree>
    <p:extLst>
      <p:ext uri="{BB962C8B-B14F-4D97-AF65-F5344CB8AC3E}">
        <p14:creationId xmlns:p14="http://schemas.microsoft.com/office/powerpoint/2010/main" val="1409021139"/>
      </p:ext>
    </p:extLst>
  </p:cSld>
</p:sld>
</file>

<file path=ppt/slides/slide1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B9EAAFE6-2072-4093-96B6-DAF3CE8838A9}"/>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7AE2B4DE-C7A9-496A-AC64-E4C3A546AB82}"/>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866B5D45-87F7-41F9-97E2-5F456E5B38DE}"/>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9A25CD63-7890-4BE9-ADEB-5C0127C2F6D3}"/>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B2B74692-711F-4C2F-97EE-205BCE0B1082}"/>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18832A0C-F0D1-48A5-93E5-F751535E7838}"/>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A4271663-816D-42C9-B046-D09599669A5A}"/>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909466CC-3BEB-4DA3-B9B0-144A221D9681}"/>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42A0757F-C9B2-4F2D-80EB-B67419957025}"/>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B386FB9E-E8DE-4E06-8EFE-3A913341B5DC}"/>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CD75A62E-42E0-4A27-A80A-6891CF4E8797}"/>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15CB5E33-57B7-4FC6-9ABD-2475D98B36D4}"/>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0837B209-9C7C-450A-8476-311832FE4782}"/>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16</a:t>
            </a:r>
          </a:p>
        </p:txBody>
      </p:sp>
      <p:sp>
        <p:nvSpPr>
          <p:cNvPr id="14" name="question-number">
            <a:extLst xmlns:a="http://schemas.openxmlformats.org/drawingml/2006/main">
              <a:ext uri="{FF2B5EF4-FFF2-40B4-BE49-F238E27FC236}">
                <a16:creationId xmlns:a16="http://schemas.microsoft.com/office/drawing/2014/main" id="{C21322DA-B730-4D18-9ABC-15B0B66E0219}"/>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5</a:t>
            </a:r>
          </a:p>
        </p:txBody>
      </p:sp>
      <p:sp>
        <p:nvSpPr>
          <p:cNvPr id="15" name="question-text">
            <a:extLst xmlns:a="http://schemas.openxmlformats.org/drawingml/2006/main">
              <a:ext uri="{FF2B5EF4-FFF2-40B4-BE49-F238E27FC236}">
                <a16:creationId xmlns:a16="http://schemas.microsoft.com/office/drawing/2014/main" id="{515973BF-64B2-4F43-9E14-3A733327C40C}"/>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Why is it important for us that the apostles did not need their own power or exceptional godliness to heal the beggar (see 3:12)?</a:t>
            </a:r>
          </a:p>
        </p:txBody>
      </p:sp>
      <p:sp>
        <p:nvSpPr>
          <p:cNvPr id="16" name="answer-label">
            <a:extLst xmlns:a="http://schemas.openxmlformats.org/drawingml/2006/main">
              <a:ext uri="{FF2B5EF4-FFF2-40B4-BE49-F238E27FC236}">
                <a16:creationId xmlns:a16="http://schemas.microsoft.com/office/drawing/2014/main" id="{782E4119-AA09-4B59-9E4E-AE7534A49F1D}"/>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E0A1A145-5BB9-40EE-B959-D565E16987D8}"/>
              </a:ext>
            </a:extLst>
          </p:cNvPr>
          <p:cNvSpPr>
            <a:spLocks xmlns:a="http://schemas.openxmlformats.org/drawingml/2006/main" noGrp="1"/>
          </p:cNvSpPr>
          <p:nvPr/>
        </p:nvSpPr>
        <p:spPr>
          <a:xfrm xmlns:a="http://schemas.openxmlformats.org/drawingml/2006/main">
            <a:off x="838200" y="422910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 power belonged to Jesus, not to exceptional people.</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We depend on Him and give Him the credit.</a:t>
            </a:r>
          </a:p>
        </p:txBody>
      </p:sp>
    </p:spTree>
    <p:extLst>
      <p:ext uri="{BB962C8B-B14F-4D97-AF65-F5344CB8AC3E}">
        <p14:creationId xmlns:p14="http://schemas.microsoft.com/office/powerpoint/2010/main" val="1541217133"/>
      </p:ext>
    </p:extLst>
  </p:cSld>
</p:sld>
</file>

<file path=ppt/slides/slide17.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2A968CC9-3029-4183-BD61-FA6434DC1CE9}"/>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70048CA7-502B-4712-9AAF-5023BF4D28A6}"/>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51BC98D8-482A-412E-B512-A7D5DBEA215D}"/>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C95CEC12-B0DC-456A-9AD8-E46657686942}"/>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93454CA7-2FE2-4E66-82E6-6708ADE17434}"/>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23CD4202-C6D0-43C3-9165-DBFCA595F9C3}"/>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C23EA1AE-6093-46D5-8777-191B0E34B0C0}"/>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8ACA9BC6-03CD-4BFC-9436-0DDA0B37A714}"/>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B949BE62-19EA-47ED-916D-8F9CA9735E98}"/>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144E7A39-94F7-4FBE-B850-E4A35194D211}"/>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6E1FDCB7-8ECD-410E-83E8-672889F608D5}"/>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0D9D24A1-E1F7-4AF3-A9EC-D84908C60C84}"/>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AC2A2E23-7035-4EF1-BE6A-1FF27629065E}"/>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17</a:t>
            </a:r>
          </a:p>
        </p:txBody>
      </p:sp>
      <p:sp>
        <p:nvSpPr>
          <p:cNvPr id="14" name="question-number">
            <a:extLst xmlns:a="http://schemas.openxmlformats.org/drawingml/2006/main">
              <a:ext uri="{FF2B5EF4-FFF2-40B4-BE49-F238E27FC236}">
                <a16:creationId xmlns:a16="http://schemas.microsoft.com/office/drawing/2014/main" id="{C417C322-2F00-4AE2-8D5D-81DC6FD2FB43}"/>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6</a:t>
            </a:r>
          </a:p>
        </p:txBody>
      </p:sp>
      <p:sp>
        <p:nvSpPr>
          <p:cNvPr id="15" name="question-text">
            <a:extLst xmlns:a="http://schemas.openxmlformats.org/drawingml/2006/main">
              <a:ext uri="{FF2B5EF4-FFF2-40B4-BE49-F238E27FC236}">
                <a16:creationId xmlns:a16="http://schemas.microsoft.com/office/drawing/2014/main" id="{B960C10F-4149-46F7-BB13-AE9AFB27CBD6}"/>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How did Peter describe Jesus in this speech (see 3:13-15,22)?</a:t>
            </a:r>
          </a:p>
        </p:txBody>
      </p:sp>
      <p:sp>
        <p:nvSpPr>
          <p:cNvPr id="16" name="question-accent">
            <a:extLst xmlns:a="http://schemas.openxmlformats.org/drawingml/2006/main">
              <a:ext uri="{FF2B5EF4-FFF2-40B4-BE49-F238E27FC236}">
                <a16:creationId xmlns:a16="http://schemas.microsoft.com/office/drawing/2014/main" id="{E65EC98A-9F8A-46A2-83B7-38271D703F72}"/>
              </a:ext>
            </a:extLst>
          </p:cNvPr>
          <p:cNvSpPr>
            <a:spLocks xmlns:a="http://schemas.openxmlformats.org/drawingml/2006/main" noGrp="1"/>
          </p:cNvSpPr>
          <p:nvPr/>
        </p:nvSpPr>
        <p:spPr>
          <a:xfrm xmlns:a="http://schemas.openxmlformats.org/drawingml/2006/main">
            <a:off x="781050" y="2838450"/>
            <a:ext cx="800100" cy="28575"/>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7" name="support">
            <a:extLst xmlns:a="http://schemas.openxmlformats.org/drawingml/2006/main">
              <a:ext uri="{FF2B5EF4-FFF2-40B4-BE49-F238E27FC236}">
                <a16:creationId xmlns:a16="http://schemas.microsoft.com/office/drawing/2014/main" id="{75330065-D69D-4989-A0AC-85A30D9B54B5}"/>
              </a:ext>
            </a:extLst>
          </p:cNvPr>
          <p:cNvSpPr>
            <a:spLocks xmlns:a="http://schemas.openxmlformats.org/drawingml/2006/main" noGrp="1"/>
          </p:cNvSpPr>
          <p:nvPr/>
        </p:nvSpPr>
        <p:spPr>
          <a:xfrm xmlns:a="http://schemas.openxmlformats.org/drawingml/2006/main">
            <a:off x="838200" y="3009900"/>
            <a:ext cx="10382250" cy="10568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event showed that God regarded Jesus as holy and righteous? (3:15)</a:t>
            </a:r>
          </a:p>
        </p:txBody>
      </p:sp>
    </p:spTree>
    <p:extLst>
      <p:ext uri="{BB962C8B-B14F-4D97-AF65-F5344CB8AC3E}">
        <p14:creationId xmlns:p14="http://schemas.microsoft.com/office/powerpoint/2010/main" val="1080918220"/>
      </p:ext>
    </p:extLst>
  </p:cSld>
</p:sld>
</file>

<file path=ppt/slides/slide18.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2276A9CC-9C6F-43A6-B0C9-4679CF076A12}"/>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6E400DDE-5E19-4DEF-A504-8D016FADED99}"/>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D7574232-9616-4B26-8614-B6AFE6C99CD2}"/>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0EE50D1A-7B65-472D-B5F6-A762B3C1B9D3}"/>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BD893C41-344B-4711-9D39-BCDC9172A9EE}"/>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02297B6B-05DA-4DD2-A4D4-E674F504133F}"/>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FAAF5338-83FC-42C8-9BD1-EC0C1FBE2A94}"/>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0048979F-3D51-4EB2-8A46-A8FA21D260AA}"/>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9CC6DD3D-FBF7-446E-87F2-9B02C42E6443}"/>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6CADC06F-7690-4F16-820C-BA5AAE62BE11}"/>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D6095B56-B3CA-4CEF-B0CE-184BA562D9E7}"/>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24176E88-9B56-4A59-A0C7-A036470FE9B8}"/>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D7BF669A-37EF-474B-8C82-718DF779ECF9}"/>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18</a:t>
            </a:r>
          </a:p>
        </p:txBody>
      </p:sp>
      <p:sp>
        <p:nvSpPr>
          <p:cNvPr id="14" name="question-number">
            <a:extLst xmlns:a="http://schemas.openxmlformats.org/drawingml/2006/main">
              <a:ext uri="{FF2B5EF4-FFF2-40B4-BE49-F238E27FC236}">
                <a16:creationId xmlns:a16="http://schemas.microsoft.com/office/drawing/2014/main" id="{92ABE458-2F70-431F-861E-95963FA895C1}"/>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6</a:t>
            </a:r>
          </a:p>
        </p:txBody>
      </p:sp>
      <p:sp>
        <p:nvSpPr>
          <p:cNvPr id="15" name="question-text">
            <a:extLst xmlns:a="http://schemas.openxmlformats.org/drawingml/2006/main">
              <a:ext uri="{FF2B5EF4-FFF2-40B4-BE49-F238E27FC236}">
                <a16:creationId xmlns:a16="http://schemas.microsoft.com/office/drawing/2014/main" id="{C7EF8C52-B87A-4557-832E-5F3D50BA5FE4}"/>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How did Peter describe Jesus in this speech (see 3:13-15,22)?</a:t>
            </a:r>
          </a:p>
        </p:txBody>
      </p:sp>
      <p:sp>
        <p:nvSpPr>
          <p:cNvPr id="16" name="answer-label">
            <a:extLst xmlns:a="http://schemas.openxmlformats.org/drawingml/2006/main">
              <a:ext uri="{FF2B5EF4-FFF2-40B4-BE49-F238E27FC236}">
                <a16:creationId xmlns:a16="http://schemas.microsoft.com/office/drawing/2014/main" id="{86B2A282-1256-405A-BEBE-D0C783EA6625}"/>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C3F33FDB-9C24-48A1-A4C9-55B68F9CC9CB}"/>
              </a:ext>
            </a:extLst>
          </p:cNvPr>
          <p:cNvSpPr>
            <a:spLocks xmlns:a="http://schemas.openxmlformats.org/drawingml/2006/main" noGrp="1"/>
          </p:cNvSpPr>
          <p:nvPr/>
        </p:nvSpPr>
        <p:spPr>
          <a:xfrm xmlns:a="http://schemas.openxmlformats.org/drawingml/2006/main">
            <a:off x="838200" y="422910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God’s Servant; the Holy and Righteous One.</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 Author (or Prince) of Life; the Prophet like Moses.</a:t>
            </a:r>
          </a:p>
        </p:txBody>
      </p:sp>
    </p:spTree>
    <p:extLst>
      <p:ext uri="{BB962C8B-B14F-4D97-AF65-F5344CB8AC3E}">
        <p14:creationId xmlns:p14="http://schemas.microsoft.com/office/powerpoint/2010/main" val="1407547792"/>
      </p:ext>
    </p:extLst>
  </p:cSld>
</p:sld>
</file>

<file path=ppt/slides/slide19.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6" name="gold-frame">
            <a:extLst xmlns:a="http://schemas.openxmlformats.org/drawingml/2006/main">
              <a:ext uri="{FF2B5EF4-FFF2-40B4-BE49-F238E27FC236}">
                <a16:creationId xmlns:a16="http://schemas.microsoft.com/office/drawing/2014/main" id="{D28B3990-44A5-420A-965A-5A4954AC503B}"/>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32DF1473-F082-417E-B7C9-6C2C1CF83844}"/>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2B8B0CFC-4D72-4DB4-8329-DC3CBE061857}"/>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798D55A5-98C8-4433-9CB2-66EE48E85A21}"/>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351AE73A-E5A4-4F6B-8D94-728C7C6AED68}"/>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0F7742E7-1D90-4FDC-B2F4-245042C2E25B}"/>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96847C83-A925-41A4-90D7-E7A882FAA40F}"/>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91628FCE-CEF0-445A-A162-8647BBE62DA4}"/>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472AC35B-C4F4-4FE2-953F-325A3DE20574}"/>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1D964197-9F59-4C7B-8668-C35C31246C69}"/>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384301C6-7F33-4782-A8D6-0624B6D1D02C}"/>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90A0FC03-B5FA-4AC5-A652-77F1D5622628}"/>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4BB76F7C-AE42-4735-A348-9F9527C1269B}"/>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19</a:t>
            </a:r>
          </a:p>
        </p:txBody>
      </p:sp>
      <p:sp>
        <p:nvSpPr>
          <p:cNvPr id="14" name="question-number">
            <a:extLst xmlns:a="http://schemas.openxmlformats.org/drawingml/2006/main">
              <a:ext uri="{FF2B5EF4-FFF2-40B4-BE49-F238E27FC236}">
                <a16:creationId xmlns:a16="http://schemas.microsoft.com/office/drawing/2014/main" id="{EC3AFB96-FC26-4DD3-878A-DBE55ABA58FC}"/>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7</a:t>
            </a:r>
          </a:p>
        </p:txBody>
      </p:sp>
      <p:sp>
        <p:nvSpPr>
          <p:cNvPr id="15" name="question-text">
            <a:extLst xmlns:a="http://schemas.openxmlformats.org/drawingml/2006/main">
              <a:ext uri="{FF2B5EF4-FFF2-40B4-BE49-F238E27FC236}">
                <a16:creationId xmlns:a16="http://schemas.microsoft.com/office/drawing/2014/main" id="{9DB31309-DE5A-488D-98B6-90D6B5858842}"/>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In what senses is Jesus “the author of life” (Acts 3:15) or “the Prince of life” (KJV, NASB)?</a:t>
            </a:r>
          </a:p>
        </p:txBody>
      </p:sp>
    </p:spTree>
    <p:extLst>
      <p:ext uri="{BB962C8B-B14F-4D97-AF65-F5344CB8AC3E}">
        <p14:creationId xmlns:p14="http://schemas.microsoft.com/office/powerpoint/2010/main" val="1502363283"/>
      </p:ext>
    </p:extLst>
  </p:cSld>
</p:sld>
</file>

<file path=ppt/slides/slide20.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57C0A6E5-BCE4-44E3-BD0F-858722C11E2C}"/>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ECC2073C-1DE6-4B2F-B9FB-87E78FB98E6F}"/>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E703DED1-6926-411D-85E5-566388B53124}"/>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BBA7D924-BCDE-413D-BB75-259307673EEB}"/>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2B9AFAF8-B96B-49B1-B374-0981E617E452}"/>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8F5C4710-9F58-4412-9891-C062AAB5B2DA}"/>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442857D4-E580-42CB-9C0E-C12C9B7D17D5}"/>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E3F7C667-CC4C-4CEC-96DF-20C45FBC3B31}"/>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50BE3F80-4EB9-49B1-B342-0F59CC8D1867}"/>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504DE587-D7F9-4F3A-A307-FE6F46846F5C}"/>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C92FB674-49A7-493F-B311-7BF5ED3E5EE3}"/>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05FCC039-D44F-47D0-B87B-26FBC64F3F42}"/>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06AB9170-B1CA-486B-9AB9-E1ABD80BF2DA}"/>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20</a:t>
            </a:r>
          </a:p>
        </p:txBody>
      </p:sp>
      <p:sp>
        <p:nvSpPr>
          <p:cNvPr id="14" name="question-number">
            <a:extLst xmlns:a="http://schemas.openxmlformats.org/drawingml/2006/main">
              <a:ext uri="{FF2B5EF4-FFF2-40B4-BE49-F238E27FC236}">
                <a16:creationId xmlns:a16="http://schemas.microsoft.com/office/drawing/2014/main" id="{FED82F37-683A-454E-BC31-5F5D336D407D}"/>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7</a:t>
            </a:r>
          </a:p>
        </p:txBody>
      </p:sp>
      <p:sp>
        <p:nvSpPr>
          <p:cNvPr id="15" name="question-text">
            <a:extLst xmlns:a="http://schemas.openxmlformats.org/drawingml/2006/main">
              <a:ext uri="{FF2B5EF4-FFF2-40B4-BE49-F238E27FC236}">
                <a16:creationId xmlns:a16="http://schemas.microsoft.com/office/drawing/2014/main" id="{8B939A7E-7D83-440C-91EF-93F9AA4DDA1B}"/>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In what senses is Jesus “the author of life” (Acts 3:15) or “the Prince of life” (KJV, NASB)?</a:t>
            </a:r>
          </a:p>
        </p:txBody>
      </p:sp>
      <p:sp>
        <p:nvSpPr>
          <p:cNvPr id="16" name="answer-label">
            <a:extLst xmlns:a="http://schemas.openxmlformats.org/drawingml/2006/main">
              <a:ext uri="{FF2B5EF4-FFF2-40B4-BE49-F238E27FC236}">
                <a16:creationId xmlns:a16="http://schemas.microsoft.com/office/drawing/2014/main" id="{0C8DEED1-B36F-4F41-8357-AC9F55A09ED3}"/>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14FBAA15-673F-407B-8D0C-637433AE245B}"/>
              </a:ext>
            </a:extLst>
          </p:cNvPr>
          <p:cNvSpPr>
            <a:spLocks xmlns:a="http://schemas.openxmlformats.org/drawingml/2006/main" noGrp="1"/>
          </p:cNvSpPr>
          <p:nvPr/>
        </p:nvSpPr>
        <p:spPr>
          <a:xfrm xmlns:a="http://schemas.openxmlformats.org/drawingml/2006/main">
            <a:off x="838200" y="422910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Life comes through Him.</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He overcomes death and gives eternal life.</a:t>
            </a:r>
          </a:p>
        </p:txBody>
      </p:sp>
    </p:spTree>
    <p:extLst>
      <p:ext uri="{BB962C8B-B14F-4D97-AF65-F5344CB8AC3E}">
        <p14:creationId xmlns:p14="http://schemas.microsoft.com/office/powerpoint/2010/main" val="1296412045"/>
      </p:ext>
    </p:extLst>
  </p:cSld>
</p:sld>
</file>

<file path=ppt/slides/slide2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6" name="gold-frame">
            <a:extLst xmlns:a="http://schemas.openxmlformats.org/drawingml/2006/main">
              <a:ext uri="{FF2B5EF4-FFF2-40B4-BE49-F238E27FC236}">
                <a16:creationId xmlns:a16="http://schemas.microsoft.com/office/drawing/2014/main" id="{BE1D4BD5-F511-430D-90DE-F4403D5282B9}"/>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6CBA33D8-FE9E-4DB8-8215-0D85086A9541}"/>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2FD820E1-57D9-4B5A-8C5F-7ABA8C895E6F}"/>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3F2FB71B-08F8-4AA5-B255-1BA54EB8BD36}"/>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CED0A75C-7C20-44BA-A1DA-AC3154E8B9EA}"/>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CDAA3C9B-011E-4412-B2D9-CDC68AD48105}"/>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D8937B56-4E99-4436-A674-AF43DDC9660D}"/>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2962B9D6-83A5-4F00-8A07-9589128E1AD2}"/>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BAB1824B-B6E3-4E8A-89F9-10DE95A5794F}"/>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27509FC3-CF28-4088-B360-1B2D64C3EFF7}"/>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A4ACD5F9-94F2-4F11-A5DF-742ECFF4B08E}"/>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9C0417C2-32A3-49ED-A5D5-82A88BC22CE5}"/>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718C0584-2DD6-4D8B-96E7-305733E99806}"/>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21</a:t>
            </a:r>
          </a:p>
        </p:txBody>
      </p:sp>
      <p:sp>
        <p:nvSpPr>
          <p:cNvPr id="14" name="question-number">
            <a:extLst xmlns:a="http://schemas.openxmlformats.org/drawingml/2006/main">
              <a:ext uri="{FF2B5EF4-FFF2-40B4-BE49-F238E27FC236}">
                <a16:creationId xmlns:a16="http://schemas.microsoft.com/office/drawing/2014/main" id="{F482D79B-3FDB-4C6D-ACFA-8DF93E6A56E8}"/>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8</a:t>
            </a:r>
          </a:p>
        </p:txBody>
      </p:sp>
      <p:sp>
        <p:nvSpPr>
          <p:cNvPr id="15" name="question-text">
            <a:extLst xmlns:a="http://schemas.openxmlformats.org/drawingml/2006/main">
              <a:ext uri="{FF2B5EF4-FFF2-40B4-BE49-F238E27FC236}">
                <a16:creationId xmlns:a16="http://schemas.microsoft.com/office/drawing/2014/main" id="{65680808-D918-42EE-9947-B3A892DD4055}"/>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What does it mean that Jesus is God’s Servant (see Isaiah 52:13–53:12)?</a:t>
            </a:r>
          </a:p>
        </p:txBody>
      </p:sp>
    </p:spTree>
    <p:extLst>
      <p:ext uri="{BB962C8B-B14F-4D97-AF65-F5344CB8AC3E}">
        <p14:creationId xmlns:p14="http://schemas.microsoft.com/office/powerpoint/2010/main" val="453514783"/>
      </p:ext>
    </p:extLst>
  </p:cSld>
</p:sld>
</file>

<file path=ppt/slides/slide2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CB6FE10A-FB89-4829-8CA3-1C7210199C04}"/>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877F1A12-8B1E-42A5-B866-71A77D80A172}"/>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89D235F1-C92D-4570-88A5-F947B61F1632}"/>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2C8C8C5F-F55A-493F-88C0-1EB71B439A61}"/>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074C9E9B-9EA7-47AC-9D79-D198DC790C42}"/>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CB1BBB6E-2E7A-4CFF-8DE6-FF3736360946}"/>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E01F962D-8675-4AC7-B63E-530B7A52DE9C}"/>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42852AC7-6D95-495D-B341-D17EE16F048A}"/>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9B72DF2D-6F02-42F0-9E24-3A7E5CA5D450}"/>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CBC0E7D7-B56D-4E9B-BE7B-1B4A7951DF31}"/>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9C49D99A-1A88-4009-8BE6-7B155081DE4F}"/>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490F0445-EB0A-43B5-8E62-5C17A09A85D3}"/>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F3738FA9-EF27-42F6-B413-038D454F4C08}"/>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22</a:t>
            </a:r>
          </a:p>
        </p:txBody>
      </p:sp>
      <p:sp>
        <p:nvSpPr>
          <p:cNvPr id="14" name="question-number">
            <a:extLst xmlns:a="http://schemas.openxmlformats.org/drawingml/2006/main">
              <a:ext uri="{FF2B5EF4-FFF2-40B4-BE49-F238E27FC236}">
                <a16:creationId xmlns:a16="http://schemas.microsoft.com/office/drawing/2014/main" id="{08B3743C-B456-4DB6-A214-ADE80F1AE95A}"/>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8</a:t>
            </a:r>
          </a:p>
        </p:txBody>
      </p:sp>
      <p:sp>
        <p:nvSpPr>
          <p:cNvPr id="15" name="question-text">
            <a:extLst xmlns:a="http://schemas.openxmlformats.org/drawingml/2006/main">
              <a:ext uri="{FF2B5EF4-FFF2-40B4-BE49-F238E27FC236}">
                <a16:creationId xmlns:a16="http://schemas.microsoft.com/office/drawing/2014/main" id="{541FC990-9FE9-4CFC-91CB-D299CD07B9A6}"/>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What does it mean that Jesus is God’s Servant (see Isaiah 52:13–53:12)?</a:t>
            </a:r>
          </a:p>
        </p:txBody>
      </p:sp>
      <p:sp>
        <p:nvSpPr>
          <p:cNvPr id="16" name="answer-label">
            <a:extLst xmlns:a="http://schemas.openxmlformats.org/drawingml/2006/main">
              <a:ext uri="{FF2B5EF4-FFF2-40B4-BE49-F238E27FC236}">
                <a16:creationId xmlns:a16="http://schemas.microsoft.com/office/drawing/2014/main" id="{F4FEEC01-FA8F-4F2D-BFC0-F5E404257928}"/>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AD75C7A6-9568-416D-9494-87F33A13FC4E}"/>
              </a:ext>
            </a:extLst>
          </p:cNvPr>
          <p:cNvSpPr>
            <a:spLocks xmlns:a="http://schemas.openxmlformats.org/drawingml/2006/main" noGrp="1"/>
          </p:cNvSpPr>
          <p:nvPr/>
        </p:nvSpPr>
        <p:spPr>
          <a:xfrm xmlns:a="http://schemas.openxmlformats.org/drawingml/2006/main">
            <a:off x="838200" y="4229100"/>
            <a:ext cx="10382250" cy="11711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God’s chosen Servant suffered for others’ sins.</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Rejected by people, He was vindicated and exalted by God.</a:t>
            </a:r>
          </a:p>
        </p:txBody>
      </p:sp>
    </p:spTree>
    <p:extLst>
      <p:ext uri="{BB962C8B-B14F-4D97-AF65-F5344CB8AC3E}">
        <p14:creationId xmlns:p14="http://schemas.microsoft.com/office/powerpoint/2010/main" val="947257051"/>
      </p:ext>
    </p:extLst>
  </p:cSld>
</p:sld>
</file>

<file path=ppt/slides/slide2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EC5BBBD2-5FE8-42E3-A401-DC6E2D211E29}"/>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EFEF062A-1025-486E-8202-3EF4E29B1F9A}"/>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7BAF2A66-A107-449F-B4E3-9FB2E8FFB425}"/>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1B0D06A3-6F52-4702-9820-0056E8915341}"/>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0E3E58B9-B914-454C-9510-ED231B844A4F}"/>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580E86C3-EEEE-4D34-91E5-B9898390EAA7}"/>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09ED6366-694C-45F4-8714-0F8012280A69}"/>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4444490A-76AB-4DEB-925A-9C7B4AC72834}"/>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0C3C9E17-FCFF-4F47-A09B-93D808917B97}"/>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40322339-A5F5-4C29-8018-EE8EBB8152EC}"/>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8454D2C6-0561-45F4-8CBB-478EB7A3B50B}"/>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15891F5B-E213-47F8-85ED-9B1A93F315D3}"/>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50898A30-41AC-4C98-80C9-9EA9758391D8}"/>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23</a:t>
            </a:r>
          </a:p>
        </p:txBody>
      </p:sp>
      <p:sp>
        <p:nvSpPr>
          <p:cNvPr id="14" name="question-number">
            <a:extLst xmlns:a="http://schemas.openxmlformats.org/drawingml/2006/main">
              <a:ext uri="{FF2B5EF4-FFF2-40B4-BE49-F238E27FC236}">
                <a16:creationId xmlns:a16="http://schemas.microsoft.com/office/drawing/2014/main" id="{613641B5-60E7-4A62-A2DD-F22D128C30D2}"/>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9</a:t>
            </a:r>
          </a:p>
        </p:txBody>
      </p:sp>
      <p:sp>
        <p:nvSpPr>
          <p:cNvPr id="15" name="question-text">
            <a:extLst xmlns:a="http://schemas.openxmlformats.org/drawingml/2006/main">
              <a:ext uri="{FF2B5EF4-FFF2-40B4-BE49-F238E27FC236}">
                <a16:creationId xmlns:a16="http://schemas.microsoft.com/office/drawing/2014/main" id="{E69B70FD-51FE-4AC3-9D51-886B884B53B9}"/>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What will happen if they repent (see 3:19-21)?</a:t>
            </a:r>
          </a:p>
        </p:txBody>
      </p:sp>
      <p:sp>
        <p:nvSpPr>
          <p:cNvPr id="16" name="question-accent">
            <a:extLst xmlns:a="http://schemas.openxmlformats.org/drawingml/2006/main">
              <a:ext uri="{FF2B5EF4-FFF2-40B4-BE49-F238E27FC236}">
                <a16:creationId xmlns:a16="http://schemas.microsoft.com/office/drawing/2014/main" id="{058F6C0E-ADC8-4163-9939-CB6A43153A68}"/>
              </a:ext>
            </a:extLst>
          </p:cNvPr>
          <p:cNvSpPr>
            <a:spLocks xmlns:a="http://schemas.openxmlformats.org/drawingml/2006/main" noGrp="1"/>
          </p:cNvSpPr>
          <p:nvPr/>
        </p:nvSpPr>
        <p:spPr>
          <a:xfrm xmlns:a="http://schemas.openxmlformats.org/drawingml/2006/main">
            <a:off x="781050" y="2838450"/>
            <a:ext cx="800100" cy="28575"/>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7" name="support">
            <a:extLst xmlns:a="http://schemas.openxmlformats.org/drawingml/2006/main">
              <a:ext uri="{FF2B5EF4-FFF2-40B4-BE49-F238E27FC236}">
                <a16:creationId xmlns:a16="http://schemas.microsoft.com/office/drawing/2014/main" id="{E019C5B3-ED88-4F4F-B094-724AD7B9CCA0}"/>
              </a:ext>
            </a:extLst>
          </p:cNvPr>
          <p:cNvSpPr>
            <a:spLocks xmlns:a="http://schemas.openxmlformats.org/drawingml/2006/main" noGrp="1"/>
          </p:cNvSpPr>
          <p:nvPr/>
        </p:nvSpPr>
        <p:spPr>
          <a:xfrm xmlns:a="http://schemas.openxmlformats.org/drawingml/2006/main">
            <a:off x="838200" y="3009900"/>
            <a:ext cx="10382250" cy="10568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They had acted in ignorance (3:17); Peter calls them to repent.</a:t>
            </a:r>
          </a:p>
        </p:txBody>
      </p:sp>
    </p:spTree>
    <p:extLst>
      <p:ext uri="{BB962C8B-B14F-4D97-AF65-F5344CB8AC3E}">
        <p14:creationId xmlns:p14="http://schemas.microsoft.com/office/powerpoint/2010/main" val="444865395"/>
      </p:ext>
    </p:extLst>
  </p:cSld>
</p:sld>
</file>

<file path=ppt/slides/slide2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48A27616-AF11-44FD-9670-F3D4C5B45989}"/>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A95F6723-0FF8-45A8-B76B-6CC55861AF96}"/>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D87F9C53-030A-4C21-83F9-D05277E45E0A}"/>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076F8C76-90E4-4A68-8AB5-EA07215324AC}"/>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94FC2F69-BFA3-4E7C-8E79-28899D5A50AA}"/>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275C17D6-0EA1-4338-8AEF-0575490277C4}"/>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EC8BE7F7-E5FD-4C5C-A563-0F83518CC73C}"/>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04AFED23-9E61-4963-B73F-6EB960DD0F1E}"/>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BDC6068F-0180-463B-94C0-06AB32FCCD21}"/>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3FF4B980-B9DE-4B51-B54C-765DF9310F73}"/>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Peter speaks (3:11–26)</a:t>
            </a:r>
          </a:p>
        </p:txBody>
      </p:sp>
      <p:sp>
        <p:nvSpPr>
          <p:cNvPr id="11" name="title-rule">
            <a:extLst xmlns:a="http://schemas.openxmlformats.org/drawingml/2006/main">
              <a:ext uri="{FF2B5EF4-FFF2-40B4-BE49-F238E27FC236}">
                <a16:creationId xmlns:a16="http://schemas.microsoft.com/office/drawing/2014/main" id="{88D54374-AAD0-407C-8D6D-C350CD294017}"/>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10775C0D-3126-4B59-B319-31ECAA515946}"/>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0BCB00B5-58C2-417C-A68D-6D343BDEB71D}"/>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24</a:t>
            </a:r>
          </a:p>
        </p:txBody>
      </p:sp>
      <p:sp>
        <p:nvSpPr>
          <p:cNvPr id="14" name="question-number">
            <a:extLst xmlns:a="http://schemas.openxmlformats.org/drawingml/2006/main">
              <a:ext uri="{FF2B5EF4-FFF2-40B4-BE49-F238E27FC236}">
                <a16:creationId xmlns:a16="http://schemas.microsoft.com/office/drawing/2014/main" id="{5300EFDF-738E-4B6B-A90B-CC3FF630BD23}"/>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9</a:t>
            </a:r>
          </a:p>
        </p:txBody>
      </p:sp>
      <p:sp>
        <p:nvSpPr>
          <p:cNvPr id="15" name="question-text">
            <a:extLst xmlns:a="http://schemas.openxmlformats.org/drawingml/2006/main">
              <a:ext uri="{FF2B5EF4-FFF2-40B4-BE49-F238E27FC236}">
                <a16:creationId xmlns:a16="http://schemas.microsoft.com/office/drawing/2014/main" id="{F939F51A-A060-40B5-B9B7-8E3E11F692CD}"/>
              </a:ext>
            </a:extLst>
          </p:cNvPr>
          <p:cNvSpPr>
            <a:spLocks xmlns:a="http://schemas.openxmlformats.org/drawingml/2006/main" noGrp="1"/>
          </p:cNvSpPr>
          <p:nvPr/>
        </p:nvSpPr>
        <p:spPr>
          <a:xfrm xmlns:a="http://schemas.openxmlformats.org/drawingml/2006/main">
            <a:off x="762000" y="2019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What will happen if they repent (see 3:19-21)?</a:t>
            </a:r>
          </a:p>
        </p:txBody>
      </p:sp>
      <p:sp>
        <p:nvSpPr>
          <p:cNvPr id="16" name="answer-label">
            <a:extLst xmlns:a="http://schemas.openxmlformats.org/drawingml/2006/main">
              <a:ext uri="{FF2B5EF4-FFF2-40B4-BE49-F238E27FC236}">
                <a16:creationId xmlns:a16="http://schemas.microsoft.com/office/drawing/2014/main" id="{503EA084-A2C7-4881-8716-69722459A28E}"/>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EFBC1AEF-2FE9-43C8-B8BF-86F923FD8575}"/>
              </a:ext>
            </a:extLst>
          </p:cNvPr>
          <p:cNvSpPr>
            <a:spLocks xmlns:a="http://schemas.openxmlformats.org/drawingml/2006/main" noGrp="1"/>
          </p:cNvSpPr>
          <p:nvPr/>
        </p:nvSpPr>
        <p:spPr>
          <a:xfrm xmlns:a="http://schemas.openxmlformats.org/drawingml/2006/main">
            <a:off x="838200" y="4229100"/>
            <a:ext cx="10382250" cy="1980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Their sins would be wiped away; refreshing would come from the Lord.</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God would send Jesus at the promised restoration of all things.</a:t>
            </a:r>
          </a:p>
        </p:txBody>
      </p:sp>
    </p:spTree>
    <p:extLst>
      <p:ext uri="{BB962C8B-B14F-4D97-AF65-F5344CB8AC3E}">
        <p14:creationId xmlns:p14="http://schemas.microsoft.com/office/powerpoint/2010/main" val="1888284580"/>
      </p:ext>
    </p:extLst>
  </p:cSld>
</p:sld>
</file>

<file path=ppt/slides/slide2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1B3C8D54-3647-4B67-8AD4-92E3ACDA421E}"/>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E05A67B9-66A0-4AF7-B227-ED6C96DECD04}"/>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CAED9DBA-C0F4-4BAC-B8AB-868042B852CF}"/>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C1CAA03F-B065-49A9-B8F1-E39FFC860E3D}"/>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8227D9C1-FB71-4AC7-B905-CD17C17A3963}"/>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D75ECDB9-A38B-4C4A-A8C7-AB95F91B3774}"/>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F8507172-7717-4FC4-B043-B9A2E7DF9545}"/>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CC2B5CD2-F60B-4AC4-8AA1-62C254E0FCDA}"/>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B444498A-3390-418E-BB88-34885F62555B}"/>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DDAB27E1-E9D1-4256-9192-8BF6F9A16780}"/>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Your response</a:t>
            </a:r>
          </a:p>
        </p:txBody>
      </p:sp>
      <p:sp>
        <p:nvSpPr>
          <p:cNvPr id="11" name="title-rule">
            <a:extLst xmlns:a="http://schemas.openxmlformats.org/drawingml/2006/main">
              <a:ext uri="{FF2B5EF4-FFF2-40B4-BE49-F238E27FC236}">
                <a16:creationId xmlns:a16="http://schemas.microsoft.com/office/drawing/2014/main" id="{7B3B0C0A-DC5C-40A7-9442-08707E4AEFE8}"/>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1BB9E2AF-F6AE-4CEC-BB4B-F4EC3E7CFD18}"/>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DA618CB9-DAFC-4935-A056-92CEDA3FB2F8}"/>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25</a:t>
            </a:r>
          </a:p>
        </p:txBody>
      </p:sp>
      <p:sp>
        <p:nvSpPr>
          <p:cNvPr id="14" name="question-number">
            <a:extLst xmlns:a="http://schemas.openxmlformats.org/drawingml/2006/main">
              <a:ext uri="{FF2B5EF4-FFF2-40B4-BE49-F238E27FC236}">
                <a16:creationId xmlns:a16="http://schemas.microsoft.com/office/drawing/2014/main" id="{7FFFEC62-5449-493D-B276-95307330CFB0}"/>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10</a:t>
            </a:r>
          </a:p>
        </p:txBody>
      </p:sp>
      <p:sp>
        <p:nvSpPr>
          <p:cNvPr id="15" name="question-text">
            <a:extLst xmlns:a="http://schemas.openxmlformats.org/drawingml/2006/main">
              <a:ext uri="{FF2B5EF4-FFF2-40B4-BE49-F238E27FC236}">
                <a16:creationId xmlns:a16="http://schemas.microsoft.com/office/drawing/2014/main" id="{8244D92C-AEC8-40E8-A644-E76D65F75EEF}"/>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What parts of Peter’s sermon could you include in explaining the gospel to unbelievers you know?</a:t>
            </a:r>
          </a:p>
        </p:txBody>
      </p:sp>
      <p:sp>
        <p:nvSpPr>
          <p:cNvPr id="16" name="question-accent">
            <a:extLst xmlns:a="http://schemas.openxmlformats.org/drawingml/2006/main">
              <a:ext uri="{FF2B5EF4-FFF2-40B4-BE49-F238E27FC236}">
                <a16:creationId xmlns:a16="http://schemas.microsoft.com/office/drawing/2014/main" id="{D0B8E09E-3B65-47E8-AACB-573F192EF0FB}"/>
              </a:ext>
            </a:extLst>
          </p:cNvPr>
          <p:cNvSpPr>
            <a:spLocks xmlns:a="http://schemas.openxmlformats.org/drawingml/2006/main" noGrp="1"/>
          </p:cNvSpPr>
          <p:nvPr/>
        </p:nvSpPr>
        <p:spPr>
          <a:xfrm xmlns:a="http://schemas.openxmlformats.org/drawingml/2006/main">
            <a:off x="781050" y="3181350"/>
            <a:ext cx="800100" cy="28575"/>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7" name="support">
            <a:extLst xmlns:a="http://schemas.openxmlformats.org/drawingml/2006/main">
              <a:ext uri="{FF2B5EF4-FFF2-40B4-BE49-F238E27FC236}">
                <a16:creationId xmlns:a16="http://schemas.microsoft.com/office/drawing/2014/main" id="{CD64E5B4-E736-4E5F-BF9C-2BE20B69F87D}"/>
              </a:ext>
            </a:extLst>
          </p:cNvPr>
          <p:cNvSpPr>
            <a:spLocks xmlns:a="http://schemas.openxmlformats.org/drawingml/2006/main" noGrp="1"/>
          </p:cNvSpPr>
          <p:nvPr/>
        </p:nvSpPr>
        <p:spPr>
          <a:xfrm xmlns:a="http://schemas.openxmlformats.org/drawingml/2006/main">
            <a:off x="838200" y="3352800"/>
            <a:ext cx="10382250" cy="15758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What does refusing to listen to God’s Prophet mean for people today? (3:22-23)</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How was the Jews’ place in God’s plan special? (3:25-26)</a:t>
            </a:r>
          </a:p>
        </p:txBody>
      </p:sp>
    </p:spTree>
    <p:extLst>
      <p:ext uri="{BB962C8B-B14F-4D97-AF65-F5344CB8AC3E}">
        <p14:creationId xmlns:p14="http://schemas.microsoft.com/office/powerpoint/2010/main" val="608597660"/>
      </p:ext>
    </p:extLst>
  </p:cSld>
</p:sld>
</file>

<file path=ppt/slides/slide2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7" name="gold-frame">
            <a:extLst xmlns:a="http://schemas.openxmlformats.org/drawingml/2006/main">
              <a:ext uri="{FF2B5EF4-FFF2-40B4-BE49-F238E27FC236}">
                <a16:creationId xmlns:a16="http://schemas.microsoft.com/office/drawing/2014/main" id="{8BB74643-2DCE-41DE-AEEE-5BA630EEB37C}"/>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025F408D-9A3E-4A64-AF41-5A7231D8F901}"/>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D462A99B-6F4E-41A6-B695-D71D203BF653}"/>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9D0CA852-E059-4C3E-A338-D9B17C1EFA9A}"/>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81887B65-D6D6-445B-9E68-793EF9DE2FC5}"/>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C476E4AE-A8BF-443B-8FF3-79E5A50E7CEA}"/>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8C4A724E-02EE-4273-A7D4-2B4D38F33448}"/>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A6ADE06A-4BB6-4E8C-B119-E62E4837388A}"/>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A99D2968-E092-436A-B25F-B2AFA1F7AC12}"/>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26007EAE-1006-4724-94EE-25F3827FD17E}"/>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For Further Discussion: Same gospel, different audience</a:t>
            </a:r>
          </a:p>
        </p:txBody>
      </p:sp>
      <p:sp>
        <p:nvSpPr>
          <p:cNvPr id="11" name="title-rule">
            <a:extLst xmlns:a="http://schemas.openxmlformats.org/drawingml/2006/main">
              <a:ext uri="{FF2B5EF4-FFF2-40B4-BE49-F238E27FC236}">
                <a16:creationId xmlns:a16="http://schemas.microsoft.com/office/drawing/2014/main" id="{FE37184D-0F80-4E65-9ABC-775565C8749D}"/>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E88D12AF-5438-41BA-B0D1-3333E5149287}"/>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0AC7B530-A0CE-4644-9246-EA708B413C0A}"/>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26</a:t>
            </a:r>
          </a:p>
        </p:txBody>
      </p:sp>
      <p:sp>
        <p:nvSpPr>
          <p:cNvPr id="14" name="central-question">
            <a:extLst xmlns:a="http://schemas.openxmlformats.org/drawingml/2006/main">
              <a:ext uri="{FF2B5EF4-FFF2-40B4-BE49-F238E27FC236}">
                <a16:creationId xmlns:a16="http://schemas.microsoft.com/office/drawing/2014/main" id="{88F1E37A-514E-42DF-921A-58DB23BB6929}"/>
              </a:ext>
            </a:extLst>
          </p:cNvPr>
          <p:cNvSpPr>
            <a:spLocks xmlns:a="http://schemas.openxmlformats.org/drawingml/2006/main" noGrp="1"/>
          </p:cNvSpPr>
          <p:nvPr/>
        </p:nvSpPr>
        <p:spPr>
          <a:xfrm xmlns:a="http://schemas.openxmlformats.org/drawingml/2006/main">
            <a:off x="762000" y="150495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How can we explain Peter’s message to people who do not share his audience’s biblical background?</a:t>
            </a:r>
          </a:p>
        </p:txBody>
      </p:sp>
      <p:sp>
        <p:nvSpPr>
          <p:cNvPr id="15" name="biblical-context">
            <a:extLst xmlns:a="http://schemas.openxmlformats.org/drawingml/2006/main">
              <a:ext uri="{FF2B5EF4-FFF2-40B4-BE49-F238E27FC236}">
                <a16:creationId xmlns:a16="http://schemas.microsoft.com/office/drawing/2014/main" id="{818383B1-7084-4B71-8A5B-5629BBEDDC54}"/>
              </a:ext>
            </a:extLst>
          </p:cNvPr>
          <p:cNvSpPr>
            <a:spLocks xmlns:a="http://schemas.openxmlformats.org/drawingml/2006/main" noGrp="1"/>
          </p:cNvSpPr>
          <p:nvPr/>
        </p:nvSpPr>
        <p:spPr>
          <a:xfrm xmlns:a="http://schemas.openxmlformats.org/drawingml/2006/main">
            <a:off x="762000" y="2609850"/>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700" b="0">
                <a:solidFill>
                  <a:srgbClr val="202D35"/>
                </a:solidFill>
                <a:latin typeface="Arial"/>
                <a:ea typeface="Arial"/>
                <a:cs typeface="Arial"/>
              </a:defRPr>
            </a:pPr>
            <a:r>
              <a:rPr sz="2700" b="0">
                <a:solidFill>
                  <a:srgbClr val="202D35"/>
                </a:solidFill>
                <a:latin typeface="Arial"/>
                <a:ea typeface="Arial"/>
                <a:cs typeface="Arial"/>
              </a:rPr>
              <a:t>Peter spoke to people who knew the prophets and had inherited the covenant. (Acts 3:22–26)</a:t>
            </a:r>
          </a:p>
        </p:txBody>
      </p:sp>
      <p:sp>
        <p:nvSpPr>
          <p:cNvPr id="16" name="discussion-questions">
            <a:extLst xmlns:a="http://schemas.openxmlformats.org/drawingml/2006/main">
              <a:ext uri="{FF2B5EF4-FFF2-40B4-BE49-F238E27FC236}">
                <a16:creationId xmlns:a16="http://schemas.microsoft.com/office/drawing/2014/main" id="{425BAC22-F312-4BA1-9AB4-9949AA44F532}"/>
              </a:ext>
            </a:extLst>
          </p:cNvPr>
          <p:cNvSpPr>
            <a:spLocks xmlns:a="http://schemas.openxmlformats.org/drawingml/2006/main" noGrp="1"/>
          </p:cNvSpPr>
          <p:nvPr/>
        </p:nvSpPr>
        <p:spPr>
          <a:xfrm xmlns:a="http://schemas.openxmlformats.org/drawingml/2006/main">
            <a:off x="838200" y="3676650"/>
            <a:ext cx="10382250" cy="20947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Which parts of Peter’s message would you begin with?</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Which words or ideas would need explanation?</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How would you keep the call to repent and turn to God clear?</a:t>
            </a:r>
          </a:p>
        </p:txBody>
      </p:sp>
    </p:spTree>
    <p:extLst>
      <p:ext uri="{BB962C8B-B14F-4D97-AF65-F5344CB8AC3E}">
        <p14:creationId xmlns:p14="http://schemas.microsoft.com/office/powerpoint/2010/main" val="25404586"/>
      </p:ext>
    </p:extLst>
  </p:cSld>
</p:sld>
</file>

<file path=ppt/slides/slide27.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8" name="gold-frame">
            <a:extLst xmlns:a="http://schemas.openxmlformats.org/drawingml/2006/main">
              <a:ext uri="{FF2B5EF4-FFF2-40B4-BE49-F238E27FC236}">
                <a16:creationId xmlns:a16="http://schemas.microsoft.com/office/drawing/2014/main" id="{AB1741B1-F552-40E4-A59F-33A5D3288332}"/>
              </a:ext>
            </a:extLst>
          </p:cNvPr>
          <p:cNvSpPr>
            <a:spLocks xmlns:a="http://schemas.openxmlformats.org/drawingml/2006/main" noGrp="1"/>
          </p:cNvSpPr>
          <p:nvPr/>
        </p:nvSpPr>
        <p:spPr>
          <a:xfrm xmlns:a="http://schemas.openxmlformats.org/drawingml/2006/main">
            <a:off x="209550" y="209550"/>
            <a:ext cx="11772900" cy="6438900"/>
          </a:xfrm>
          <a:prstGeom xmlns:a="http://schemas.openxmlformats.org/drawingml/2006/main" prst="rect">
            <a:avLst/>
          </a:prstGeom>
          <a:noFill xmlns:a="http://schemas.openxmlformats.org/drawingml/2006/main"/>
          <a:ln xmlns:a="http://schemas.openxmlformats.org/drawingml/2006/main" w="13335">
            <a:solidFill>
              <a:srgbClr val="AA9260"/>
            </a:solidFill>
            <a:prstDash val="solid"/>
          </a:ln>
        </p:spPr>
      </p:sp>
      <p:sp>
        <p:nvSpPr>
          <p:cNvPr id="2" name="corner-horizontal">
            <a:extLst xmlns:a="http://schemas.openxmlformats.org/drawingml/2006/main">
              <a:ext uri="{FF2B5EF4-FFF2-40B4-BE49-F238E27FC236}">
                <a16:creationId xmlns:a16="http://schemas.microsoft.com/office/drawing/2014/main" id="{BA0B9F81-CF9A-43D1-9100-50FE1AA75CC9}"/>
              </a:ext>
            </a:extLst>
          </p:cNvPr>
          <p:cNvSpPr>
            <a:spLocks xmlns:a="http://schemas.openxmlformats.org/drawingml/2006/main" noGrp="1"/>
          </p:cNvSpPr>
          <p:nvPr/>
        </p:nvSpPr>
        <p:spPr>
          <a:xfrm xmlns:a="http://schemas.openxmlformats.org/drawingml/2006/main">
            <a:off x="3048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3" name="corner-vertical">
            <a:extLst xmlns:a="http://schemas.openxmlformats.org/drawingml/2006/main">
              <a:ext uri="{FF2B5EF4-FFF2-40B4-BE49-F238E27FC236}">
                <a16:creationId xmlns:a16="http://schemas.microsoft.com/office/drawing/2014/main" id="{D26149E4-7624-4E12-85E5-129F609525A5}"/>
              </a:ext>
            </a:extLst>
          </p:cNvPr>
          <p:cNvSpPr>
            <a:spLocks xmlns:a="http://schemas.openxmlformats.org/drawingml/2006/main" noGrp="1"/>
          </p:cNvSpPr>
          <p:nvPr/>
        </p:nvSpPr>
        <p:spPr>
          <a:xfrm xmlns:a="http://schemas.openxmlformats.org/drawingml/2006/main">
            <a:off x="3048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4" name="corner-horizontal">
            <a:extLst xmlns:a="http://schemas.openxmlformats.org/drawingml/2006/main">
              <a:ext uri="{FF2B5EF4-FFF2-40B4-BE49-F238E27FC236}">
                <a16:creationId xmlns:a16="http://schemas.microsoft.com/office/drawing/2014/main" id="{07A8D195-FB44-48BE-A552-7B1EFE02C419}"/>
              </a:ext>
            </a:extLst>
          </p:cNvPr>
          <p:cNvSpPr>
            <a:spLocks xmlns:a="http://schemas.openxmlformats.org/drawingml/2006/main" noGrp="1"/>
          </p:cNvSpPr>
          <p:nvPr/>
        </p:nvSpPr>
        <p:spPr>
          <a:xfrm xmlns:a="http://schemas.openxmlformats.org/drawingml/2006/main">
            <a:off x="11582400" y="3048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5" name="corner-vertical">
            <a:extLst xmlns:a="http://schemas.openxmlformats.org/drawingml/2006/main">
              <a:ext uri="{FF2B5EF4-FFF2-40B4-BE49-F238E27FC236}">
                <a16:creationId xmlns:a16="http://schemas.microsoft.com/office/drawing/2014/main" id="{F67F2154-CD86-4772-A67E-5B1501ABD970}"/>
              </a:ext>
            </a:extLst>
          </p:cNvPr>
          <p:cNvSpPr>
            <a:spLocks xmlns:a="http://schemas.openxmlformats.org/drawingml/2006/main" noGrp="1"/>
          </p:cNvSpPr>
          <p:nvPr/>
        </p:nvSpPr>
        <p:spPr>
          <a:xfrm xmlns:a="http://schemas.openxmlformats.org/drawingml/2006/main">
            <a:off x="11887200" y="3048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6" name="corner-horizontal">
            <a:extLst xmlns:a="http://schemas.openxmlformats.org/drawingml/2006/main">
              <a:ext uri="{FF2B5EF4-FFF2-40B4-BE49-F238E27FC236}">
                <a16:creationId xmlns:a16="http://schemas.microsoft.com/office/drawing/2014/main" id="{12079AD7-0B9F-4F3E-BC42-A22335ECA448}"/>
              </a:ext>
            </a:extLst>
          </p:cNvPr>
          <p:cNvSpPr>
            <a:spLocks xmlns:a="http://schemas.openxmlformats.org/drawingml/2006/main" noGrp="1"/>
          </p:cNvSpPr>
          <p:nvPr/>
        </p:nvSpPr>
        <p:spPr>
          <a:xfrm xmlns:a="http://schemas.openxmlformats.org/drawingml/2006/main">
            <a:off x="3048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7" name="corner-vertical">
            <a:extLst xmlns:a="http://schemas.openxmlformats.org/drawingml/2006/main">
              <a:ext uri="{FF2B5EF4-FFF2-40B4-BE49-F238E27FC236}">
                <a16:creationId xmlns:a16="http://schemas.microsoft.com/office/drawing/2014/main" id="{D7EB4C9A-1589-4C32-B96B-99A16A14CC1F}"/>
              </a:ext>
            </a:extLst>
          </p:cNvPr>
          <p:cNvSpPr>
            <a:spLocks xmlns:a="http://schemas.openxmlformats.org/drawingml/2006/main" noGrp="1"/>
          </p:cNvSpPr>
          <p:nvPr/>
        </p:nvSpPr>
        <p:spPr>
          <a:xfrm xmlns:a="http://schemas.openxmlformats.org/drawingml/2006/main">
            <a:off x="3048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8" name="corner-horizontal">
            <a:extLst xmlns:a="http://schemas.openxmlformats.org/drawingml/2006/main">
              <a:ext uri="{FF2B5EF4-FFF2-40B4-BE49-F238E27FC236}">
                <a16:creationId xmlns:a16="http://schemas.microsoft.com/office/drawing/2014/main" id="{66541A1E-DE16-4667-9C4A-D1C8DE928F7C}"/>
              </a:ext>
            </a:extLst>
          </p:cNvPr>
          <p:cNvSpPr>
            <a:spLocks xmlns:a="http://schemas.openxmlformats.org/drawingml/2006/main" noGrp="1"/>
          </p:cNvSpPr>
          <p:nvPr/>
        </p:nvSpPr>
        <p:spPr>
          <a:xfrm xmlns:a="http://schemas.openxmlformats.org/drawingml/2006/main">
            <a:off x="11582400" y="6553200"/>
            <a:ext cx="3048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9" name="corner-vertical">
            <a:extLst xmlns:a="http://schemas.openxmlformats.org/drawingml/2006/main">
              <a:ext uri="{FF2B5EF4-FFF2-40B4-BE49-F238E27FC236}">
                <a16:creationId xmlns:a16="http://schemas.microsoft.com/office/drawing/2014/main" id="{F5D50C48-764D-4845-BEA1-402C2D0D4069}"/>
              </a:ext>
            </a:extLst>
          </p:cNvPr>
          <p:cNvSpPr>
            <a:spLocks xmlns:a="http://schemas.openxmlformats.org/drawingml/2006/main" noGrp="1"/>
          </p:cNvSpPr>
          <p:nvPr/>
        </p:nvSpPr>
        <p:spPr>
          <a:xfrm xmlns:a="http://schemas.openxmlformats.org/drawingml/2006/main">
            <a:off x="11887200" y="6248400"/>
            <a:ext cx="19050" cy="30480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0" name="slide-title">
            <a:extLst xmlns:a="http://schemas.openxmlformats.org/drawingml/2006/main">
              <a:ext uri="{FF2B5EF4-FFF2-40B4-BE49-F238E27FC236}">
                <a16:creationId xmlns:a16="http://schemas.microsoft.com/office/drawing/2014/main" id="{EC36E093-F242-4C97-8B74-432B36E3AC92}"/>
              </a:ext>
            </a:extLst>
          </p:cNvPr>
          <p:cNvSpPr>
            <a:spLocks xmlns:a="http://schemas.openxmlformats.org/drawingml/2006/main" noGrp="1"/>
          </p:cNvSpPr>
          <p:nvPr/>
        </p:nvSpPr>
        <p:spPr>
          <a:xfrm xmlns:a="http://schemas.openxmlformats.org/drawingml/2006/main">
            <a:off x="742950" y="476250"/>
            <a:ext cx="10706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450" b="1">
                <a:solidFill>
                  <a:srgbClr val="202D35"/>
                </a:solidFill>
                <a:latin typeface="Arial"/>
                <a:ea typeface="Arial"/>
                <a:cs typeface="Arial"/>
              </a:defRPr>
            </a:pPr>
            <a:r>
              <a:rPr sz="3450" b="1">
                <a:solidFill>
                  <a:srgbClr val="202D35"/>
                </a:solidFill>
                <a:latin typeface="Arial"/>
                <a:ea typeface="Arial"/>
                <a:cs typeface="Arial"/>
              </a:rPr>
              <a:t>Your response</a:t>
            </a:r>
          </a:p>
        </p:txBody>
      </p:sp>
      <p:sp>
        <p:nvSpPr>
          <p:cNvPr id="11" name="title-rule">
            <a:extLst xmlns:a="http://schemas.openxmlformats.org/drawingml/2006/main">
              <a:ext uri="{FF2B5EF4-FFF2-40B4-BE49-F238E27FC236}">
                <a16:creationId xmlns:a16="http://schemas.microsoft.com/office/drawing/2014/main" id="{2193C418-684A-4D19-AD39-792DAA6F1255}"/>
              </a:ext>
            </a:extLst>
          </p:cNvPr>
          <p:cNvSpPr>
            <a:spLocks xmlns:a="http://schemas.openxmlformats.org/drawingml/2006/main" noGrp="1"/>
          </p:cNvSpPr>
          <p:nvPr/>
        </p:nvSpPr>
        <p:spPr>
          <a:xfrm xmlns:a="http://schemas.openxmlformats.org/drawingml/2006/main">
            <a:off x="762000" y="1200150"/>
            <a:ext cx="10668000" cy="19050"/>
          </a:xfrm>
          <a:prstGeom xmlns:a="http://schemas.openxmlformats.org/drawingml/2006/main" prst="rect">
            <a:avLst/>
          </a:prstGeom>
          <a:solidFill xmlns:a="http://schemas.openxmlformats.org/drawingml/2006/main">
            <a:srgbClr val="AA9260"/>
          </a:solidFill>
          <a:ln xmlns:a="http://schemas.openxmlformats.org/drawingml/2006/main" w="0">
            <a:noFill/>
            <a:prstDash val="solid"/>
          </a:ln>
        </p:spPr>
      </p:sp>
      <p:sp>
        <p:nvSpPr>
          <p:cNvPr id="12" name="footer">
            <a:extLst xmlns:a="http://schemas.openxmlformats.org/drawingml/2006/main">
              <a:ext uri="{FF2B5EF4-FFF2-40B4-BE49-F238E27FC236}">
                <a16:creationId xmlns:a16="http://schemas.microsoft.com/office/drawing/2014/main" id="{0CD4E076-3A0B-4821-BCED-CCA7675AA836}"/>
              </a:ext>
            </a:extLst>
          </p:cNvPr>
          <p:cNvSpPr>
            <a:spLocks xmlns:a="http://schemas.openxmlformats.org/drawingml/2006/main" noGrp="1"/>
          </p:cNvSpPr>
          <p:nvPr/>
        </p:nvSpPr>
        <p:spPr>
          <a:xfrm xmlns:a="http://schemas.openxmlformats.org/drawingml/2006/main">
            <a:off x="762000" y="62579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TNMSG  |  Lesson Four, Acts 3:1-26</a:t>
            </a:r>
          </a:p>
        </p:txBody>
      </p:sp>
      <p:sp>
        <p:nvSpPr>
          <p:cNvPr id="13" name="page-number">
            <a:extLst xmlns:a="http://schemas.openxmlformats.org/drawingml/2006/main">
              <a:ext uri="{FF2B5EF4-FFF2-40B4-BE49-F238E27FC236}">
                <a16:creationId xmlns:a16="http://schemas.microsoft.com/office/drawing/2014/main" id="{8F0CE04B-1978-4D9D-BA8A-AC31A357F8C0}"/>
              </a:ext>
            </a:extLst>
          </p:cNvPr>
          <p:cNvSpPr>
            <a:spLocks xmlns:a="http://schemas.openxmlformats.org/drawingml/2006/main" noGrp="1"/>
          </p:cNvSpPr>
          <p:nvPr/>
        </p:nvSpPr>
        <p:spPr>
          <a:xfrm xmlns:a="http://schemas.openxmlformats.org/drawingml/2006/main">
            <a:off x="10934700" y="62579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1800" b="0">
                <a:solidFill>
                  <a:srgbClr val="53615F"/>
                </a:solidFill>
                <a:latin typeface="Arial"/>
                <a:ea typeface="Arial"/>
                <a:cs typeface="Arial"/>
              </a:defRPr>
            </a:pPr>
            <a:r>
              <a:rPr sz="1800" b="0">
                <a:solidFill>
                  <a:srgbClr val="53615F"/>
                </a:solidFill>
                <a:latin typeface="Arial"/>
                <a:ea typeface="Arial"/>
                <a:cs typeface="Arial"/>
              </a:rPr>
              <a:t>27</a:t>
            </a:r>
          </a:p>
        </p:txBody>
      </p:sp>
      <p:sp>
        <p:nvSpPr>
          <p:cNvPr id="14" name="question-number">
            <a:extLst xmlns:a="http://schemas.openxmlformats.org/drawingml/2006/main">
              <a:ext uri="{FF2B5EF4-FFF2-40B4-BE49-F238E27FC236}">
                <a16:creationId xmlns:a16="http://schemas.microsoft.com/office/drawing/2014/main" id="{6486EB41-D567-439E-950E-819F5BE9D3F1}"/>
              </a:ext>
            </a:extLst>
          </p:cNvPr>
          <p:cNvSpPr>
            <a:spLocks xmlns:a="http://schemas.openxmlformats.org/drawingml/2006/main" noGrp="1"/>
          </p:cNvSpPr>
          <p:nvPr/>
        </p:nvSpPr>
        <p:spPr>
          <a:xfrm xmlns:a="http://schemas.openxmlformats.org/drawingml/2006/main">
            <a:off x="762000" y="14668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3000" b="1">
                <a:solidFill>
                  <a:srgbClr val="355C50"/>
                </a:solidFill>
                <a:latin typeface="Arial"/>
                <a:ea typeface="Arial"/>
                <a:cs typeface="Arial"/>
              </a:defRPr>
            </a:pPr>
            <a:r>
              <a:rPr sz="3000" b="1">
                <a:solidFill>
                  <a:srgbClr val="355C50"/>
                </a:solidFill>
                <a:latin typeface="Arial"/>
                <a:ea typeface="Arial"/>
                <a:cs typeface="Arial"/>
              </a:rPr>
              <a:t>Question 10</a:t>
            </a:r>
          </a:p>
        </p:txBody>
      </p:sp>
      <p:sp>
        <p:nvSpPr>
          <p:cNvPr id="15" name="question-text">
            <a:extLst xmlns:a="http://schemas.openxmlformats.org/drawingml/2006/main">
              <a:ext uri="{FF2B5EF4-FFF2-40B4-BE49-F238E27FC236}">
                <a16:creationId xmlns:a16="http://schemas.microsoft.com/office/drawing/2014/main" id="{FA363707-9AA1-45F4-9DA9-DDA13104EFBF}"/>
              </a:ext>
            </a:extLst>
          </p:cNvPr>
          <p:cNvSpPr>
            <a:spLocks xmlns:a="http://schemas.openxmlformats.org/drawingml/2006/main" noGrp="1"/>
          </p:cNvSpPr>
          <p:nvPr/>
        </p:nvSpPr>
        <p:spPr>
          <a:xfrm xmlns:a="http://schemas.openxmlformats.org/drawingml/2006/main">
            <a:off x="762000" y="201930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0">
                <a:solidFill>
                  <a:srgbClr val="202D35"/>
                </a:solidFill>
                <a:latin typeface="Arial"/>
                <a:ea typeface="Arial"/>
                <a:cs typeface="Arial"/>
              </a:defRPr>
            </a:pPr>
            <a:r>
              <a:rPr sz="2850" b="0">
                <a:solidFill>
                  <a:srgbClr val="202D35"/>
                </a:solidFill>
                <a:latin typeface="Arial"/>
                <a:ea typeface="Arial"/>
                <a:cs typeface="Arial"/>
              </a:rPr>
              <a:t>What parts of Peter’s sermon could you include in explaining the gospel to unbelievers you know?</a:t>
            </a:r>
          </a:p>
        </p:txBody>
      </p:sp>
      <p:sp>
        <p:nvSpPr>
          <p:cNvPr id="16" name="answer-label">
            <a:extLst xmlns:a="http://schemas.openxmlformats.org/drawingml/2006/main">
              <a:ext uri="{FF2B5EF4-FFF2-40B4-BE49-F238E27FC236}">
                <a16:creationId xmlns:a16="http://schemas.microsoft.com/office/drawing/2014/main" id="{C8C97886-53EF-4690-B31A-A3F38A910336}"/>
              </a:ext>
            </a:extLst>
          </p:cNvPr>
          <p:cNvSpPr>
            <a:spLocks xmlns:a="http://schemas.openxmlformats.org/drawingml/2006/main" noGrp="1"/>
          </p:cNvSpPr>
          <p:nvPr/>
        </p:nvSpPr>
        <p:spPr>
          <a:xfrm xmlns:a="http://schemas.openxmlformats.org/drawingml/2006/main">
            <a:off x="762000" y="37147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76200" bIns="152400" anchor="t">
            <a:noAutofit/>
          </a:bodyPr>
          <a:lstStyle xmlns:a="http://schemas.openxmlformats.org/drawingml/2006/main"/>
          <a:p xmlns:a="http://schemas.openxmlformats.org/drawingml/2006/main">
            <a:pPr>
              <a:buNone/>
              <a:defRPr sz="2850" b="1">
                <a:solidFill>
                  <a:srgbClr val="355C50"/>
                </a:solidFill>
                <a:latin typeface="Arial"/>
                <a:ea typeface="Arial"/>
                <a:cs typeface="Arial"/>
              </a:defRPr>
            </a:pPr>
            <a:r>
              <a:rPr sz="2850" b="1">
                <a:solidFill>
                  <a:srgbClr val="355C50"/>
                </a:solidFill>
                <a:latin typeface="Arial"/>
                <a:ea typeface="Arial"/>
                <a:cs typeface="Arial"/>
              </a:rPr>
              <a:t>Answer</a:t>
            </a:r>
          </a:p>
        </p:txBody>
      </p:sp>
      <p:sp>
        <p:nvSpPr>
          <p:cNvPr id="17" name="answer">
            <a:extLst xmlns:a="http://schemas.openxmlformats.org/drawingml/2006/main">
              <a:ext uri="{FF2B5EF4-FFF2-40B4-BE49-F238E27FC236}">
                <a16:creationId xmlns:a16="http://schemas.microsoft.com/office/drawing/2014/main" id="{ED8E76F0-231D-40F5-892D-8CBA999F14B2}"/>
              </a:ext>
            </a:extLst>
          </p:cNvPr>
          <p:cNvSpPr>
            <a:spLocks xmlns:a="http://schemas.openxmlformats.org/drawingml/2006/main" noGrp="1"/>
          </p:cNvSpPr>
          <p:nvPr/>
        </p:nvSpPr>
        <p:spPr>
          <a:xfrm xmlns:a="http://schemas.openxmlformats.org/drawingml/2006/main">
            <a:off x="838200" y="4229100"/>
            <a:ext cx="10382250" cy="15758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19050" rIns="95250" bIns="171450" anchor="t">
            <a:noAutofit/>
          </a:bodyPr>
          <a:lstStyle xmlns:a="http://schemas.openxmlformats.org/drawingml/2006/main"/>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Jesus suffered, was raised, and fulfills God’s promises.</a:t>
            </a:r>
          </a:p>
          <a:p xmlns:a="http://schemas.openxmlformats.org/drawingml/2006/main">
            <a:pPr marL="304800" indent="-254000">
              <a:spcAft>
                <a:spcPts val="1200"/>
              </a:spcAft>
              <a:buChar char="•"/>
              <a:defRPr sz="2700" b="0">
                <a:solidFill>
                  <a:srgbClr val="202D35"/>
                </a:solidFill>
                <a:latin typeface="Arial"/>
                <a:ea typeface="Arial"/>
                <a:cs typeface="Arial"/>
              </a:defRPr>
            </a:pPr>
            <a:r>
              <a:rPr sz="2700" b="0">
                <a:solidFill>
                  <a:srgbClr val="202D35"/>
                </a:solidFill>
                <a:latin typeface="Arial"/>
                <a:ea typeface="Arial"/>
                <a:cs typeface="Arial"/>
              </a:rPr>
              <a:t>Call people to repent, turn to God, and receive His blessing.</a:t>
            </a:r>
          </a:p>
        </p:txBody>
      </p:sp>
    </p:spTree>
    <p:extLst>
      <p:ext uri="{BB962C8B-B14F-4D97-AF65-F5344CB8AC3E}">
        <p14:creationId xmlns:p14="http://schemas.microsoft.com/office/powerpoint/2010/main" val="1113997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2026-09-04T20:06:50.8780000Z</dcterms:created>
  <dcterms:modified xsi:type="dcterms:W3CDTF">2026-09-04T20:06:50.8780000Z</dcterms:modified>
</coreProperties>
</file>